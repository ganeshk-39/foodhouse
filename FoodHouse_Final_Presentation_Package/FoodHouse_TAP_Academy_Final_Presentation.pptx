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respected panel members. My project is FoodHouse, an end-to-end Java-based food ordering and delivery web application. It connects food lovers across Bangalore to 30 curated restaurants featuring 360 dishes, with real-time cart calculations and dynamic order tracking. Built strictly on Java Servlets, JSP, and MySQL without external frameworks, it is architected for speed, security, and enterprise reliability.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technology stack, I strictly adhered to core enterprise standards. The backend is built using Java 21 and Jakarta Servlets running on Apache Tomcat 10.1. For data persistence, I used MySQL 8.0 with JDBC PreparedStatements and transactions. The frontend uses JSP, modern CSS, and JavaScript. For security, I integrated jBCrypt password hashing. Notice that no heavy frameworks like Spring Boot or Hibernate are used, proving complete mastery of fundamental Java Web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actual project structure directly from Eclipse. The project follows a clean separation of concerns: `com.tap.controller` contains 14 Servlets handling user actions; `com.tap.model` contains 7 POJOs; `com.tap.DAO` and `DAOImpl` provide decoupled database access; `com.tap.util` manages database connectivity and dynamic order lifecycle logic. The `webapp` directory holds our JSPs, CSS, and WEB-INF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database ER diagram with five normalized relational tables. The `user` table stores customer profiles with BCrypt hashed passwords. The `restaurant` table contains 30 dining establishments. The `menu` table holds 360 dishes linked via `restaurantId`. When an order is placed, an entry is created in `orders`, which branches into multiple `order_item` records capturing item quantities and line totals. All foreign keys enforce cascading deletes to guarantee referential integrity.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to our live application flow, this is the Home and Restaurant Discovery page rendered by `Restaurant.jsp`. It displays Bangalore's top 30 restaurants with live ratings, cuisine tags, and delivery estimates. Users can filter by location like Indiranagar or search dishes like Biryani and Pizza. Notice the fleet velocity bar at the top, allowing users to switch delivery speeds with real-time ETA recalculations.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is our unified Authentication portal. Both login and registration are integrated cleanly into a single interactive view. On the backend, `LoginController` and `RegisterController` secure every credential using jBCrypt with cryptographic salt. Once authenticated, an `HttpSession` is initialized, binding the user's identity throughout cart modification and checkout.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user clicks on a restaurant, `MenuController` loads the menu page. Here you see Meghana Foods with 12 authentic dishes. Each dish features real food photography, pricing, and veg/non-veg tags. Clicking "+ ADD" modifies the cart asynchronously without reloading the page or jumping the scroll, preserving user browsing context smoothly.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Cart view, `Cart.java` calculates sub-totals, delivery charges, packaging fees, and taxes dynamically. Users can increment, decrement, or remove items with instant total updates. Cart data is maintained in the user session so no items are lost if they navigate back to add more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Checkout page brings together the delivery address and payment method selection. Users can pick Cash on Delivery, UPI, or Card payments. When the user clicks "Place Order", `OrderController` creates an atomic transaction in MySQL, writing to the `orders` and `order_item` tables in a single atomic database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ordering, the user is redirected to the Order History and Live Tracking page. This page dynamically updates through 5 real-world stages: Confirmed, Kitchen Accepted, Food Ready, On The Way, and Delivered. Driven by our `OrderLifecycleManager`, customers can see their order journey with full transparency and timestamps.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standard base requirements, I implemented four major innovations: First, a finite state machine in `OrderLifecycleManager` providing dynamic order status updates. Second, enterprise BCrypt password hashing to eliminate plain-text passwords. Third, a zero-jump asynchronous menu cart interaction that prevents jarring screen reloads. And fourth, a dual Dark/Light mode theme engine. These elevate FoodHouse to an enterprise-grade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our core algorithm, I designed the `OrderLifecycleManager` finite state machine. Input: active order record and order timestamp. Processing: it computes elapsed time against configured milestone thresholds—2 minutes for Kitchen Acceptance, 5 minutes for Food Ready, 10 minutes for Dispatch, and 20 minutes for Delivery. Monotonic forward-only logic guarantees that terminal states like "Delivered" or "Cancelled" cannot regress. Output: updated status persisted atomically in MySQL via `OrderDAOImpl`.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challenge I faced was viewport scroll disorientation during menu interactions. When clicking "+ ADD" on bottom items, the standard form submission caused a full-page refresh, violently resetting scroll position to the top and disrupting user flow. Root cause: unintercepted form submissions and browser scroll reset. Solution: I re-engineered dish buttons with asynchronous fetch calls and scroll anchor preservation. Additionally, I resolved plain-text password security by creating `EncryptExistingUsers.java` to auto-migrate legacy records to BCrypt. We validated the fix using Microsoft Edge CDP automated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future roadmap, I have four realistic enhancements planned: first, integrating live payments via Razorpay; second, real-time GPS map tracking using Google Maps API; third, automated SMS and WhatsApp alerts via Twilio; and fourth, an executive analytics dashboard for restaurant managers with revenue and order heatmaps.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731520" y="320040"/>
            <a:ext cx="2011680" cy="256032"/>
          </a:xfrm>
          <a:prstGeom prst="roundRect">
            <a:avLst>
              <a:gd name="adj" fmla="val 50000"/>
            </a:avLst>
          </a:prstGeom>
          <a:solidFill>
            <a:srgbClr val="1E293B"/>
          </a:solidFill>
          <a:ln w="12700">
            <a:solidFill>
              <a:srgbClr val="334155"/>
            </a:solidFill>
            <a:prstDash val="solid"/>
          </a:ln>
        </p:spPr>
      </p:sp>
      <p:sp>
        <p:nvSpPr>
          <p:cNvPr id="3" name="Text 1"/>
          <p:cNvSpPr/>
          <p:nvPr/>
        </p:nvSpPr>
        <p:spPr>
          <a:xfrm>
            <a:off x="731520" y="320040"/>
            <a:ext cx="2011680" cy="256032"/>
          </a:xfrm>
          <a:prstGeom prst="rect">
            <a:avLst/>
          </a:prstGeom>
          <a:noFill/>
          <a:ln/>
        </p:spPr>
        <p:txBody>
          <a:bodyPr wrap="square" rtlCol="0" anchor="ctr"/>
          <a:lstStyle/>
          <a:p>
            <a:pPr algn="ctr" indent="0" marL="0">
              <a:buNone/>
            </a:pPr>
            <a:r>
              <a:rPr lang="en-US" sz="900" b="1" dirty="0">
                <a:solidFill>
                  <a:srgbClr val="F4B942"/>
                </a:solidFill>
                <a:latin typeface="Segoe UI" pitchFamily="34" charset="0"/>
                <a:ea typeface="Segoe UI" pitchFamily="34" charset="-122"/>
                <a:cs typeface="Segoe UI" pitchFamily="34" charset="-120"/>
              </a:rPr>
              <a:t>SECTION 1 • PROJECT INTRODUCTION</a:t>
            </a:r>
            <a:endParaRPr lang="en-US" sz="900" dirty="0"/>
          </a:p>
        </p:txBody>
      </p:sp>
      <p:sp>
        <p:nvSpPr>
          <p:cNvPr id="4" name="Shape 2"/>
          <p:cNvSpPr/>
          <p:nvPr/>
        </p:nvSpPr>
        <p:spPr>
          <a:xfrm>
            <a:off x="9509760" y="320040"/>
            <a:ext cx="1920240" cy="256032"/>
          </a:xfrm>
          <a:prstGeom prst="roundRect">
            <a:avLst>
              <a:gd name="adj" fmla="val 50000"/>
            </a:avLst>
          </a:prstGeom>
          <a:solidFill>
            <a:srgbClr val="1E293B"/>
          </a:solidFill>
          <a:ln w="12700">
            <a:solidFill>
              <a:srgbClr val="334155"/>
            </a:solidFill>
            <a:prstDash val="solid"/>
          </a:ln>
        </p:spPr>
      </p:sp>
      <p:sp>
        <p:nvSpPr>
          <p:cNvPr id="5" name="Text 3"/>
          <p:cNvSpPr/>
          <p:nvPr/>
        </p:nvSpPr>
        <p:spPr>
          <a:xfrm>
            <a:off x="9509760" y="320040"/>
            <a:ext cx="1920240" cy="256032"/>
          </a:xfrm>
          <a:prstGeom prst="rect">
            <a:avLst/>
          </a:prstGeom>
          <a:noFill/>
          <a:ln/>
        </p:spPr>
        <p:txBody>
          <a:bodyPr wrap="square" rtlCol="0" anchor="ctr"/>
          <a:lstStyle/>
          <a:p>
            <a:pPr algn="ctr" indent="0" marL="0">
              <a:buNone/>
            </a:pPr>
            <a:r>
              <a:rPr lang="en-US" sz="850" b="1" dirty="0">
                <a:solidFill>
                  <a:srgbClr val="94A3B8"/>
                </a:solidFill>
                <a:latin typeface="Segoe UI" pitchFamily="34" charset="0"/>
                <a:ea typeface="Segoe UI" pitchFamily="34" charset="-122"/>
                <a:cs typeface="Segoe UI" pitchFamily="34" charset="-120"/>
              </a:rPr>
              <a:t>TAP ACADEMY EVALUATION</a:t>
            </a:r>
            <a:endParaRPr lang="en-US" sz="850" dirty="0"/>
          </a:p>
        </p:txBody>
      </p:sp>
      <p:sp>
        <p:nvSpPr>
          <p:cNvPr id="6" name="Text 4"/>
          <p:cNvSpPr/>
          <p:nvPr/>
        </p:nvSpPr>
        <p:spPr>
          <a:xfrm>
            <a:off x="731520" y="658368"/>
            <a:ext cx="10515600" cy="457200"/>
          </a:xfrm>
          <a:prstGeom prst="rect">
            <a:avLst/>
          </a:prstGeom>
          <a:noFill/>
          <a:ln/>
        </p:spPr>
        <p:txBody>
          <a:bodyPr wrap="square" rtlCol="0" anchor="t"/>
          <a:lstStyle/>
          <a:p>
            <a:pPr indent="0" marL="0">
              <a:buNone/>
            </a:pPr>
            <a:r>
              <a:rPr lang="en-US" sz="2200" b="1" dirty="0">
                <a:solidFill>
                  <a:srgbClr val="F8FAFC"/>
                </a:solidFill>
                <a:latin typeface="Segoe UI" pitchFamily="34" charset="0"/>
                <a:ea typeface="Segoe UI" pitchFamily="34" charset="-122"/>
                <a:cs typeface="Segoe UI" pitchFamily="34" charset="-120"/>
              </a:rPr>
              <a:t>FoodHouse — Enterprise Food Ordering &amp; Delivery Platform</a:t>
            </a:r>
            <a:endParaRPr lang="en-US" sz="2200" dirty="0"/>
          </a:p>
        </p:txBody>
      </p:sp>
      <p:sp>
        <p:nvSpPr>
          <p:cNvPr id="7" name="Shape 5"/>
          <p:cNvSpPr/>
          <p:nvPr/>
        </p:nvSpPr>
        <p:spPr>
          <a:xfrm>
            <a:off x="731520" y="1143000"/>
            <a:ext cx="10698480" cy="0"/>
          </a:xfrm>
          <a:prstGeom prst="line">
            <a:avLst/>
          </a:prstGeom>
          <a:noFill/>
          <a:ln w="19050">
            <a:solidFill>
              <a:srgbClr val="1E293B"/>
            </a:solidFill>
            <a:prstDash val="solid"/>
          </a:ln>
        </p:spPr>
      </p:sp>
      <p:sp>
        <p:nvSpPr>
          <p:cNvPr id="8" name="Shape 6"/>
          <p:cNvSpPr/>
          <p:nvPr/>
        </p:nvSpPr>
        <p:spPr>
          <a:xfrm>
            <a:off x="731520" y="1371600"/>
            <a:ext cx="10698480" cy="2011680"/>
          </a:xfrm>
          <a:prstGeom prst="roundRect">
            <a:avLst>
              <a:gd name="adj" fmla="val 6818"/>
            </a:avLst>
          </a:prstGeom>
          <a:solidFill>
            <a:srgbClr val="111827"/>
          </a:solidFill>
          <a:ln w="25400">
            <a:solidFill>
              <a:srgbClr val="FF6B35"/>
            </a:solidFill>
            <a:prstDash val="solid"/>
          </a:ln>
        </p:spPr>
      </p:sp>
      <p:sp>
        <p:nvSpPr>
          <p:cNvPr id="9" name="Text 7"/>
          <p:cNvSpPr/>
          <p:nvPr/>
        </p:nvSpPr>
        <p:spPr>
          <a:xfrm>
            <a:off x="1097280" y="1554480"/>
            <a:ext cx="9601200" cy="274320"/>
          </a:xfrm>
          <a:prstGeom prst="rect">
            <a:avLst/>
          </a:prstGeom>
          <a:noFill/>
          <a:ln/>
        </p:spPr>
        <p:txBody>
          <a:bodyPr wrap="square" rtlCol="0" anchor="ctr"/>
          <a:lstStyle/>
          <a:p>
            <a:pPr indent="0" marL="0">
              <a:buNone/>
            </a:pPr>
            <a:r>
              <a:rPr lang="en-US" sz="1200" b="1" dirty="0">
                <a:solidFill>
                  <a:srgbClr val="F4B942"/>
                </a:solidFill>
                <a:latin typeface="Segoe UI" pitchFamily="34" charset="0"/>
                <a:ea typeface="Segoe UI" pitchFamily="34" charset="-122"/>
                <a:cs typeface="Segoe UI" pitchFamily="34" charset="-120"/>
              </a:rPr>
              <a:t>Core Project Definition</a:t>
            </a:r>
            <a:endParaRPr lang="en-US" sz="1200" dirty="0"/>
          </a:p>
        </p:txBody>
      </p:sp>
      <p:sp>
        <p:nvSpPr>
          <p:cNvPr id="10" name="Text 8"/>
          <p:cNvSpPr/>
          <p:nvPr/>
        </p:nvSpPr>
        <p:spPr>
          <a:xfrm>
            <a:off x="1097280" y="1874520"/>
            <a:ext cx="9966960" cy="1188720"/>
          </a:xfrm>
          <a:prstGeom prst="rect">
            <a:avLst/>
          </a:prstGeom>
          <a:noFill/>
          <a:ln/>
        </p:spPr>
        <p:txBody>
          <a:bodyPr wrap="square" rtlCol="0" anchor="ctr"/>
          <a:lstStyle/>
          <a:p>
            <a:pPr indent="0" marL="0">
              <a:lnSpc>
                <a:spcPts val="2600"/>
              </a:lnSpc>
              <a:buNone/>
            </a:pPr>
            <a:r>
              <a:rPr lang="en-US" sz="1800" b="1" dirty="0">
                <a:solidFill>
                  <a:srgbClr val="F8FAFC"/>
                </a:solidFill>
                <a:latin typeface="Segoe UI" pitchFamily="34" charset="0"/>
                <a:ea typeface="Segoe UI" pitchFamily="34" charset="-122"/>
                <a:cs typeface="Segoe UI" pitchFamily="34" charset="-120"/>
              </a:rPr>
              <a:t>"FoodHouse is a Java-based enterprise food ordering web application that allows users to explore restaurants, browse curated menus, manage an interactive real-time cart, and place food orders with dynamic live delivery tracking through a modern web interface."</a:t>
            </a:r>
            <a:endParaRPr lang="en-US" sz="1800" dirty="0"/>
          </a:p>
        </p:txBody>
      </p:sp>
      <p:sp>
        <p:nvSpPr>
          <p:cNvPr id="11" name="Shape 9"/>
          <p:cNvSpPr/>
          <p:nvPr/>
        </p:nvSpPr>
        <p:spPr>
          <a:xfrm>
            <a:off x="731520" y="3657600"/>
            <a:ext cx="2468880" cy="2286000"/>
          </a:xfrm>
          <a:prstGeom prst="roundRect">
            <a:avLst>
              <a:gd name="adj" fmla="val 4800"/>
            </a:avLst>
          </a:prstGeom>
          <a:solidFill>
            <a:srgbClr val="111827"/>
          </a:solidFill>
          <a:ln w="12700">
            <a:solidFill>
              <a:srgbClr val="1E293B"/>
            </a:solidFill>
            <a:prstDash val="solid"/>
          </a:ln>
        </p:spPr>
      </p:sp>
      <p:sp>
        <p:nvSpPr>
          <p:cNvPr id="12" name="Text 10"/>
          <p:cNvSpPr/>
          <p:nvPr/>
        </p:nvSpPr>
        <p:spPr>
          <a:xfrm>
            <a:off x="731520" y="3931920"/>
            <a:ext cx="2468880" cy="640080"/>
          </a:xfrm>
          <a:prstGeom prst="rect">
            <a:avLst/>
          </a:prstGeom>
          <a:noFill/>
          <a:ln/>
        </p:spPr>
        <p:txBody>
          <a:bodyPr wrap="square" rtlCol="0" anchor="ctr"/>
          <a:lstStyle/>
          <a:p>
            <a:pPr algn="ctr" indent="0" marL="0">
              <a:buNone/>
            </a:pPr>
            <a:r>
              <a:rPr lang="en-US" sz="3600" b="1" dirty="0">
                <a:solidFill>
                  <a:srgbClr val="FF6B35"/>
                </a:solidFill>
                <a:latin typeface="Segoe UI" pitchFamily="34" charset="0"/>
                <a:ea typeface="Segoe UI" pitchFamily="34" charset="-122"/>
                <a:cs typeface="Segoe UI" pitchFamily="34" charset="-120"/>
              </a:rPr>
              <a:t>30</a:t>
            </a:r>
            <a:endParaRPr lang="en-US" sz="3600" dirty="0"/>
          </a:p>
        </p:txBody>
      </p:sp>
      <p:sp>
        <p:nvSpPr>
          <p:cNvPr id="13" name="Text 11"/>
          <p:cNvSpPr/>
          <p:nvPr/>
        </p:nvSpPr>
        <p:spPr>
          <a:xfrm>
            <a:off x="914400" y="4663440"/>
            <a:ext cx="2103120" cy="457200"/>
          </a:xfrm>
          <a:prstGeom prst="rect">
            <a:avLst/>
          </a:prstGeom>
          <a:noFill/>
          <a:ln/>
        </p:spPr>
        <p:txBody>
          <a:bodyPr wrap="square" rtlCol="0" anchor="ctr"/>
          <a:lstStyle/>
          <a:p>
            <a:pPr algn="ctr" indent="0" marL="0">
              <a:buNone/>
            </a:pPr>
            <a:r>
              <a:rPr lang="en-US" sz="1300" b="1" dirty="0">
                <a:solidFill>
                  <a:srgbClr val="F8FAFC"/>
                </a:solidFill>
                <a:latin typeface="Segoe UI" pitchFamily="34" charset="0"/>
                <a:ea typeface="Segoe UI" pitchFamily="34" charset="-122"/>
                <a:cs typeface="Segoe UI" pitchFamily="34" charset="-120"/>
              </a:rPr>
              <a:t>Top Bangalore Restaurants</a:t>
            </a:r>
            <a:endParaRPr lang="en-US" sz="1300" dirty="0"/>
          </a:p>
        </p:txBody>
      </p:sp>
      <p:sp>
        <p:nvSpPr>
          <p:cNvPr id="14" name="Text 12"/>
          <p:cNvSpPr/>
          <p:nvPr/>
        </p:nvSpPr>
        <p:spPr>
          <a:xfrm>
            <a:off x="914400" y="5212080"/>
            <a:ext cx="2103120" cy="457200"/>
          </a:xfrm>
          <a:prstGeom prst="rect">
            <a:avLst/>
          </a:prstGeom>
          <a:noFill/>
          <a:ln/>
        </p:spPr>
        <p:txBody>
          <a:bodyPr wrap="square" rtlCol="0" anchor="ctr"/>
          <a:lstStyle/>
          <a:p>
            <a:pPr algn="ctr" indent="0" marL="0">
              <a:buNone/>
            </a:pPr>
            <a:r>
              <a:rPr lang="en-US" sz="1100" dirty="0">
                <a:solidFill>
                  <a:srgbClr val="94A3B8"/>
                </a:solidFill>
                <a:latin typeface="Segoe UI" pitchFamily="34" charset="0"/>
                <a:ea typeface="Segoe UI" pitchFamily="34" charset="-122"/>
                <a:cs typeface="Segoe UI" pitchFamily="34" charset="-120"/>
              </a:rPr>
              <a:t>Indiranagar, Koramangala &amp; MG Rd</a:t>
            </a:r>
            <a:endParaRPr lang="en-US" sz="1100" dirty="0"/>
          </a:p>
        </p:txBody>
      </p:sp>
      <p:sp>
        <p:nvSpPr>
          <p:cNvPr id="15" name="Shape 13"/>
          <p:cNvSpPr/>
          <p:nvPr/>
        </p:nvSpPr>
        <p:spPr>
          <a:xfrm>
            <a:off x="3474720" y="3657600"/>
            <a:ext cx="2468880" cy="2286000"/>
          </a:xfrm>
          <a:prstGeom prst="roundRect">
            <a:avLst>
              <a:gd name="adj" fmla="val 4800"/>
            </a:avLst>
          </a:prstGeom>
          <a:solidFill>
            <a:srgbClr val="111827"/>
          </a:solidFill>
          <a:ln w="12700">
            <a:solidFill>
              <a:srgbClr val="1E293B"/>
            </a:solidFill>
            <a:prstDash val="solid"/>
          </a:ln>
        </p:spPr>
      </p:sp>
      <p:sp>
        <p:nvSpPr>
          <p:cNvPr id="16" name="Text 14"/>
          <p:cNvSpPr/>
          <p:nvPr/>
        </p:nvSpPr>
        <p:spPr>
          <a:xfrm>
            <a:off x="3474720" y="3931920"/>
            <a:ext cx="2468880" cy="640080"/>
          </a:xfrm>
          <a:prstGeom prst="rect">
            <a:avLst/>
          </a:prstGeom>
          <a:noFill/>
          <a:ln/>
        </p:spPr>
        <p:txBody>
          <a:bodyPr wrap="square" rtlCol="0" anchor="ctr"/>
          <a:lstStyle/>
          <a:p>
            <a:pPr algn="ctr" indent="0" marL="0">
              <a:buNone/>
            </a:pPr>
            <a:r>
              <a:rPr lang="en-US" sz="3600" b="1" dirty="0">
                <a:solidFill>
                  <a:srgbClr val="FF6B35"/>
                </a:solidFill>
                <a:latin typeface="Segoe UI" pitchFamily="34" charset="0"/>
                <a:ea typeface="Segoe UI" pitchFamily="34" charset="-122"/>
                <a:cs typeface="Segoe UI" pitchFamily="34" charset="-120"/>
              </a:rPr>
              <a:t>360</a:t>
            </a:r>
            <a:endParaRPr lang="en-US" sz="3600" dirty="0"/>
          </a:p>
        </p:txBody>
      </p:sp>
      <p:sp>
        <p:nvSpPr>
          <p:cNvPr id="17" name="Text 15"/>
          <p:cNvSpPr/>
          <p:nvPr/>
        </p:nvSpPr>
        <p:spPr>
          <a:xfrm>
            <a:off x="3657600" y="4663440"/>
            <a:ext cx="2103120" cy="457200"/>
          </a:xfrm>
          <a:prstGeom prst="rect">
            <a:avLst/>
          </a:prstGeom>
          <a:noFill/>
          <a:ln/>
        </p:spPr>
        <p:txBody>
          <a:bodyPr wrap="square" rtlCol="0" anchor="ctr"/>
          <a:lstStyle/>
          <a:p>
            <a:pPr algn="ctr" indent="0" marL="0">
              <a:buNone/>
            </a:pPr>
            <a:r>
              <a:rPr lang="en-US" sz="1300" b="1" dirty="0">
                <a:solidFill>
                  <a:srgbClr val="F8FAFC"/>
                </a:solidFill>
                <a:latin typeface="Segoe UI" pitchFamily="34" charset="0"/>
                <a:ea typeface="Segoe UI" pitchFamily="34" charset="-122"/>
                <a:cs typeface="Segoe UI" pitchFamily="34" charset="-120"/>
              </a:rPr>
              <a:t>Curated Dishes Catalog</a:t>
            </a:r>
            <a:endParaRPr lang="en-US" sz="1300" dirty="0"/>
          </a:p>
        </p:txBody>
      </p:sp>
      <p:sp>
        <p:nvSpPr>
          <p:cNvPr id="18" name="Text 16"/>
          <p:cNvSpPr/>
          <p:nvPr/>
        </p:nvSpPr>
        <p:spPr>
          <a:xfrm>
            <a:off x="3657600" y="5212080"/>
            <a:ext cx="2103120" cy="457200"/>
          </a:xfrm>
          <a:prstGeom prst="rect">
            <a:avLst/>
          </a:prstGeom>
          <a:noFill/>
          <a:ln/>
        </p:spPr>
        <p:txBody>
          <a:bodyPr wrap="square" rtlCol="0" anchor="ctr"/>
          <a:lstStyle/>
          <a:p>
            <a:pPr algn="ctr" indent="0" marL="0">
              <a:buNone/>
            </a:pPr>
            <a:r>
              <a:rPr lang="en-US" sz="1100" dirty="0">
                <a:solidFill>
                  <a:srgbClr val="94A3B8"/>
                </a:solidFill>
                <a:latin typeface="Segoe UI" pitchFamily="34" charset="0"/>
                <a:ea typeface="Segoe UI" pitchFamily="34" charset="-122"/>
                <a:cs typeface="Segoe UI" pitchFamily="34" charset="-120"/>
              </a:rPr>
              <a:t>100% Photo-Matched Menus</a:t>
            </a:r>
            <a:endParaRPr lang="en-US" sz="1100" dirty="0"/>
          </a:p>
        </p:txBody>
      </p:sp>
      <p:sp>
        <p:nvSpPr>
          <p:cNvPr id="19" name="Shape 17"/>
          <p:cNvSpPr/>
          <p:nvPr/>
        </p:nvSpPr>
        <p:spPr>
          <a:xfrm>
            <a:off x="6217920" y="3657600"/>
            <a:ext cx="2468880" cy="2286000"/>
          </a:xfrm>
          <a:prstGeom prst="roundRect">
            <a:avLst>
              <a:gd name="adj" fmla="val 4800"/>
            </a:avLst>
          </a:prstGeom>
          <a:solidFill>
            <a:srgbClr val="111827"/>
          </a:solidFill>
          <a:ln w="12700">
            <a:solidFill>
              <a:srgbClr val="1E293B"/>
            </a:solidFill>
            <a:prstDash val="solid"/>
          </a:ln>
        </p:spPr>
      </p:sp>
      <p:sp>
        <p:nvSpPr>
          <p:cNvPr id="20" name="Text 18"/>
          <p:cNvSpPr/>
          <p:nvPr/>
        </p:nvSpPr>
        <p:spPr>
          <a:xfrm>
            <a:off x="6217920" y="3931920"/>
            <a:ext cx="2468880" cy="640080"/>
          </a:xfrm>
          <a:prstGeom prst="rect">
            <a:avLst/>
          </a:prstGeom>
          <a:noFill/>
          <a:ln/>
        </p:spPr>
        <p:txBody>
          <a:bodyPr wrap="square" rtlCol="0" anchor="ctr"/>
          <a:lstStyle/>
          <a:p>
            <a:pPr algn="ctr" indent="0" marL="0">
              <a:buNone/>
            </a:pPr>
            <a:r>
              <a:rPr lang="en-US" sz="3600" b="1" dirty="0">
                <a:solidFill>
                  <a:srgbClr val="FF6B35"/>
                </a:solidFill>
                <a:latin typeface="Segoe UI" pitchFamily="34" charset="0"/>
                <a:ea typeface="Segoe UI" pitchFamily="34" charset="-122"/>
                <a:cs typeface="Segoe UI" pitchFamily="34" charset="-120"/>
              </a:rPr>
              <a:t>14</a:t>
            </a:r>
            <a:endParaRPr lang="en-US" sz="3600" dirty="0"/>
          </a:p>
        </p:txBody>
      </p:sp>
      <p:sp>
        <p:nvSpPr>
          <p:cNvPr id="21" name="Text 19"/>
          <p:cNvSpPr/>
          <p:nvPr/>
        </p:nvSpPr>
        <p:spPr>
          <a:xfrm>
            <a:off x="6400800" y="4663440"/>
            <a:ext cx="2103120" cy="457200"/>
          </a:xfrm>
          <a:prstGeom prst="rect">
            <a:avLst/>
          </a:prstGeom>
          <a:noFill/>
          <a:ln/>
        </p:spPr>
        <p:txBody>
          <a:bodyPr wrap="square" rtlCol="0" anchor="ctr"/>
          <a:lstStyle/>
          <a:p>
            <a:pPr algn="ctr" indent="0" marL="0">
              <a:buNone/>
            </a:pPr>
            <a:r>
              <a:rPr lang="en-US" sz="1300" b="1" dirty="0">
                <a:solidFill>
                  <a:srgbClr val="F8FAFC"/>
                </a:solidFill>
                <a:latin typeface="Segoe UI" pitchFamily="34" charset="0"/>
                <a:ea typeface="Segoe UI" pitchFamily="34" charset="-122"/>
                <a:cs typeface="Segoe UI" pitchFamily="34" charset="-120"/>
              </a:rPr>
              <a:t>Jakarta Servlets (MVC)</a:t>
            </a:r>
            <a:endParaRPr lang="en-US" sz="1300" dirty="0"/>
          </a:p>
        </p:txBody>
      </p:sp>
      <p:sp>
        <p:nvSpPr>
          <p:cNvPr id="22" name="Text 20"/>
          <p:cNvSpPr/>
          <p:nvPr/>
        </p:nvSpPr>
        <p:spPr>
          <a:xfrm>
            <a:off x="6400800" y="5212080"/>
            <a:ext cx="2103120" cy="457200"/>
          </a:xfrm>
          <a:prstGeom prst="rect">
            <a:avLst/>
          </a:prstGeom>
          <a:noFill/>
          <a:ln/>
        </p:spPr>
        <p:txBody>
          <a:bodyPr wrap="square" rtlCol="0" anchor="ctr"/>
          <a:lstStyle/>
          <a:p>
            <a:pPr algn="ctr" indent="0" marL="0">
              <a:buNone/>
            </a:pPr>
            <a:r>
              <a:rPr lang="en-US" sz="1100" dirty="0">
                <a:solidFill>
                  <a:srgbClr val="94A3B8"/>
                </a:solidFill>
                <a:latin typeface="Segoe UI" pitchFamily="34" charset="0"/>
                <a:ea typeface="Segoe UI" pitchFamily="34" charset="-122"/>
                <a:cs typeface="Segoe UI" pitchFamily="34" charset="-120"/>
              </a:rPr>
              <a:t>Robust Controller Routing</a:t>
            </a:r>
            <a:endParaRPr lang="en-US" sz="1100" dirty="0"/>
          </a:p>
        </p:txBody>
      </p:sp>
      <p:sp>
        <p:nvSpPr>
          <p:cNvPr id="23" name="Shape 21"/>
          <p:cNvSpPr/>
          <p:nvPr/>
        </p:nvSpPr>
        <p:spPr>
          <a:xfrm>
            <a:off x="8961120" y="3657600"/>
            <a:ext cx="2468880" cy="2286000"/>
          </a:xfrm>
          <a:prstGeom prst="roundRect">
            <a:avLst>
              <a:gd name="adj" fmla="val 4800"/>
            </a:avLst>
          </a:prstGeom>
          <a:solidFill>
            <a:srgbClr val="111827"/>
          </a:solidFill>
          <a:ln w="12700">
            <a:solidFill>
              <a:srgbClr val="1E293B"/>
            </a:solidFill>
            <a:prstDash val="solid"/>
          </a:ln>
        </p:spPr>
      </p:sp>
      <p:sp>
        <p:nvSpPr>
          <p:cNvPr id="24" name="Text 22"/>
          <p:cNvSpPr/>
          <p:nvPr/>
        </p:nvSpPr>
        <p:spPr>
          <a:xfrm>
            <a:off x="8961120" y="3931920"/>
            <a:ext cx="2468880" cy="640080"/>
          </a:xfrm>
          <a:prstGeom prst="rect">
            <a:avLst/>
          </a:prstGeom>
          <a:noFill/>
          <a:ln/>
        </p:spPr>
        <p:txBody>
          <a:bodyPr wrap="square" rtlCol="0" anchor="ctr"/>
          <a:lstStyle/>
          <a:p>
            <a:pPr algn="ctr" indent="0" marL="0">
              <a:buNone/>
            </a:pPr>
            <a:r>
              <a:rPr lang="en-US" sz="3600" b="1" dirty="0">
                <a:solidFill>
                  <a:srgbClr val="FF6B35"/>
                </a:solidFill>
                <a:latin typeface="Segoe UI" pitchFamily="34" charset="0"/>
                <a:ea typeface="Segoe UI" pitchFamily="34" charset="-122"/>
                <a:cs typeface="Segoe UI" pitchFamily="34" charset="-120"/>
              </a:rPr>
              <a:t>5</a:t>
            </a:r>
            <a:endParaRPr lang="en-US" sz="3600" dirty="0"/>
          </a:p>
        </p:txBody>
      </p:sp>
      <p:sp>
        <p:nvSpPr>
          <p:cNvPr id="25" name="Text 23"/>
          <p:cNvSpPr/>
          <p:nvPr/>
        </p:nvSpPr>
        <p:spPr>
          <a:xfrm>
            <a:off x="9144000" y="4663440"/>
            <a:ext cx="2103120" cy="457200"/>
          </a:xfrm>
          <a:prstGeom prst="rect">
            <a:avLst/>
          </a:prstGeom>
          <a:noFill/>
          <a:ln/>
        </p:spPr>
        <p:txBody>
          <a:bodyPr wrap="square" rtlCol="0" anchor="ctr"/>
          <a:lstStyle/>
          <a:p>
            <a:pPr algn="ctr" indent="0" marL="0">
              <a:buNone/>
            </a:pPr>
            <a:r>
              <a:rPr lang="en-US" sz="1300" b="1" dirty="0">
                <a:solidFill>
                  <a:srgbClr val="F8FAFC"/>
                </a:solidFill>
                <a:latin typeface="Segoe UI" pitchFamily="34" charset="0"/>
                <a:ea typeface="Segoe UI" pitchFamily="34" charset="-122"/>
                <a:cs typeface="Segoe UI" pitchFamily="34" charset="-120"/>
              </a:rPr>
              <a:t>Core Relational Tables</a:t>
            </a:r>
            <a:endParaRPr lang="en-US" sz="1300" dirty="0"/>
          </a:p>
        </p:txBody>
      </p:sp>
      <p:sp>
        <p:nvSpPr>
          <p:cNvPr id="26" name="Text 24"/>
          <p:cNvSpPr/>
          <p:nvPr/>
        </p:nvSpPr>
        <p:spPr>
          <a:xfrm>
            <a:off x="9144000" y="5212080"/>
            <a:ext cx="2103120" cy="457200"/>
          </a:xfrm>
          <a:prstGeom prst="rect">
            <a:avLst/>
          </a:prstGeom>
          <a:noFill/>
          <a:ln/>
        </p:spPr>
        <p:txBody>
          <a:bodyPr wrap="square" rtlCol="0" anchor="ctr"/>
          <a:lstStyle/>
          <a:p>
            <a:pPr algn="ctr" indent="0" marL="0">
              <a:buNone/>
            </a:pPr>
            <a:r>
              <a:rPr lang="en-US" sz="1100" dirty="0">
                <a:solidFill>
                  <a:srgbClr val="94A3B8"/>
                </a:solidFill>
                <a:latin typeface="Segoe UI" pitchFamily="34" charset="0"/>
                <a:ea typeface="Segoe UI" pitchFamily="34" charset="-122"/>
                <a:cs typeface="Segoe UI" pitchFamily="34" charset="-120"/>
              </a:rPr>
              <a:t>MySQL InnoDB with Cascade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731520" y="320040"/>
            <a:ext cx="2011680" cy="256032"/>
          </a:xfrm>
          <a:prstGeom prst="roundRect">
            <a:avLst>
              <a:gd name="adj" fmla="val 50000"/>
            </a:avLst>
          </a:prstGeom>
          <a:solidFill>
            <a:srgbClr val="1E293B"/>
          </a:solidFill>
          <a:ln w="12700">
            <a:solidFill>
              <a:srgbClr val="334155"/>
            </a:solidFill>
            <a:prstDash val="solid"/>
          </a:ln>
        </p:spPr>
      </p:sp>
      <p:sp>
        <p:nvSpPr>
          <p:cNvPr id="3" name="Text 1"/>
          <p:cNvSpPr/>
          <p:nvPr/>
        </p:nvSpPr>
        <p:spPr>
          <a:xfrm>
            <a:off x="731520" y="320040"/>
            <a:ext cx="2011680" cy="256032"/>
          </a:xfrm>
          <a:prstGeom prst="rect">
            <a:avLst/>
          </a:prstGeom>
          <a:noFill/>
          <a:ln/>
        </p:spPr>
        <p:txBody>
          <a:bodyPr wrap="square" rtlCol="0" anchor="ctr"/>
          <a:lstStyle/>
          <a:p>
            <a:pPr algn="ctr" indent="0" marL="0">
              <a:buNone/>
            </a:pPr>
            <a:r>
              <a:rPr lang="en-US" sz="900" b="1" dirty="0">
                <a:solidFill>
                  <a:srgbClr val="F4B942"/>
                </a:solidFill>
                <a:latin typeface="Segoe UI" pitchFamily="34" charset="0"/>
                <a:ea typeface="Segoe UI" pitchFamily="34" charset="-122"/>
                <a:cs typeface="Segoe UI" pitchFamily="34" charset="-120"/>
              </a:rPr>
              <a:t>SECTION 2 • TECHNOLOGY STACK</a:t>
            </a:r>
            <a:endParaRPr lang="en-US" sz="900" dirty="0"/>
          </a:p>
        </p:txBody>
      </p:sp>
      <p:sp>
        <p:nvSpPr>
          <p:cNvPr id="4" name="Shape 2"/>
          <p:cNvSpPr/>
          <p:nvPr/>
        </p:nvSpPr>
        <p:spPr>
          <a:xfrm>
            <a:off x="9509760" y="320040"/>
            <a:ext cx="1920240" cy="256032"/>
          </a:xfrm>
          <a:prstGeom prst="roundRect">
            <a:avLst>
              <a:gd name="adj" fmla="val 50000"/>
            </a:avLst>
          </a:prstGeom>
          <a:solidFill>
            <a:srgbClr val="1E293B"/>
          </a:solidFill>
          <a:ln w="12700">
            <a:solidFill>
              <a:srgbClr val="334155"/>
            </a:solidFill>
            <a:prstDash val="solid"/>
          </a:ln>
        </p:spPr>
      </p:sp>
      <p:sp>
        <p:nvSpPr>
          <p:cNvPr id="5" name="Text 3"/>
          <p:cNvSpPr/>
          <p:nvPr/>
        </p:nvSpPr>
        <p:spPr>
          <a:xfrm>
            <a:off x="9509760" y="320040"/>
            <a:ext cx="1920240" cy="256032"/>
          </a:xfrm>
          <a:prstGeom prst="rect">
            <a:avLst/>
          </a:prstGeom>
          <a:noFill/>
          <a:ln/>
        </p:spPr>
        <p:txBody>
          <a:bodyPr wrap="square" rtlCol="0" anchor="ctr"/>
          <a:lstStyle/>
          <a:p>
            <a:pPr algn="ctr" indent="0" marL="0">
              <a:buNone/>
            </a:pPr>
            <a:r>
              <a:rPr lang="en-US" sz="850" b="1" dirty="0">
                <a:solidFill>
                  <a:srgbClr val="94A3B8"/>
                </a:solidFill>
                <a:latin typeface="Segoe UI" pitchFamily="34" charset="0"/>
                <a:ea typeface="Segoe UI" pitchFamily="34" charset="-122"/>
                <a:cs typeface="Segoe UI" pitchFamily="34" charset="-120"/>
              </a:rPr>
              <a:t>TAP ACADEMY EVALUATION</a:t>
            </a:r>
            <a:endParaRPr lang="en-US" sz="850" dirty="0"/>
          </a:p>
        </p:txBody>
      </p:sp>
      <p:sp>
        <p:nvSpPr>
          <p:cNvPr id="6" name="Text 4"/>
          <p:cNvSpPr/>
          <p:nvPr/>
        </p:nvSpPr>
        <p:spPr>
          <a:xfrm>
            <a:off x="731520" y="658368"/>
            <a:ext cx="10515600" cy="457200"/>
          </a:xfrm>
          <a:prstGeom prst="rect">
            <a:avLst/>
          </a:prstGeom>
          <a:noFill/>
          <a:ln/>
        </p:spPr>
        <p:txBody>
          <a:bodyPr wrap="square" rtlCol="0" anchor="t"/>
          <a:lstStyle/>
          <a:p>
            <a:pPr indent="0" marL="0">
              <a:buNone/>
            </a:pPr>
            <a:r>
              <a:rPr lang="en-US" sz="2200" b="1" dirty="0">
                <a:solidFill>
                  <a:srgbClr val="F8FAFC"/>
                </a:solidFill>
                <a:latin typeface="Segoe UI" pitchFamily="34" charset="0"/>
                <a:ea typeface="Segoe UI" pitchFamily="34" charset="-122"/>
                <a:cs typeface="Segoe UI" pitchFamily="34" charset="-120"/>
              </a:rPr>
              <a:t>Production Technology Stack &amp; Architectural Tooling</a:t>
            </a:r>
            <a:endParaRPr lang="en-US" sz="2200" dirty="0"/>
          </a:p>
        </p:txBody>
      </p:sp>
      <p:sp>
        <p:nvSpPr>
          <p:cNvPr id="7" name="Shape 5"/>
          <p:cNvSpPr/>
          <p:nvPr/>
        </p:nvSpPr>
        <p:spPr>
          <a:xfrm>
            <a:off x="731520" y="1143000"/>
            <a:ext cx="10698480" cy="0"/>
          </a:xfrm>
          <a:prstGeom prst="line">
            <a:avLst/>
          </a:prstGeom>
          <a:noFill/>
          <a:ln w="19050">
            <a:solidFill>
              <a:srgbClr val="1E293B"/>
            </a:solidFill>
            <a:prstDash val="solid"/>
          </a:ln>
        </p:spPr>
      </p:sp>
      <p:sp>
        <p:nvSpPr>
          <p:cNvPr id="8" name="Shape 6"/>
          <p:cNvSpPr/>
          <p:nvPr/>
        </p:nvSpPr>
        <p:spPr>
          <a:xfrm>
            <a:off x="731520" y="1463040"/>
            <a:ext cx="2468880" cy="4480560"/>
          </a:xfrm>
          <a:prstGeom prst="roundRect">
            <a:avLst>
              <a:gd name="adj" fmla="val 4444"/>
            </a:avLst>
          </a:prstGeom>
          <a:solidFill>
            <a:srgbClr val="111827"/>
          </a:solidFill>
          <a:ln w="12700">
            <a:solidFill>
              <a:srgbClr val="1E293B"/>
            </a:solidFill>
            <a:prstDash val="solid"/>
          </a:ln>
        </p:spPr>
      </p:sp>
      <p:sp>
        <p:nvSpPr>
          <p:cNvPr id="9" name="Shape 7"/>
          <p:cNvSpPr/>
          <p:nvPr/>
        </p:nvSpPr>
        <p:spPr>
          <a:xfrm>
            <a:off x="1005840" y="1737360"/>
            <a:ext cx="1920240" cy="256032"/>
          </a:xfrm>
          <a:prstGeom prst="roundRect">
            <a:avLst>
              <a:gd name="adj" fmla="val 50000"/>
            </a:avLst>
          </a:prstGeom>
          <a:solidFill>
            <a:srgbClr val="1E293B"/>
          </a:solidFill>
          <a:ln w="12700">
            <a:solidFill>
              <a:srgbClr val="FF6B35"/>
            </a:solidFill>
            <a:prstDash val="solid"/>
          </a:ln>
        </p:spPr>
      </p:sp>
      <p:sp>
        <p:nvSpPr>
          <p:cNvPr id="10" name="Text 8"/>
          <p:cNvSpPr/>
          <p:nvPr/>
        </p:nvSpPr>
        <p:spPr>
          <a:xfrm>
            <a:off x="1005840" y="1737360"/>
            <a:ext cx="1920240" cy="256032"/>
          </a:xfrm>
          <a:prstGeom prst="rect">
            <a:avLst/>
          </a:prstGeom>
          <a:noFill/>
          <a:ln/>
        </p:spPr>
        <p:txBody>
          <a:bodyPr wrap="square" rtlCol="0" anchor="ctr"/>
          <a:lstStyle/>
          <a:p>
            <a:pPr algn="ctr" indent="0" marL="0">
              <a:buNone/>
            </a:pPr>
            <a:r>
              <a:rPr lang="en-US" sz="900" b="1" dirty="0">
                <a:solidFill>
                  <a:srgbClr val="FF6B35"/>
                </a:solidFill>
                <a:latin typeface="Segoe UI" pitchFamily="34" charset="0"/>
                <a:ea typeface="Segoe UI" pitchFamily="34" charset="-122"/>
                <a:cs typeface="Segoe UI" pitchFamily="34" charset="-120"/>
              </a:rPr>
              <a:t>CLIENT VIEW</a:t>
            </a:r>
            <a:endParaRPr lang="en-US" sz="900" dirty="0"/>
          </a:p>
        </p:txBody>
      </p:sp>
      <p:sp>
        <p:nvSpPr>
          <p:cNvPr id="11" name="Text 9"/>
          <p:cNvSpPr/>
          <p:nvPr/>
        </p:nvSpPr>
        <p:spPr>
          <a:xfrm>
            <a:off x="914400" y="2148840"/>
            <a:ext cx="2103120" cy="365760"/>
          </a:xfrm>
          <a:prstGeom prst="rect">
            <a:avLst/>
          </a:prstGeom>
          <a:noFill/>
          <a:ln/>
        </p:spPr>
        <p:txBody>
          <a:bodyPr wrap="square" rtlCol="0" anchor="ctr"/>
          <a:lstStyle/>
          <a:p>
            <a:pPr algn="ctr" indent="0" marL="0">
              <a:buNone/>
            </a:pPr>
            <a:r>
              <a:rPr lang="en-US" sz="1600" b="1" dirty="0">
                <a:solidFill>
                  <a:srgbClr val="F8FAFC"/>
                </a:solidFill>
                <a:latin typeface="Segoe UI" pitchFamily="34" charset="0"/>
                <a:ea typeface="Segoe UI" pitchFamily="34" charset="-122"/>
                <a:cs typeface="Segoe UI" pitchFamily="34" charset="-120"/>
              </a:rPr>
              <a:t>Frontend Tier</a:t>
            </a:r>
            <a:endParaRPr lang="en-US" sz="1600" dirty="0"/>
          </a:p>
        </p:txBody>
      </p:sp>
      <p:sp>
        <p:nvSpPr>
          <p:cNvPr id="12" name="Shape 10"/>
          <p:cNvSpPr/>
          <p:nvPr/>
        </p:nvSpPr>
        <p:spPr>
          <a:xfrm>
            <a:off x="960120" y="2743200"/>
            <a:ext cx="2011680" cy="594360"/>
          </a:xfrm>
          <a:prstGeom prst="roundRect">
            <a:avLst>
              <a:gd name="adj" fmla="val 12308"/>
            </a:avLst>
          </a:prstGeom>
          <a:solidFill>
            <a:srgbClr val="0F172A"/>
          </a:solidFill>
          <a:ln w="12700">
            <a:solidFill>
              <a:srgbClr val="1E293B"/>
            </a:solidFill>
            <a:prstDash val="solid"/>
          </a:ln>
        </p:spPr>
      </p:sp>
      <p:sp>
        <p:nvSpPr>
          <p:cNvPr id="13" name="Text 11"/>
          <p:cNvSpPr/>
          <p:nvPr/>
        </p:nvSpPr>
        <p:spPr>
          <a:xfrm>
            <a:off x="1051560" y="2743200"/>
            <a:ext cx="1828800" cy="594360"/>
          </a:xfrm>
          <a:prstGeom prst="rect">
            <a:avLst/>
          </a:prstGeom>
          <a:noFill/>
          <a:ln/>
        </p:spPr>
        <p:txBody>
          <a:bodyPr wrap="square" rtlCol="0" anchor="ctr"/>
          <a:lstStyle/>
          <a:p>
            <a:pPr indent="0" marL="0">
              <a:buNone/>
            </a:pPr>
            <a:r>
              <a:rPr lang="en-US" sz="1100" dirty="0">
                <a:solidFill>
                  <a:srgbClr val="F8FAFC"/>
                </a:solidFill>
                <a:latin typeface="Segoe UI" pitchFamily="34" charset="0"/>
                <a:ea typeface="Segoe UI" pitchFamily="34" charset="-122"/>
                <a:cs typeface="Segoe UI" pitchFamily="34" charset="-120"/>
              </a:rPr>
              <a:t>✔ HTML5 &amp; Semantic Markup</a:t>
            </a:r>
            <a:endParaRPr lang="en-US" sz="1100" dirty="0"/>
          </a:p>
        </p:txBody>
      </p:sp>
      <p:sp>
        <p:nvSpPr>
          <p:cNvPr id="14" name="Shape 12"/>
          <p:cNvSpPr/>
          <p:nvPr/>
        </p:nvSpPr>
        <p:spPr>
          <a:xfrm>
            <a:off x="960120" y="3520440"/>
            <a:ext cx="2011680" cy="594360"/>
          </a:xfrm>
          <a:prstGeom prst="roundRect">
            <a:avLst>
              <a:gd name="adj" fmla="val 12308"/>
            </a:avLst>
          </a:prstGeom>
          <a:solidFill>
            <a:srgbClr val="0F172A"/>
          </a:solidFill>
          <a:ln w="12700">
            <a:solidFill>
              <a:srgbClr val="1E293B"/>
            </a:solidFill>
            <a:prstDash val="solid"/>
          </a:ln>
        </p:spPr>
      </p:sp>
      <p:sp>
        <p:nvSpPr>
          <p:cNvPr id="15" name="Text 13"/>
          <p:cNvSpPr/>
          <p:nvPr/>
        </p:nvSpPr>
        <p:spPr>
          <a:xfrm>
            <a:off x="1051560" y="3520440"/>
            <a:ext cx="1828800" cy="594360"/>
          </a:xfrm>
          <a:prstGeom prst="rect">
            <a:avLst/>
          </a:prstGeom>
          <a:noFill/>
          <a:ln/>
        </p:spPr>
        <p:txBody>
          <a:bodyPr wrap="square" rtlCol="0" anchor="ctr"/>
          <a:lstStyle/>
          <a:p>
            <a:pPr indent="0" marL="0">
              <a:buNone/>
            </a:pPr>
            <a:r>
              <a:rPr lang="en-US" sz="1100" dirty="0">
                <a:solidFill>
                  <a:srgbClr val="F8FAFC"/>
                </a:solidFill>
                <a:latin typeface="Segoe UI" pitchFamily="34" charset="0"/>
                <a:ea typeface="Segoe UI" pitchFamily="34" charset="-122"/>
                <a:cs typeface="Segoe UI" pitchFamily="34" charset="-120"/>
              </a:rPr>
              <a:t>✔ CSS3 (Glassmorphism &amp; Responsive)</a:t>
            </a:r>
            <a:endParaRPr lang="en-US" sz="1100" dirty="0"/>
          </a:p>
        </p:txBody>
      </p:sp>
      <p:sp>
        <p:nvSpPr>
          <p:cNvPr id="16" name="Shape 14"/>
          <p:cNvSpPr/>
          <p:nvPr/>
        </p:nvSpPr>
        <p:spPr>
          <a:xfrm>
            <a:off x="960120" y="4297680"/>
            <a:ext cx="2011680" cy="594360"/>
          </a:xfrm>
          <a:prstGeom prst="roundRect">
            <a:avLst>
              <a:gd name="adj" fmla="val 12308"/>
            </a:avLst>
          </a:prstGeom>
          <a:solidFill>
            <a:srgbClr val="0F172A"/>
          </a:solidFill>
          <a:ln w="12700">
            <a:solidFill>
              <a:srgbClr val="1E293B"/>
            </a:solidFill>
            <a:prstDash val="solid"/>
          </a:ln>
        </p:spPr>
      </p:sp>
      <p:sp>
        <p:nvSpPr>
          <p:cNvPr id="17" name="Text 15"/>
          <p:cNvSpPr/>
          <p:nvPr/>
        </p:nvSpPr>
        <p:spPr>
          <a:xfrm>
            <a:off x="1051560" y="4297680"/>
            <a:ext cx="1828800" cy="594360"/>
          </a:xfrm>
          <a:prstGeom prst="rect">
            <a:avLst/>
          </a:prstGeom>
          <a:noFill/>
          <a:ln/>
        </p:spPr>
        <p:txBody>
          <a:bodyPr wrap="square" rtlCol="0" anchor="ctr"/>
          <a:lstStyle/>
          <a:p>
            <a:pPr indent="0" marL="0">
              <a:buNone/>
            </a:pPr>
            <a:r>
              <a:rPr lang="en-US" sz="1100" dirty="0">
                <a:solidFill>
                  <a:srgbClr val="F8FAFC"/>
                </a:solidFill>
                <a:latin typeface="Segoe UI" pitchFamily="34" charset="0"/>
                <a:ea typeface="Segoe UI" pitchFamily="34" charset="-122"/>
                <a:cs typeface="Segoe UI" pitchFamily="34" charset="-120"/>
              </a:rPr>
              <a:t>✔ Vanilla JavaScript (DOM &amp; Fetch API)</a:t>
            </a:r>
            <a:endParaRPr lang="en-US" sz="1100" dirty="0"/>
          </a:p>
        </p:txBody>
      </p:sp>
      <p:sp>
        <p:nvSpPr>
          <p:cNvPr id="18" name="Shape 16"/>
          <p:cNvSpPr/>
          <p:nvPr/>
        </p:nvSpPr>
        <p:spPr>
          <a:xfrm>
            <a:off x="960120" y="5074920"/>
            <a:ext cx="2011680" cy="594360"/>
          </a:xfrm>
          <a:prstGeom prst="roundRect">
            <a:avLst>
              <a:gd name="adj" fmla="val 12308"/>
            </a:avLst>
          </a:prstGeom>
          <a:solidFill>
            <a:srgbClr val="0F172A"/>
          </a:solidFill>
          <a:ln w="12700">
            <a:solidFill>
              <a:srgbClr val="1E293B"/>
            </a:solidFill>
            <a:prstDash val="solid"/>
          </a:ln>
        </p:spPr>
      </p:sp>
      <p:sp>
        <p:nvSpPr>
          <p:cNvPr id="19" name="Text 17"/>
          <p:cNvSpPr/>
          <p:nvPr/>
        </p:nvSpPr>
        <p:spPr>
          <a:xfrm>
            <a:off x="1051560" y="5074920"/>
            <a:ext cx="1828800" cy="594360"/>
          </a:xfrm>
          <a:prstGeom prst="rect">
            <a:avLst/>
          </a:prstGeom>
          <a:noFill/>
          <a:ln/>
        </p:spPr>
        <p:txBody>
          <a:bodyPr wrap="square" rtlCol="0" anchor="ctr"/>
          <a:lstStyle/>
          <a:p>
            <a:pPr indent="0" marL="0">
              <a:buNone/>
            </a:pPr>
            <a:r>
              <a:rPr lang="en-US" sz="1100" dirty="0">
                <a:solidFill>
                  <a:srgbClr val="F8FAFC"/>
                </a:solidFill>
                <a:latin typeface="Segoe UI" pitchFamily="34" charset="0"/>
                <a:ea typeface="Segoe UI" pitchFamily="34" charset="-122"/>
                <a:cs typeface="Segoe UI" pitchFamily="34" charset="-120"/>
              </a:rPr>
              <a:t>✔ JSP 2.3 &amp; JSTL Expression Language</a:t>
            </a:r>
            <a:endParaRPr lang="en-US" sz="1100" dirty="0"/>
          </a:p>
        </p:txBody>
      </p:sp>
      <p:sp>
        <p:nvSpPr>
          <p:cNvPr id="20" name="Shape 18"/>
          <p:cNvSpPr/>
          <p:nvPr/>
        </p:nvSpPr>
        <p:spPr>
          <a:xfrm>
            <a:off x="3474720" y="1463040"/>
            <a:ext cx="2468880" cy="4480560"/>
          </a:xfrm>
          <a:prstGeom prst="roundRect">
            <a:avLst>
              <a:gd name="adj" fmla="val 4444"/>
            </a:avLst>
          </a:prstGeom>
          <a:solidFill>
            <a:srgbClr val="111827"/>
          </a:solidFill>
          <a:ln w="12700">
            <a:solidFill>
              <a:srgbClr val="1E293B"/>
            </a:solidFill>
            <a:prstDash val="solid"/>
          </a:ln>
        </p:spPr>
      </p:sp>
      <p:sp>
        <p:nvSpPr>
          <p:cNvPr id="21" name="Shape 19"/>
          <p:cNvSpPr/>
          <p:nvPr/>
        </p:nvSpPr>
        <p:spPr>
          <a:xfrm>
            <a:off x="3749040" y="1737360"/>
            <a:ext cx="1920240" cy="256032"/>
          </a:xfrm>
          <a:prstGeom prst="roundRect">
            <a:avLst>
              <a:gd name="adj" fmla="val 50000"/>
            </a:avLst>
          </a:prstGeom>
          <a:solidFill>
            <a:srgbClr val="1E293B"/>
          </a:solidFill>
          <a:ln w="12700">
            <a:solidFill>
              <a:srgbClr val="38BDF8"/>
            </a:solidFill>
            <a:prstDash val="solid"/>
          </a:ln>
        </p:spPr>
      </p:sp>
      <p:sp>
        <p:nvSpPr>
          <p:cNvPr id="22" name="Text 20"/>
          <p:cNvSpPr/>
          <p:nvPr/>
        </p:nvSpPr>
        <p:spPr>
          <a:xfrm>
            <a:off x="3749040" y="1737360"/>
            <a:ext cx="1920240" cy="256032"/>
          </a:xfrm>
          <a:prstGeom prst="rect">
            <a:avLst/>
          </a:prstGeom>
          <a:noFill/>
          <a:ln/>
        </p:spPr>
        <p:txBody>
          <a:bodyPr wrap="square" rtlCol="0" anchor="ctr"/>
          <a:lstStyle/>
          <a:p>
            <a:pPr algn="ctr" indent="0" marL="0">
              <a:buNone/>
            </a:pPr>
            <a:r>
              <a:rPr lang="en-US" sz="900" b="1" dirty="0">
                <a:solidFill>
                  <a:srgbClr val="38BDF8"/>
                </a:solidFill>
                <a:latin typeface="Segoe UI" pitchFamily="34" charset="0"/>
                <a:ea typeface="Segoe UI" pitchFamily="34" charset="-122"/>
                <a:cs typeface="Segoe UI" pitchFamily="34" charset="-120"/>
              </a:rPr>
              <a:t>BUSINESS LOGIC</a:t>
            </a:r>
            <a:endParaRPr lang="en-US" sz="900" dirty="0"/>
          </a:p>
        </p:txBody>
      </p:sp>
      <p:sp>
        <p:nvSpPr>
          <p:cNvPr id="23" name="Text 21"/>
          <p:cNvSpPr/>
          <p:nvPr/>
        </p:nvSpPr>
        <p:spPr>
          <a:xfrm>
            <a:off x="3657600" y="2148840"/>
            <a:ext cx="2103120" cy="365760"/>
          </a:xfrm>
          <a:prstGeom prst="rect">
            <a:avLst/>
          </a:prstGeom>
          <a:noFill/>
          <a:ln/>
        </p:spPr>
        <p:txBody>
          <a:bodyPr wrap="square" rtlCol="0" anchor="ctr"/>
          <a:lstStyle/>
          <a:p>
            <a:pPr algn="ctr" indent="0" marL="0">
              <a:buNone/>
            </a:pPr>
            <a:r>
              <a:rPr lang="en-US" sz="1600" b="1" dirty="0">
                <a:solidFill>
                  <a:srgbClr val="F8FAFC"/>
                </a:solidFill>
                <a:latin typeface="Segoe UI" pitchFamily="34" charset="0"/>
                <a:ea typeface="Segoe UI" pitchFamily="34" charset="-122"/>
                <a:cs typeface="Segoe UI" pitchFamily="34" charset="-120"/>
              </a:rPr>
              <a:t>Backend Tier</a:t>
            </a:r>
            <a:endParaRPr lang="en-US" sz="1600" dirty="0"/>
          </a:p>
        </p:txBody>
      </p:sp>
      <p:sp>
        <p:nvSpPr>
          <p:cNvPr id="24" name="Shape 22"/>
          <p:cNvSpPr/>
          <p:nvPr/>
        </p:nvSpPr>
        <p:spPr>
          <a:xfrm>
            <a:off x="3703320" y="2743200"/>
            <a:ext cx="2011680" cy="594360"/>
          </a:xfrm>
          <a:prstGeom prst="roundRect">
            <a:avLst>
              <a:gd name="adj" fmla="val 12308"/>
            </a:avLst>
          </a:prstGeom>
          <a:solidFill>
            <a:srgbClr val="0F172A"/>
          </a:solidFill>
          <a:ln w="12700">
            <a:solidFill>
              <a:srgbClr val="1E293B"/>
            </a:solidFill>
            <a:prstDash val="solid"/>
          </a:ln>
        </p:spPr>
      </p:sp>
      <p:sp>
        <p:nvSpPr>
          <p:cNvPr id="25" name="Text 23"/>
          <p:cNvSpPr/>
          <p:nvPr/>
        </p:nvSpPr>
        <p:spPr>
          <a:xfrm>
            <a:off x="3794760" y="2743200"/>
            <a:ext cx="1828800" cy="594360"/>
          </a:xfrm>
          <a:prstGeom prst="rect">
            <a:avLst/>
          </a:prstGeom>
          <a:noFill/>
          <a:ln/>
        </p:spPr>
        <p:txBody>
          <a:bodyPr wrap="square" rtlCol="0" anchor="ctr"/>
          <a:lstStyle/>
          <a:p>
            <a:pPr indent="0" marL="0">
              <a:buNone/>
            </a:pPr>
            <a:r>
              <a:rPr lang="en-US" sz="1100" dirty="0">
                <a:solidFill>
                  <a:srgbClr val="F8FAFC"/>
                </a:solidFill>
                <a:latin typeface="Segoe UI" pitchFamily="34" charset="0"/>
                <a:ea typeface="Segoe UI" pitchFamily="34" charset="-122"/>
                <a:cs typeface="Segoe UI" pitchFamily="34" charset="-120"/>
              </a:rPr>
              <a:t>✔ Java SE 21 (LTS Release)</a:t>
            </a:r>
            <a:endParaRPr lang="en-US" sz="1100" dirty="0"/>
          </a:p>
        </p:txBody>
      </p:sp>
      <p:sp>
        <p:nvSpPr>
          <p:cNvPr id="26" name="Shape 24"/>
          <p:cNvSpPr/>
          <p:nvPr/>
        </p:nvSpPr>
        <p:spPr>
          <a:xfrm>
            <a:off x="3703320" y="3520440"/>
            <a:ext cx="2011680" cy="594360"/>
          </a:xfrm>
          <a:prstGeom prst="roundRect">
            <a:avLst>
              <a:gd name="adj" fmla="val 12308"/>
            </a:avLst>
          </a:prstGeom>
          <a:solidFill>
            <a:srgbClr val="0F172A"/>
          </a:solidFill>
          <a:ln w="12700">
            <a:solidFill>
              <a:srgbClr val="1E293B"/>
            </a:solidFill>
            <a:prstDash val="solid"/>
          </a:ln>
        </p:spPr>
      </p:sp>
      <p:sp>
        <p:nvSpPr>
          <p:cNvPr id="27" name="Text 25"/>
          <p:cNvSpPr/>
          <p:nvPr/>
        </p:nvSpPr>
        <p:spPr>
          <a:xfrm>
            <a:off x="3794760" y="3520440"/>
            <a:ext cx="1828800" cy="594360"/>
          </a:xfrm>
          <a:prstGeom prst="rect">
            <a:avLst/>
          </a:prstGeom>
          <a:noFill/>
          <a:ln/>
        </p:spPr>
        <p:txBody>
          <a:bodyPr wrap="square" rtlCol="0" anchor="ctr"/>
          <a:lstStyle/>
          <a:p>
            <a:pPr indent="0" marL="0">
              <a:buNone/>
            </a:pPr>
            <a:r>
              <a:rPr lang="en-US" sz="1100" dirty="0">
                <a:solidFill>
                  <a:srgbClr val="F8FAFC"/>
                </a:solidFill>
                <a:latin typeface="Segoe UI" pitchFamily="34" charset="0"/>
                <a:ea typeface="Segoe UI" pitchFamily="34" charset="-122"/>
                <a:cs typeface="Segoe UI" pitchFamily="34" charset="-120"/>
              </a:rPr>
              <a:t>✔ Jakarta Servlet 6.0 Specification</a:t>
            </a:r>
            <a:endParaRPr lang="en-US" sz="1100" dirty="0"/>
          </a:p>
        </p:txBody>
      </p:sp>
      <p:sp>
        <p:nvSpPr>
          <p:cNvPr id="28" name="Shape 26"/>
          <p:cNvSpPr/>
          <p:nvPr/>
        </p:nvSpPr>
        <p:spPr>
          <a:xfrm>
            <a:off x="3703320" y="4297680"/>
            <a:ext cx="2011680" cy="594360"/>
          </a:xfrm>
          <a:prstGeom prst="roundRect">
            <a:avLst>
              <a:gd name="adj" fmla="val 12308"/>
            </a:avLst>
          </a:prstGeom>
          <a:solidFill>
            <a:srgbClr val="0F172A"/>
          </a:solidFill>
          <a:ln w="12700">
            <a:solidFill>
              <a:srgbClr val="1E293B"/>
            </a:solidFill>
            <a:prstDash val="solid"/>
          </a:ln>
        </p:spPr>
      </p:sp>
      <p:sp>
        <p:nvSpPr>
          <p:cNvPr id="29" name="Text 27"/>
          <p:cNvSpPr/>
          <p:nvPr/>
        </p:nvSpPr>
        <p:spPr>
          <a:xfrm>
            <a:off x="3794760" y="4297680"/>
            <a:ext cx="1828800" cy="594360"/>
          </a:xfrm>
          <a:prstGeom prst="rect">
            <a:avLst/>
          </a:prstGeom>
          <a:noFill/>
          <a:ln/>
        </p:spPr>
        <p:txBody>
          <a:bodyPr wrap="square" rtlCol="0" anchor="ctr"/>
          <a:lstStyle/>
          <a:p>
            <a:pPr indent="0" marL="0">
              <a:buNone/>
            </a:pPr>
            <a:r>
              <a:rPr lang="en-US" sz="1100" dirty="0">
                <a:solidFill>
                  <a:srgbClr val="F8FAFC"/>
                </a:solidFill>
                <a:latin typeface="Segoe UI" pitchFamily="34" charset="0"/>
                <a:ea typeface="Segoe UI" pitchFamily="34" charset="-122"/>
                <a:cs typeface="Segoe UI" pitchFamily="34" charset="-120"/>
              </a:rPr>
              <a:t>✔ MVC Architecture Implementation</a:t>
            </a:r>
            <a:endParaRPr lang="en-US" sz="1100" dirty="0"/>
          </a:p>
        </p:txBody>
      </p:sp>
      <p:sp>
        <p:nvSpPr>
          <p:cNvPr id="30" name="Shape 28"/>
          <p:cNvSpPr/>
          <p:nvPr/>
        </p:nvSpPr>
        <p:spPr>
          <a:xfrm>
            <a:off x="3703320" y="5074920"/>
            <a:ext cx="2011680" cy="594360"/>
          </a:xfrm>
          <a:prstGeom prst="roundRect">
            <a:avLst>
              <a:gd name="adj" fmla="val 12308"/>
            </a:avLst>
          </a:prstGeom>
          <a:solidFill>
            <a:srgbClr val="0F172A"/>
          </a:solidFill>
          <a:ln w="12700">
            <a:solidFill>
              <a:srgbClr val="1E293B"/>
            </a:solidFill>
            <a:prstDash val="solid"/>
          </a:ln>
        </p:spPr>
      </p:sp>
      <p:sp>
        <p:nvSpPr>
          <p:cNvPr id="31" name="Text 29"/>
          <p:cNvSpPr/>
          <p:nvPr/>
        </p:nvSpPr>
        <p:spPr>
          <a:xfrm>
            <a:off x="3794760" y="5074920"/>
            <a:ext cx="1828800" cy="594360"/>
          </a:xfrm>
          <a:prstGeom prst="rect">
            <a:avLst/>
          </a:prstGeom>
          <a:noFill/>
          <a:ln/>
        </p:spPr>
        <p:txBody>
          <a:bodyPr wrap="square" rtlCol="0" anchor="ctr"/>
          <a:lstStyle/>
          <a:p>
            <a:pPr indent="0" marL="0">
              <a:buNone/>
            </a:pPr>
            <a:r>
              <a:rPr lang="en-US" sz="1100" dirty="0">
                <a:solidFill>
                  <a:srgbClr val="F8FAFC"/>
                </a:solidFill>
                <a:latin typeface="Segoe UI" pitchFamily="34" charset="0"/>
                <a:ea typeface="Segoe UI" pitchFamily="34" charset="-122"/>
                <a:cs typeface="Segoe UI" pitchFamily="34" charset="-120"/>
              </a:rPr>
              <a:t>✔ Session Management (HTTPSession)</a:t>
            </a:r>
            <a:endParaRPr lang="en-US" sz="1100" dirty="0"/>
          </a:p>
        </p:txBody>
      </p:sp>
      <p:sp>
        <p:nvSpPr>
          <p:cNvPr id="32" name="Shape 30"/>
          <p:cNvSpPr/>
          <p:nvPr/>
        </p:nvSpPr>
        <p:spPr>
          <a:xfrm>
            <a:off x="6217920" y="1463040"/>
            <a:ext cx="2468880" cy="4480560"/>
          </a:xfrm>
          <a:prstGeom prst="roundRect">
            <a:avLst>
              <a:gd name="adj" fmla="val 4444"/>
            </a:avLst>
          </a:prstGeom>
          <a:solidFill>
            <a:srgbClr val="111827"/>
          </a:solidFill>
          <a:ln w="12700">
            <a:solidFill>
              <a:srgbClr val="1E293B"/>
            </a:solidFill>
            <a:prstDash val="solid"/>
          </a:ln>
        </p:spPr>
      </p:sp>
      <p:sp>
        <p:nvSpPr>
          <p:cNvPr id="33" name="Shape 31"/>
          <p:cNvSpPr/>
          <p:nvPr/>
        </p:nvSpPr>
        <p:spPr>
          <a:xfrm>
            <a:off x="6492240" y="1737360"/>
            <a:ext cx="1920240" cy="256032"/>
          </a:xfrm>
          <a:prstGeom prst="roundRect">
            <a:avLst>
              <a:gd name="adj" fmla="val 50000"/>
            </a:avLst>
          </a:prstGeom>
          <a:solidFill>
            <a:srgbClr val="1E293B"/>
          </a:solidFill>
          <a:ln w="12700">
            <a:solidFill>
              <a:srgbClr val="10B981"/>
            </a:solidFill>
            <a:prstDash val="solid"/>
          </a:ln>
        </p:spPr>
      </p:sp>
      <p:sp>
        <p:nvSpPr>
          <p:cNvPr id="34" name="Text 32"/>
          <p:cNvSpPr/>
          <p:nvPr/>
        </p:nvSpPr>
        <p:spPr>
          <a:xfrm>
            <a:off x="6492240" y="1737360"/>
            <a:ext cx="1920240" cy="256032"/>
          </a:xfrm>
          <a:prstGeom prst="rect">
            <a:avLst/>
          </a:prstGeom>
          <a:noFill/>
          <a:ln/>
        </p:spPr>
        <p:txBody>
          <a:bodyPr wrap="square" rtlCol="0" anchor="ctr"/>
          <a:lstStyle/>
          <a:p>
            <a:pPr algn="ctr" indent="0" marL="0">
              <a:buNone/>
            </a:pPr>
            <a:r>
              <a:rPr lang="en-US" sz="900" b="1" dirty="0">
                <a:solidFill>
                  <a:srgbClr val="10B981"/>
                </a:solidFill>
                <a:latin typeface="Segoe UI" pitchFamily="34" charset="0"/>
                <a:ea typeface="Segoe UI" pitchFamily="34" charset="-122"/>
                <a:cs typeface="Segoe UI" pitchFamily="34" charset="-120"/>
              </a:rPr>
              <a:t>PERSISTENCE</a:t>
            </a:r>
            <a:endParaRPr lang="en-US" sz="900" dirty="0"/>
          </a:p>
        </p:txBody>
      </p:sp>
      <p:sp>
        <p:nvSpPr>
          <p:cNvPr id="35" name="Text 33"/>
          <p:cNvSpPr/>
          <p:nvPr/>
        </p:nvSpPr>
        <p:spPr>
          <a:xfrm>
            <a:off x="6400800" y="2148840"/>
            <a:ext cx="2103120" cy="365760"/>
          </a:xfrm>
          <a:prstGeom prst="rect">
            <a:avLst/>
          </a:prstGeom>
          <a:noFill/>
          <a:ln/>
        </p:spPr>
        <p:txBody>
          <a:bodyPr wrap="square" rtlCol="0" anchor="ctr"/>
          <a:lstStyle/>
          <a:p>
            <a:pPr algn="ctr" indent="0" marL="0">
              <a:buNone/>
            </a:pPr>
            <a:r>
              <a:rPr lang="en-US" sz="1600" b="1" dirty="0">
                <a:solidFill>
                  <a:srgbClr val="F8FAFC"/>
                </a:solidFill>
                <a:latin typeface="Segoe UI" pitchFamily="34" charset="0"/>
                <a:ea typeface="Segoe UI" pitchFamily="34" charset="-122"/>
                <a:cs typeface="Segoe UI" pitchFamily="34" charset="-120"/>
              </a:rPr>
              <a:t>Database Tier</a:t>
            </a:r>
            <a:endParaRPr lang="en-US" sz="1600" dirty="0"/>
          </a:p>
        </p:txBody>
      </p:sp>
      <p:sp>
        <p:nvSpPr>
          <p:cNvPr id="36" name="Shape 34"/>
          <p:cNvSpPr/>
          <p:nvPr/>
        </p:nvSpPr>
        <p:spPr>
          <a:xfrm>
            <a:off x="6446520" y="2743200"/>
            <a:ext cx="2011680" cy="594360"/>
          </a:xfrm>
          <a:prstGeom prst="roundRect">
            <a:avLst>
              <a:gd name="adj" fmla="val 12308"/>
            </a:avLst>
          </a:prstGeom>
          <a:solidFill>
            <a:srgbClr val="0F172A"/>
          </a:solidFill>
          <a:ln w="12700">
            <a:solidFill>
              <a:srgbClr val="1E293B"/>
            </a:solidFill>
            <a:prstDash val="solid"/>
          </a:ln>
        </p:spPr>
      </p:sp>
      <p:sp>
        <p:nvSpPr>
          <p:cNvPr id="37" name="Text 35"/>
          <p:cNvSpPr/>
          <p:nvPr/>
        </p:nvSpPr>
        <p:spPr>
          <a:xfrm>
            <a:off x="6537960" y="2743200"/>
            <a:ext cx="1828800" cy="594360"/>
          </a:xfrm>
          <a:prstGeom prst="rect">
            <a:avLst/>
          </a:prstGeom>
          <a:noFill/>
          <a:ln/>
        </p:spPr>
        <p:txBody>
          <a:bodyPr wrap="square" rtlCol="0" anchor="ctr"/>
          <a:lstStyle/>
          <a:p>
            <a:pPr indent="0" marL="0">
              <a:buNone/>
            </a:pPr>
            <a:r>
              <a:rPr lang="en-US" sz="1100" dirty="0">
                <a:solidFill>
                  <a:srgbClr val="F8FAFC"/>
                </a:solidFill>
                <a:latin typeface="Segoe UI" pitchFamily="34" charset="0"/>
                <a:ea typeface="Segoe UI" pitchFamily="34" charset="-122"/>
                <a:cs typeface="Segoe UI" pitchFamily="34" charset="-120"/>
              </a:rPr>
              <a:t>✔ MySQL 8.0 Relational Engine</a:t>
            </a:r>
            <a:endParaRPr lang="en-US" sz="1100" dirty="0"/>
          </a:p>
        </p:txBody>
      </p:sp>
      <p:sp>
        <p:nvSpPr>
          <p:cNvPr id="38" name="Shape 36"/>
          <p:cNvSpPr/>
          <p:nvPr/>
        </p:nvSpPr>
        <p:spPr>
          <a:xfrm>
            <a:off x="6446520" y="3520440"/>
            <a:ext cx="2011680" cy="594360"/>
          </a:xfrm>
          <a:prstGeom prst="roundRect">
            <a:avLst>
              <a:gd name="adj" fmla="val 12308"/>
            </a:avLst>
          </a:prstGeom>
          <a:solidFill>
            <a:srgbClr val="0F172A"/>
          </a:solidFill>
          <a:ln w="12700">
            <a:solidFill>
              <a:srgbClr val="1E293B"/>
            </a:solidFill>
            <a:prstDash val="solid"/>
          </a:ln>
        </p:spPr>
      </p:sp>
      <p:sp>
        <p:nvSpPr>
          <p:cNvPr id="39" name="Text 37"/>
          <p:cNvSpPr/>
          <p:nvPr/>
        </p:nvSpPr>
        <p:spPr>
          <a:xfrm>
            <a:off x="6537960" y="3520440"/>
            <a:ext cx="1828800" cy="594360"/>
          </a:xfrm>
          <a:prstGeom prst="rect">
            <a:avLst/>
          </a:prstGeom>
          <a:noFill/>
          <a:ln/>
        </p:spPr>
        <p:txBody>
          <a:bodyPr wrap="square" rtlCol="0" anchor="ctr"/>
          <a:lstStyle/>
          <a:p>
            <a:pPr indent="0" marL="0">
              <a:buNone/>
            </a:pPr>
            <a:r>
              <a:rPr lang="en-US" sz="1100" dirty="0">
                <a:solidFill>
                  <a:srgbClr val="F8FAFC"/>
                </a:solidFill>
                <a:latin typeface="Segoe UI" pitchFamily="34" charset="0"/>
                <a:ea typeface="Segoe UI" pitchFamily="34" charset="-122"/>
                <a:cs typeface="Segoe UI" pitchFamily="34" charset="-120"/>
              </a:rPr>
              <a:t>✔ JDBC (Java Database Connectivity)</a:t>
            </a:r>
            <a:endParaRPr lang="en-US" sz="1100" dirty="0"/>
          </a:p>
        </p:txBody>
      </p:sp>
      <p:sp>
        <p:nvSpPr>
          <p:cNvPr id="40" name="Shape 38"/>
          <p:cNvSpPr/>
          <p:nvPr/>
        </p:nvSpPr>
        <p:spPr>
          <a:xfrm>
            <a:off x="6446520" y="4297680"/>
            <a:ext cx="2011680" cy="594360"/>
          </a:xfrm>
          <a:prstGeom prst="roundRect">
            <a:avLst>
              <a:gd name="adj" fmla="val 12308"/>
            </a:avLst>
          </a:prstGeom>
          <a:solidFill>
            <a:srgbClr val="0F172A"/>
          </a:solidFill>
          <a:ln w="12700">
            <a:solidFill>
              <a:srgbClr val="1E293B"/>
            </a:solidFill>
            <a:prstDash val="solid"/>
          </a:ln>
        </p:spPr>
      </p:sp>
      <p:sp>
        <p:nvSpPr>
          <p:cNvPr id="41" name="Text 39"/>
          <p:cNvSpPr/>
          <p:nvPr/>
        </p:nvSpPr>
        <p:spPr>
          <a:xfrm>
            <a:off x="6537960" y="4297680"/>
            <a:ext cx="1828800" cy="594360"/>
          </a:xfrm>
          <a:prstGeom prst="rect">
            <a:avLst/>
          </a:prstGeom>
          <a:noFill/>
          <a:ln/>
        </p:spPr>
        <p:txBody>
          <a:bodyPr wrap="square" rtlCol="0" anchor="ctr"/>
          <a:lstStyle/>
          <a:p>
            <a:pPr indent="0" marL="0">
              <a:buNone/>
            </a:pPr>
            <a:r>
              <a:rPr lang="en-US" sz="1100" dirty="0">
                <a:solidFill>
                  <a:srgbClr val="F8FAFC"/>
                </a:solidFill>
                <a:latin typeface="Segoe UI" pitchFamily="34" charset="0"/>
                <a:ea typeface="Segoe UI" pitchFamily="34" charset="-122"/>
                <a:cs typeface="Segoe UI" pitchFamily="34" charset="-120"/>
              </a:rPr>
              <a:t>✔ PreparedStatement Batch Insertion</a:t>
            </a:r>
            <a:endParaRPr lang="en-US" sz="1100" dirty="0"/>
          </a:p>
        </p:txBody>
      </p:sp>
      <p:sp>
        <p:nvSpPr>
          <p:cNvPr id="42" name="Shape 40"/>
          <p:cNvSpPr/>
          <p:nvPr/>
        </p:nvSpPr>
        <p:spPr>
          <a:xfrm>
            <a:off x="6446520" y="5074920"/>
            <a:ext cx="2011680" cy="594360"/>
          </a:xfrm>
          <a:prstGeom prst="roundRect">
            <a:avLst>
              <a:gd name="adj" fmla="val 12308"/>
            </a:avLst>
          </a:prstGeom>
          <a:solidFill>
            <a:srgbClr val="0F172A"/>
          </a:solidFill>
          <a:ln w="12700">
            <a:solidFill>
              <a:srgbClr val="1E293B"/>
            </a:solidFill>
            <a:prstDash val="solid"/>
          </a:ln>
        </p:spPr>
      </p:sp>
      <p:sp>
        <p:nvSpPr>
          <p:cNvPr id="43" name="Text 41"/>
          <p:cNvSpPr/>
          <p:nvPr/>
        </p:nvSpPr>
        <p:spPr>
          <a:xfrm>
            <a:off x="6537960" y="5074920"/>
            <a:ext cx="1828800" cy="594360"/>
          </a:xfrm>
          <a:prstGeom prst="rect">
            <a:avLst/>
          </a:prstGeom>
          <a:noFill/>
          <a:ln/>
        </p:spPr>
        <p:txBody>
          <a:bodyPr wrap="square" rtlCol="0" anchor="ctr"/>
          <a:lstStyle/>
          <a:p>
            <a:pPr indent="0" marL="0">
              <a:buNone/>
            </a:pPr>
            <a:r>
              <a:rPr lang="en-US" sz="1100" dirty="0">
                <a:solidFill>
                  <a:srgbClr val="F8FAFC"/>
                </a:solidFill>
                <a:latin typeface="Segoe UI" pitchFamily="34" charset="0"/>
                <a:ea typeface="Segoe UI" pitchFamily="34" charset="-122"/>
                <a:cs typeface="Segoe UI" pitchFamily="34" charset="-120"/>
              </a:rPr>
              <a:t>✔ InnoDB Foreign Key Constraints</a:t>
            </a:r>
            <a:endParaRPr lang="en-US" sz="1100" dirty="0"/>
          </a:p>
        </p:txBody>
      </p:sp>
      <p:sp>
        <p:nvSpPr>
          <p:cNvPr id="44" name="Shape 42"/>
          <p:cNvSpPr/>
          <p:nvPr/>
        </p:nvSpPr>
        <p:spPr>
          <a:xfrm>
            <a:off x="8961120" y="1463040"/>
            <a:ext cx="2468880" cy="4480560"/>
          </a:xfrm>
          <a:prstGeom prst="roundRect">
            <a:avLst>
              <a:gd name="adj" fmla="val 4444"/>
            </a:avLst>
          </a:prstGeom>
          <a:solidFill>
            <a:srgbClr val="111827"/>
          </a:solidFill>
          <a:ln w="12700">
            <a:solidFill>
              <a:srgbClr val="1E293B"/>
            </a:solidFill>
            <a:prstDash val="solid"/>
          </a:ln>
        </p:spPr>
      </p:sp>
      <p:sp>
        <p:nvSpPr>
          <p:cNvPr id="45" name="Shape 43"/>
          <p:cNvSpPr/>
          <p:nvPr/>
        </p:nvSpPr>
        <p:spPr>
          <a:xfrm>
            <a:off x="9235440" y="1737360"/>
            <a:ext cx="1920240" cy="256032"/>
          </a:xfrm>
          <a:prstGeom prst="roundRect">
            <a:avLst>
              <a:gd name="adj" fmla="val 50000"/>
            </a:avLst>
          </a:prstGeom>
          <a:solidFill>
            <a:srgbClr val="1E293B"/>
          </a:solidFill>
          <a:ln w="12700">
            <a:solidFill>
              <a:srgbClr val="F4B942"/>
            </a:solidFill>
            <a:prstDash val="solid"/>
          </a:ln>
        </p:spPr>
      </p:sp>
      <p:sp>
        <p:nvSpPr>
          <p:cNvPr id="46" name="Text 44"/>
          <p:cNvSpPr/>
          <p:nvPr/>
        </p:nvSpPr>
        <p:spPr>
          <a:xfrm>
            <a:off x="9235440" y="1737360"/>
            <a:ext cx="1920240" cy="256032"/>
          </a:xfrm>
          <a:prstGeom prst="rect">
            <a:avLst/>
          </a:prstGeom>
          <a:noFill/>
          <a:ln/>
        </p:spPr>
        <p:txBody>
          <a:bodyPr wrap="square" rtlCol="0" anchor="ctr"/>
          <a:lstStyle/>
          <a:p>
            <a:pPr algn="ctr" indent="0" marL="0">
              <a:buNone/>
            </a:pPr>
            <a:r>
              <a:rPr lang="en-US" sz="900" b="1" dirty="0">
                <a:solidFill>
                  <a:srgbClr val="F4B942"/>
                </a:solidFill>
                <a:latin typeface="Segoe UI" pitchFamily="34" charset="0"/>
                <a:ea typeface="Segoe UI" pitchFamily="34" charset="-122"/>
                <a:cs typeface="Segoe UI" pitchFamily="34" charset="-120"/>
              </a:rPr>
              <a:t>INFRASTRUCTURE</a:t>
            </a:r>
            <a:endParaRPr lang="en-US" sz="900" dirty="0"/>
          </a:p>
        </p:txBody>
      </p:sp>
      <p:sp>
        <p:nvSpPr>
          <p:cNvPr id="47" name="Text 45"/>
          <p:cNvSpPr/>
          <p:nvPr/>
        </p:nvSpPr>
        <p:spPr>
          <a:xfrm>
            <a:off x="9144000" y="2148840"/>
            <a:ext cx="2103120" cy="365760"/>
          </a:xfrm>
          <a:prstGeom prst="rect">
            <a:avLst/>
          </a:prstGeom>
          <a:noFill/>
          <a:ln/>
        </p:spPr>
        <p:txBody>
          <a:bodyPr wrap="square" rtlCol="0" anchor="ctr"/>
          <a:lstStyle/>
          <a:p>
            <a:pPr algn="ctr" indent="0" marL="0">
              <a:buNone/>
            </a:pPr>
            <a:r>
              <a:rPr lang="en-US" sz="1600" b="1" dirty="0">
                <a:solidFill>
                  <a:srgbClr val="F8FAFC"/>
                </a:solidFill>
                <a:latin typeface="Segoe UI" pitchFamily="34" charset="0"/>
                <a:ea typeface="Segoe UI" pitchFamily="34" charset="-122"/>
                <a:cs typeface="Segoe UI" pitchFamily="34" charset="-120"/>
              </a:rPr>
              <a:t>Environment &amp; Tooling</a:t>
            </a:r>
            <a:endParaRPr lang="en-US" sz="1600" dirty="0"/>
          </a:p>
        </p:txBody>
      </p:sp>
      <p:sp>
        <p:nvSpPr>
          <p:cNvPr id="48" name="Shape 46"/>
          <p:cNvSpPr/>
          <p:nvPr/>
        </p:nvSpPr>
        <p:spPr>
          <a:xfrm>
            <a:off x="9189720" y="2743200"/>
            <a:ext cx="2011680" cy="594360"/>
          </a:xfrm>
          <a:prstGeom prst="roundRect">
            <a:avLst>
              <a:gd name="adj" fmla="val 12308"/>
            </a:avLst>
          </a:prstGeom>
          <a:solidFill>
            <a:srgbClr val="0F172A"/>
          </a:solidFill>
          <a:ln w="12700">
            <a:solidFill>
              <a:srgbClr val="1E293B"/>
            </a:solidFill>
            <a:prstDash val="solid"/>
          </a:ln>
        </p:spPr>
      </p:sp>
      <p:sp>
        <p:nvSpPr>
          <p:cNvPr id="49" name="Text 47"/>
          <p:cNvSpPr/>
          <p:nvPr/>
        </p:nvSpPr>
        <p:spPr>
          <a:xfrm>
            <a:off x="9281160" y="2743200"/>
            <a:ext cx="1828800" cy="594360"/>
          </a:xfrm>
          <a:prstGeom prst="rect">
            <a:avLst/>
          </a:prstGeom>
          <a:noFill/>
          <a:ln/>
        </p:spPr>
        <p:txBody>
          <a:bodyPr wrap="square" rtlCol="0" anchor="ctr"/>
          <a:lstStyle/>
          <a:p>
            <a:pPr indent="0" marL="0">
              <a:buNone/>
            </a:pPr>
            <a:r>
              <a:rPr lang="en-US" sz="1100" dirty="0">
                <a:solidFill>
                  <a:srgbClr val="F8FAFC"/>
                </a:solidFill>
                <a:latin typeface="Segoe UI" pitchFamily="34" charset="0"/>
                <a:ea typeface="Segoe UI" pitchFamily="34" charset="-122"/>
                <a:cs typeface="Segoe UI" pitchFamily="34" charset="-120"/>
              </a:rPr>
              <a:t>✔ Apache Tomcat 10.1 Web Server</a:t>
            </a:r>
            <a:endParaRPr lang="en-US" sz="1100" dirty="0"/>
          </a:p>
        </p:txBody>
      </p:sp>
      <p:sp>
        <p:nvSpPr>
          <p:cNvPr id="50" name="Shape 48"/>
          <p:cNvSpPr/>
          <p:nvPr/>
        </p:nvSpPr>
        <p:spPr>
          <a:xfrm>
            <a:off x="9189720" y="3520440"/>
            <a:ext cx="2011680" cy="594360"/>
          </a:xfrm>
          <a:prstGeom prst="roundRect">
            <a:avLst>
              <a:gd name="adj" fmla="val 12308"/>
            </a:avLst>
          </a:prstGeom>
          <a:solidFill>
            <a:srgbClr val="0F172A"/>
          </a:solidFill>
          <a:ln w="12700">
            <a:solidFill>
              <a:srgbClr val="1E293B"/>
            </a:solidFill>
            <a:prstDash val="solid"/>
          </a:ln>
        </p:spPr>
      </p:sp>
      <p:sp>
        <p:nvSpPr>
          <p:cNvPr id="51" name="Text 49"/>
          <p:cNvSpPr/>
          <p:nvPr/>
        </p:nvSpPr>
        <p:spPr>
          <a:xfrm>
            <a:off x="9281160" y="3520440"/>
            <a:ext cx="1828800" cy="594360"/>
          </a:xfrm>
          <a:prstGeom prst="rect">
            <a:avLst/>
          </a:prstGeom>
          <a:noFill/>
          <a:ln/>
        </p:spPr>
        <p:txBody>
          <a:bodyPr wrap="square" rtlCol="0" anchor="ctr"/>
          <a:lstStyle/>
          <a:p>
            <a:pPr indent="0" marL="0">
              <a:buNone/>
            </a:pPr>
            <a:r>
              <a:rPr lang="en-US" sz="1100" dirty="0">
                <a:solidFill>
                  <a:srgbClr val="F8FAFC"/>
                </a:solidFill>
                <a:latin typeface="Segoe UI" pitchFamily="34" charset="0"/>
                <a:ea typeface="Segoe UI" pitchFamily="34" charset="-122"/>
                <a:cs typeface="Segoe UI" pitchFamily="34" charset="-120"/>
              </a:rPr>
              <a:t>✔ Eclipse IDE for Enterprise Java</a:t>
            </a:r>
            <a:endParaRPr lang="en-US" sz="1100" dirty="0"/>
          </a:p>
        </p:txBody>
      </p:sp>
      <p:sp>
        <p:nvSpPr>
          <p:cNvPr id="52" name="Shape 50"/>
          <p:cNvSpPr/>
          <p:nvPr/>
        </p:nvSpPr>
        <p:spPr>
          <a:xfrm>
            <a:off x="9189720" y="4297680"/>
            <a:ext cx="2011680" cy="594360"/>
          </a:xfrm>
          <a:prstGeom prst="roundRect">
            <a:avLst>
              <a:gd name="adj" fmla="val 12308"/>
            </a:avLst>
          </a:prstGeom>
          <a:solidFill>
            <a:srgbClr val="0F172A"/>
          </a:solidFill>
          <a:ln w="12700">
            <a:solidFill>
              <a:srgbClr val="1E293B"/>
            </a:solidFill>
            <a:prstDash val="solid"/>
          </a:ln>
        </p:spPr>
      </p:sp>
      <p:sp>
        <p:nvSpPr>
          <p:cNvPr id="53" name="Text 51"/>
          <p:cNvSpPr/>
          <p:nvPr/>
        </p:nvSpPr>
        <p:spPr>
          <a:xfrm>
            <a:off x="9281160" y="4297680"/>
            <a:ext cx="1828800" cy="594360"/>
          </a:xfrm>
          <a:prstGeom prst="rect">
            <a:avLst/>
          </a:prstGeom>
          <a:noFill/>
          <a:ln/>
        </p:spPr>
        <p:txBody>
          <a:bodyPr wrap="square" rtlCol="0" anchor="ctr"/>
          <a:lstStyle/>
          <a:p>
            <a:pPr indent="0" marL="0">
              <a:buNone/>
            </a:pPr>
            <a:r>
              <a:rPr lang="en-US" sz="1100" dirty="0">
                <a:solidFill>
                  <a:srgbClr val="F8FAFC"/>
                </a:solidFill>
                <a:latin typeface="Segoe UI" pitchFamily="34" charset="0"/>
                <a:ea typeface="Segoe UI" pitchFamily="34" charset="-122"/>
                <a:cs typeface="Segoe UI" pitchFamily="34" charset="-120"/>
              </a:rPr>
              <a:t>✔ jBCrypt 0.4 (Password Security)</a:t>
            </a:r>
            <a:endParaRPr lang="en-US" sz="1100" dirty="0"/>
          </a:p>
        </p:txBody>
      </p:sp>
      <p:sp>
        <p:nvSpPr>
          <p:cNvPr id="54" name="Shape 52"/>
          <p:cNvSpPr/>
          <p:nvPr/>
        </p:nvSpPr>
        <p:spPr>
          <a:xfrm>
            <a:off x="9189720" y="5074920"/>
            <a:ext cx="2011680" cy="594360"/>
          </a:xfrm>
          <a:prstGeom prst="roundRect">
            <a:avLst>
              <a:gd name="adj" fmla="val 12308"/>
            </a:avLst>
          </a:prstGeom>
          <a:solidFill>
            <a:srgbClr val="0F172A"/>
          </a:solidFill>
          <a:ln w="12700">
            <a:solidFill>
              <a:srgbClr val="1E293B"/>
            </a:solidFill>
            <a:prstDash val="solid"/>
          </a:ln>
        </p:spPr>
      </p:sp>
      <p:sp>
        <p:nvSpPr>
          <p:cNvPr id="55" name="Text 53"/>
          <p:cNvSpPr/>
          <p:nvPr/>
        </p:nvSpPr>
        <p:spPr>
          <a:xfrm>
            <a:off x="9281160" y="5074920"/>
            <a:ext cx="1828800" cy="594360"/>
          </a:xfrm>
          <a:prstGeom prst="rect">
            <a:avLst/>
          </a:prstGeom>
          <a:noFill/>
          <a:ln/>
        </p:spPr>
        <p:txBody>
          <a:bodyPr wrap="square" rtlCol="0" anchor="ctr"/>
          <a:lstStyle/>
          <a:p>
            <a:pPr indent="0" marL="0">
              <a:buNone/>
            </a:pPr>
            <a:r>
              <a:rPr lang="en-US" sz="1100" dirty="0">
                <a:solidFill>
                  <a:srgbClr val="F8FAFC"/>
                </a:solidFill>
                <a:latin typeface="Segoe UI" pitchFamily="34" charset="0"/>
                <a:ea typeface="Segoe UI" pitchFamily="34" charset="-122"/>
                <a:cs typeface="Segoe UI" pitchFamily="34" charset="-120"/>
              </a:rPr>
              <a:t>✔ MySQL Connector/J 9.2.0 Driver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731520" y="320040"/>
            <a:ext cx="2011680" cy="256032"/>
          </a:xfrm>
          <a:prstGeom prst="roundRect">
            <a:avLst>
              <a:gd name="adj" fmla="val 50000"/>
            </a:avLst>
          </a:prstGeom>
          <a:solidFill>
            <a:srgbClr val="1E293B"/>
          </a:solidFill>
          <a:ln w="12700">
            <a:solidFill>
              <a:srgbClr val="334155"/>
            </a:solidFill>
            <a:prstDash val="solid"/>
          </a:ln>
        </p:spPr>
      </p:sp>
      <p:sp>
        <p:nvSpPr>
          <p:cNvPr id="3" name="Text 1"/>
          <p:cNvSpPr/>
          <p:nvPr/>
        </p:nvSpPr>
        <p:spPr>
          <a:xfrm>
            <a:off x="731520" y="320040"/>
            <a:ext cx="2011680" cy="256032"/>
          </a:xfrm>
          <a:prstGeom prst="rect">
            <a:avLst/>
          </a:prstGeom>
          <a:noFill/>
          <a:ln/>
        </p:spPr>
        <p:txBody>
          <a:bodyPr wrap="square" rtlCol="0" anchor="ctr"/>
          <a:lstStyle/>
          <a:p>
            <a:pPr algn="ctr" indent="0" marL="0">
              <a:buNone/>
            </a:pPr>
            <a:r>
              <a:rPr lang="en-US" sz="900" b="1" dirty="0">
                <a:solidFill>
                  <a:srgbClr val="F4B942"/>
                </a:solidFill>
                <a:latin typeface="Segoe UI" pitchFamily="34" charset="0"/>
                <a:ea typeface="Segoe UI" pitchFamily="34" charset="-122"/>
                <a:cs typeface="Segoe UI" pitchFamily="34" charset="-120"/>
              </a:rPr>
              <a:t>SECTION 3 • PROJECT STRUCTURE</a:t>
            </a:r>
            <a:endParaRPr lang="en-US" sz="900" dirty="0"/>
          </a:p>
        </p:txBody>
      </p:sp>
      <p:sp>
        <p:nvSpPr>
          <p:cNvPr id="4" name="Shape 2"/>
          <p:cNvSpPr/>
          <p:nvPr/>
        </p:nvSpPr>
        <p:spPr>
          <a:xfrm>
            <a:off x="9509760" y="320040"/>
            <a:ext cx="1920240" cy="256032"/>
          </a:xfrm>
          <a:prstGeom prst="roundRect">
            <a:avLst>
              <a:gd name="adj" fmla="val 50000"/>
            </a:avLst>
          </a:prstGeom>
          <a:solidFill>
            <a:srgbClr val="1E293B"/>
          </a:solidFill>
          <a:ln w="12700">
            <a:solidFill>
              <a:srgbClr val="334155"/>
            </a:solidFill>
            <a:prstDash val="solid"/>
          </a:ln>
        </p:spPr>
      </p:sp>
      <p:sp>
        <p:nvSpPr>
          <p:cNvPr id="5" name="Text 3"/>
          <p:cNvSpPr/>
          <p:nvPr/>
        </p:nvSpPr>
        <p:spPr>
          <a:xfrm>
            <a:off x="9509760" y="320040"/>
            <a:ext cx="1920240" cy="256032"/>
          </a:xfrm>
          <a:prstGeom prst="rect">
            <a:avLst/>
          </a:prstGeom>
          <a:noFill/>
          <a:ln/>
        </p:spPr>
        <p:txBody>
          <a:bodyPr wrap="square" rtlCol="0" anchor="ctr"/>
          <a:lstStyle/>
          <a:p>
            <a:pPr algn="ctr" indent="0" marL="0">
              <a:buNone/>
            </a:pPr>
            <a:r>
              <a:rPr lang="en-US" sz="850" b="1" dirty="0">
                <a:solidFill>
                  <a:srgbClr val="94A3B8"/>
                </a:solidFill>
                <a:latin typeface="Segoe UI" pitchFamily="34" charset="0"/>
                <a:ea typeface="Segoe UI" pitchFamily="34" charset="-122"/>
                <a:cs typeface="Segoe UI" pitchFamily="34" charset="-120"/>
              </a:rPr>
              <a:t>TAP ACADEMY EVALUATION</a:t>
            </a:r>
            <a:endParaRPr lang="en-US" sz="850" dirty="0"/>
          </a:p>
        </p:txBody>
      </p:sp>
      <p:sp>
        <p:nvSpPr>
          <p:cNvPr id="6" name="Text 4"/>
          <p:cNvSpPr/>
          <p:nvPr/>
        </p:nvSpPr>
        <p:spPr>
          <a:xfrm>
            <a:off x="731520" y="658368"/>
            <a:ext cx="10515600" cy="457200"/>
          </a:xfrm>
          <a:prstGeom prst="rect">
            <a:avLst/>
          </a:prstGeom>
          <a:noFill/>
          <a:ln/>
        </p:spPr>
        <p:txBody>
          <a:bodyPr wrap="square" rtlCol="0" anchor="t"/>
          <a:lstStyle/>
          <a:p>
            <a:pPr indent="0" marL="0">
              <a:buNone/>
            </a:pPr>
            <a:r>
              <a:rPr lang="en-US" sz="2200" b="1" dirty="0">
                <a:solidFill>
                  <a:srgbClr val="F8FAFC"/>
                </a:solidFill>
                <a:latin typeface="Segoe UI" pitchFamily="34" charset="0"/>
                <a:ea typeface="Segoe UI" pitchFamily="34" charset="-122"/>
                <a:cs typeface="Segoe UI" pitchFamily="34" charset="-120"/>
              </a:rPr>
              <a:t>Eclipse Dynamic Web Project &amp; Layered Package Organization</a:t>
            </a:r>
            <a:endParaRPr lang="en-US" sz="2200" dirty="0"/>
          </a:p>
        </p:txBody>
      </p:sp>
      <p:sp>
        <p:nvSpPr>
          <p:cNvPr id="7" name="Shape 5"/>
          <p:cNvSpPr/>
          <p:nvPr/>
        </p:nvSpPr>
        <p:spPr>
          <a:xfrm>
            <a:off x="731520" y="1143000"/>
            <a:ext cx="10698480" cy="0"/>
          </a:xfrm>
          <a:prstGeom prst="line">
            <a:avLst/>
          </a:prstGeom>
          <a:noFill/>
          <a:ln w="19050">
            <a:solidFill>
              <a:srgbClr val="1E293B"/>
            </a:solidFill>
            <a:prstDash val="solid"/>
          </a:ln>
        </p:spPr>
      </p:sp>
      <p:pic>
        <p:nvPicPr>
          <p:cNvPr id="8" name="Image 0" descr="C:\Users\Asus\eclipse-workspace\FoodHouse\FoodHouse_Presentation_Assets\00_project_structure.png">    </p:cNvPr>
          <p:cNvPicPr>
            <a:picLocks noChangeAspect="1"/>
          </p:cNvPicPr>
          <p:nvPr/>
        </p:nvPicPr>
        <p:blipFill>
          <a:blip r:embed="rId1"/>
          <a:stretch>
            <a:fillRect/>
          </a:stretch>
        </p:blipFill>
        <p:spPr>
          <a:xfrm>
            <a:off x="731520" y="1371600"/>
            <a:ext cx="10698480" cy="46634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731520" y="320040"/>
            <a:ext cx="2011680" cy="256032"/>
          </a:xfrm>
          <a:prstGeom prst="roundRect">
            <a:avLst>
              <a:gd name="adj" fmla="val 50000"/>
            </a:avLst>
          </a:prstGeom>
          <a:solidFill>
            <a:srgbClr val="1E293B"/>
          </a:solidFill>
          <a:ln w="12700">
            <a:solidFill>
              <a:srgbClr val="334155"/>
            </a:solidFill>
            <a:prstDash val="solid"/>
          </a:ln>
        </p:spPr>
      </p:sp>
      <p:sp>
        <p:nvSpPr>
          <p:cNvPr id="3" name="Text 1"/>
          <p:cNvSpPr/>
          <p:nvPr/>
        </p:nvSpPr>
        <p:spPr>
          <a:xfrm>
            <a:off x="731520" y="320040"/>
            <a:ext cx="2011680" cy="256032"/>
          </a:xfrm>
          <a:prstGeom prst="rect">
            <a:avLst/>
          </a:prstGeom>
          <a:noFill/>
          <a:ln/>
        </p:spPr>
        <p:txBody>
          <a:bodyPr wrap="square" rtlCol="0" anchor="ctr"/>
          <a:lstStyle/>
          <a:p>
            <a:pPr algn="ctr" indent="0" marL="0">
              <a:buNone/>
            </a:pPr>
            <a:r>
              <a:rPr lang="en-US" sz="900" b="1" dirty="0">
                <a:solidFill>
                  <a:srgbClr val="F4B942"/>
                </a:solidFill>
                <a:latin typeface="Segoe UI" pitchFamily="34" charset="0"/>
                <a:ea typeface="Segoe UI" pitchFamily="34" charset="-122"/>
                <a:cs typeface="Segoe UI" pitchFamily="34" charset="-120"/>
              </a:rPr>
              <a:t>SECTION 4 • ER DIAGRAM</a:t>
            </a:r>
            <a:endParaRPr lang="en-US" sz="900" dirty="0"/>
          </a:p>
        </p:txBody>
      </p:sp>
      <p:sp>
        <p:nvSpPr>
          <p:cNvPr id="4" name="Shape 2"/>
          <p:cNvSpPr/>
          <p:nvPr/>
        </p:nvSpPr>
        <p:spPr>
          <a:xfrm>
            <a:off x="9509760" y="320040"/>
            <a:ext cx="1920240" cy="256032"/>
          </a:xfrm>
          <a:prstGeom prst="roundRect">
            <a:avLst>
              <a:gd name="adj" fmla="val 50000"/>
            </a:avLst>
          </a:prstGeom>
          <a:solidFill>
            <a:srgbClr val="1E293B"/>
          </a:solidFill>
          <a:ln w="12700">
            <a:solidFill>
              <a:srgbClr val="334155"/>
            </a:solidFill>
            <a:prstDash val="solid"/>
          </a:ln>
        </p:spPr>
      </p:sp>
      <p:sp>
        <p:nvSpPr>
          <p:cNvPr id="5" name="Text 3"/>
          <p:cNvSpPr/>
          <p:nvPr/>
        </p:nvSpPr>
        <p:spPr>
          <a:xfrm>
            <a:off x="9509760" y="320040"/>
            <a:ext cx="1920240" cy="256032"/>
          </a:xfrm>
          <a:prstGeom prst="rect">
            <a:avLst/>
          </a:prstGeom>
          <a:noFill/>
          <a:ln/>
        </p:spPr>
        <p:txBody>
          <a:bodyPr wrap="square" rtlCol="0" anchor="ctr"/>
          <a:lstStyle/>
          <a:p>
            <a:pPr algn="ctr" indent="0" marL="0">
              <a:buNone/>
            </a:pPr>
            <a:r>
              <a:rPr lang="en-US" sz="850" b="1" dirty="0">
                <a:solidFill>
                  <a:srgbClr val="94A3B8"/>
                </a:solidFill>
                <a:latin typeface="Segoe UI" pitchFamily="34" charset="0"/>
                <a:ea typeface="Segoe UI" pitchFamily="34" charset="-122"/>
                <a:cs typeface="Segoe UI" pitchFamily="34" charset="-120"/>
              </a:rPr>
              <a:t>TAP ACADEMY EVALUATION</a:t>
            </a:r>
            <a:endParaRPr lang="en-US" sz="850" dirty="0"/>
          </a:p>
        </p:txBody>
      </p:sp>
      <p:sp>
        <p:nvSpPr>
          <p:cNvPr id="6" name="Text 4"/>
          <p:cNvSpPr/>
          <p:nvPr/>
        </p:nvSpPr>
        <p:spPr>
          <a:xfrm>
            <a:off x="731520" y="658368"/>
            <a:ext cx="10515600" cy="457200"/>
          </a:xfrm>
          <a:prstGeom prst="rect">
            <a:avLst/>
          </a:prstGeom>
          <a:noFill/>
          <a:ln/>
        </p:spPr>
        <p:txBody>
          <a:bodyPr wrap="square" rtlCol="0" anchor="t"/>
          <a:lstStyle/>
          <a:p>
            <a:pPr indent="0" marL="0">
              <a:buNone/>
            </a:pPr>
            <a:r>
              <a:rPr lang="en-US" sz="2200" b="1" dirty="0">
                <a:solidFill>
                  <a:srgbClr val="F8FAFC"/>
                </a:solidFill>
                <a:latin typeface="Segoe UI" pitchFamily="34" charset="0"/>
                <a:ea typeface="Segoe UI" pitchFamily="34" charset="-122"/>
                <a:cs typeface="Segoe UI" pitchFamily="34" charset="-120"/>
              </a:rPr>
              <a:t>MySQL Normalized Relational Database Schema &amp; Entity Relationships</a:t>
            </a:r>
            <a:endParaRPr lang="en-US" sz="2200" dirty="0"/>
          </a:p>
        </p:txBody>
      </p:sp>
      <p:sp>
        <p:nvSpPr>
          <p:cNvPr id="7" name="Shape 5"/>
          <p:cNvSpPr/>
          <p:nvPr/>
        </p:nvSpPr>
        <p:spPr>
          <a:xfrm>
            <a:off x="731520" y="1143000"/>
            <a:ext cx="10698480" cy="0"/>
          </a:xfrm>
          <a:prstGeom prst="line">
            <a:avLst/>
          </a:prstGeom>
          <a:noFill/>
          <a:ln w="19050">
            <a:solidFill>
              <a:srgbClr val="1E293B"/>
            </a:solidFill>
            <a:prstDash val="solid"/>
          </a:ln>
        </p:spPr>
      </p:sp>
      <p:pic>
        <p:nvPicPr>
          <p:cNvPr id="8" name="Image 0" descr="C:\Users\Asus\eclipse-workspace\FoodHouse\FoodHouse_Presentation_Assets\FoodHouse_ER_Diagram.png">    </p:cNvPr>
          <p:cNvPicPr>
            <a:picLocks noChangeAspect="1"/>
          </p:cNvPicPr>
          <p:nvPr/>
        </p:nvPicPr>
        <p:blipFill>
          <a:blip r:embed="rId1"/>
          <a:stretch>
            <a:fillRect/>
          </a:stretch>
        </p:blipFill>
        <p:spPr>
          <a:xfrm>
            <a:off x="731520" y="1371600"/>
            <a:ext cx="10698480" cy="46634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731520" y="320040"/>
            <a:ext cx="2011680" cy="256032"/>
          </a:xfrm>
          <a:prstGeom prst="roundRect">
            <a:avLst>
              <a:gd name="adj" fmla="val 50000"/>
            </a:avLst>
          </a:prstGeom>
          <a:solidFill>
            <a:srgbClr val="1E293B"/>
          </a:solidFill>
          <a:ln w="12700">
            <a:solidFill>
              <a:srgbClr val="334155"/>
            </a:solidFill>
            <a:prstDash val="solid"/>
          </a:ln>
        </p:spPr>
      </p:sp>
      <p:sp>
        <p:nvSpPr>
          <p:cNvPr id="3" name="Text 1"/>
          <p:cNvSpPr/>
          <p:nvPr/>
        </p:nvSpPr>
        <p:spPr>
          <a:xfrm>
            <a:off x="731520" y="320040"/>
            <a:ext cx="2011680" cy="256032"/>
          </a:xfrm>
          <a:prstGeom prst="rect">
            <a:avLst/>
          </a:prstGeom>
          <a:noFill/>
          <a:ln/>
        </p:spPr>
        <p:txBody>
          <a:bodyPr wrap="square" rtlCol="0" anchor="ctr"/>
          <a:lstStyle/>
          <a:p>
            <a:pPr algn="ctr" indent="0" marL="0">
              <a:buNone/>
            </a:pPr>
            <a:r>
              <a:rPr lang="en-US" sz="900" b="1" dirty="0">
                <a:solidFill>
                  <a:srgbClr val="F4B942"/>
                </a:solidFill>
                <a:latin typeface="Segoe UI" pitchFamily="34" charset="0"/>
                <a:ea typeface="Segoe UI" pitchFamily="34" charset="-122"/>
                <a:cs typeface="Segoe UI" pitchFamily="34" charset="-120"/>
              </a:rPr>
              <a:t>SECTION 5 • PAGE SCREENSHOTS (1/6)</a:t>
            </a:r>
            <a:endParaRPr lang="en-US" sz="900" dirty="0"/>
          </a:p>
        </p:txBody>
      </p:sp>
      <p:sp>
        <p:nvSpPr>
          <p:cNvPr id="4" name="Shape 2"/>
          <p:cNvSpPr/>
          <p:nvPr/>
        </p:nvSpPr>
        <p:spPr>
          <a:xfrm>
            <a:off x="9509760" y="320040"/>
            <a:ext cx="1920240" cy="256032"/>
          </a:xfrm>
          <a:prstGeom prst="roundRect">
            <a:avLst>
              <a:gd name="adj" fmla="val 50000"/>
            </a:avLst>
          </a:prstGeom>
          <a:solidFill>
            <a:srgbClr val="1E293B"/>
          </a:solidFill>
          <a:ln w="12700">
            <a:solidFill>
              <a:srgbClr val="334155"/>
            </a:solidFill>
            <a:prstDash val="solid"/>
          </a:ln>
        </p:spPr>
      </p:sp>
      <p:sp>
        <p:nvSpPr>
          <p:cNvPr id="5" name="Text 3"/>
          <p:cNvSpPr/>
          <p:nvPr/>
        </p:nvSpPr>
        <p:spPr>
          <a:xfrm>
            <a:off x="9509760" y="320040"/>
            <a:ext cx="1920240" cy="256032"/>
          </a:xfrm>
          <a:prstGeom prst="rect">
            <a:avLst/>
          </a:prstGeom>
          <a:noFill/>
          <a:ln/>
        </p:spPr>
        <p:txBody>
          <a:bodyPr wrap="square" rtlCol="0" anchor="ctr"/>
          <a:lstStyle/>
          <a:p>
            <a:pPr algn="ctr" indent="0" marL="0">
              <a:buNone/>
            </a:pPr>
            <a:r>
              <a:rPr lang="en-US" sz="850" b="1" dirty="0">
                <a:solidFill>
                  <a:srgbClr val="94A3B8"/>
                </a:solidFill>
                <a:latin typeface="Segoe UI" pitchFamily="34" charset="0"/>
                <a:ea typeface="Segoe UI" pitchFamily="34" charset="-122"/>
                <a:cs typeface="Segoe UI" pitchFamily="34" charset="-120"/>
              </a:rPr>
              <a:t>TAP ACADEMY EVALUATION</a:t>
            </a:r>
            <a:endParaRPr lang="en-US" sz="850" dirty="0"/>
          </a:p>
        </p:txBody>
      </p:sp>
      <p:sp>
        <p:nvSpPr>
          <p:cNvPr id="6" name="Text 4"/>
          <p:cNvSpPr/>
          <p:nvPr/>
        </p:nvSpPr>
        <p:spPr>
          <a:xfrm>
            <a:off x="731520" y="658368"/>
            <a:ext cx="10515600" cy="457200"/>
          </a:xfrm>
          <a:prstGeom prst="rect">
            <a:avLst/>
          </a:prstGeom>
          <a:noFill/>
          <a:ln/>
        </p:spPr>
        <p:txBody>
          <a:bodyPr wrap="square" rtlCol="0" anchor="t"/>
          <a:lstStyle/>
          <a:p>
            <a:pPr indent="0" marL="0">
              <a:buNone/>
            </a:pPr>
            <a:r>
              <a:rPr lang="en-US" sz="2200" b="1" dirty="0">
                <a:solidFill>
                  <a:srgbClr val="F8FAFC"/>
                </a:solidFill>
                <a:latin typeface="Segoe UI" pitchFamily="34" charset="0"/>
                <a:ea typeface="Segoe UI" pitchFamily="34" charset="-122"/>
                <a:cs typeface="Segoe UI" pitchFamily="34" charset="-120"/>
              </a:rPr>
              <a:t>Home &amp; Restaurant Discovery Portal (Restaurant.jsp)</a:t>
            </a:r>
            <a:endParaRPr lang="en-US" sz="2200" dirty="0"/>
          </a:p>
        </p:txBody>
      </p:sp>
      <p:sp>
        <p:nvSpPr>
          <p:cNvPr id="7" name="Shape 5"/>
          <p:cNvSpPr/>
          <p:nvPr/>
        </p:nvSpPr>
        <p:spPr>
          <a:xfrm>
            <a:off x="731520" y="1143000"/>
            <a:ext cx="10698480" cy="0"/>
          </a:xfrm>
          <a:prstGeom prst="line">
            <a:avLst/>
          </a:prstGeom>
          <a:noFill/>
          <a:ln w="19050">
            <a:solidFill>
              <a:srgbClr val="1E293B"/>
            </a:solidFill>
            <a:prstDash val="solid"/>
          </a:ln>
        </p:spPr>
      </p:sp>
      <p:pic>
        <p:nvPicPr>
          <p:cNvPr id="8" name="Image 0" descr="C:\Users\Asus\eclipse-workspace\FoodHouse\FoodHouse_Presentation_Assets\01_home_restaurant_page.png">    </p:cNvPr>
          <p:cNvPicPr>
            <a:picLocks noChangeAspect="1"/>
          </p:cNvPicPr>
          <p:nvPr/>
        </p:nvPicPr>
        <p:blipFill>
          <a:blip r:embed="rId1"/>
          <a:stretch>
            <a:fillRect/>
          </a:stretch>
        </p:blipFill>
        <p:spPr>
          <a:xfrm>
            <a:off x="731520" y="1371600"/>
            <a:ext cx="7772400" cy="4663440"/>
          </a:xfrm>
          <a:prstGeom prst="rect">
            <a:avLst/>
          </a:prstGeom>
        </p:spPr>
      </p:pic>
      <p:sp>
        <p:nvSpPr>
          <p:cNvPr id="9" name="Shape 6"/>
          <p:cNvSpPr/>
          <p:nvPr/>
        </p:nvSpPr>
        <p:spPr>
          <a:xfrm>
            <a:off x="8686800" y="1371600"/>
            <a:ext cx="2743200" cy="4663440"/>
          </a:xfrm>
          <a:prstGeom prst="roundRect">
            <a:avLst>
              <a:gd name="adj" fmla="val 4000"/>
            </a:avLst>
          </a:prstGeom>
          <a:solidFill>
            <a:srgbClr val="111827"/>
          </a:solidFill>
          <a:ln w="12700">
            <a:solidFill>
              <a:srgbClr val="1E293B"/>
            </a:solidFill>
            <a:prstDash val="solid"/>
          </a:ln>
        </p:spPr>
      </p:sp>
      <p:sp>
        <p:nvSpPr>
          <p:cNvPr id="10" name="Text 7"/>
          <p:cNvSpPr/>
          <p:nvPr/>
        </p:nvSpPr>
        <p:spPr>
          <a:xfrm>
            <a:off x="8869680" y="1645920"/>
            <a:ext cx="2377440" cy="274320"/>
          </a:xfrm>
          <a:prstGeom prst="rect">
            <a:avLst/>
          </a:prstGeom>
          <a:noFill/>
          <a:ln/>
        </p:spPr>
        <p:txBody>
          <a:bodyPr wrap="square" rtlCol="0" anchor="ctr"/>
          <a:lstStyle/>
          <a:p>
            <a:pPr indent="0" marL="0">
              <a:buNone/>
            </a:pPr>
            <a:r>
              <a:rPr lang="en-US" sz="1400" b="1" dirty="0">
                <a:solidFill>
                  <a:srgbClr val="FF6B35"/>
                </a:solidFill>
                <a:latin typeface="Segoe UI" pitchFamily="34" charset="0"/>
                <a:ea typeface="Segoe UI" pitchFamily="34" charset="-122"/>
                <a:cs typeface="Segoe UI" pitchFamily="34" charset="-120"/>
              </a:rPr>
              <a:t>Key Page Capabilities</a:t>
            </a:r>
            <a:endParaRPr lang="en-US" sz="1400" dirty="0"/>
          </a:p>
        </p:txBody>
      </p:sp>
      <p:sp>
        <p:nvSpPr>
          <p:cNvPr id="11" name="Text 8"/>
          <p:cNvSpPr/>
          <p:nvPr/>
        </p:nvSpPr>
        <p:spPr>
          <a:xfrm>
            <a:off x="8869680" y="2011680"/>
            <a:ext cx="2377440" cy="685800"/>
          </a:xfrm>
          <a:prstGeom prst="rect">
            <a:avLst/>
          </a:prstGeom>
          <a:noFill/>
          <a:ln/>
        </p:spPr>
        <p:txBody>
          <a:bodyPr wrap="square" rtlCol="0" anchor="ctr"/>
          <a:lstStyle/>
          <a:p>
            <a:pPr indent="0" marL="0">
              <a:lnSpc>
                <a:spcPts val="1600"/>
              </a:lnSpc>
              <a:buNone/>
            </a:pPr>
            <a:r>
              <a:rPr lang="en-US" sz="1100" dirty="0">
                <a:solidFill>
                  <a:srgbClr val="F8FAFC"/>
                </a:solidFill>
                <a:latin typeface="Segoe UI" pitchFamily="34" charset="0"/>
                <a:ea typeface="Segoe UI" pitchFamily="34" charset="-122"/>
                <a:cs typeface="Segoe UI" pitchFamily="34" charset="-120"/>
              </a:rPr>
              <a:t>• Dynamic 30-Restaurant Catalog retrieved via RestaurantDAOImpl.</a:t>
            </a:r>
            <a:endParaRPr lang="en-US" sz="1100" dirty="0"/>
          </a:p>
        </p:txBody>
      </p:sp>
      <p:sp>
        <p:nvSpPr>
          <p:cNvPr id="12" name="Text 9"/>
          <p:cNvSpPr/>
          <p:nvPr/>
        </p:nvSpPr>
        <p:spPr>
          <a:xfrm>
            <a:off x="8869680" y="2788920"/>
            <a:ext cx="2377440" cy="685800"/>
          </a:xfrm>
          <a:prstGeom prst="rect">
            <a:avLst/>
          </a:prstGeom>
          <a:noFill/>
          <a:ln/>
        </p:spPr>
        <p:txBody>
          <a:bodyPr wrap="square" rtlCol="0" anchor="ctr"/>
          <a:lstStyle/>
          <a:p>
            <a:pPr indent="0" marL="0">
              <a:lnSpc>
                <a:spcPts val="1600"/>
              </a:lnSpc>
              <a:buNone/>
            </a:pPr>
            <a:r>
              <a:rPr lang="en-US" sz="1100" dirty="0">
                <a:solidFill>
                  <a:srgbClr val="F8FAFC"/>
                </a:solidFill>
                <a:latin typeface="Segoe UI" pitchFamily="34" charset="0"/>
                <a:ea typeface="Segoe UI" pitchFamily="34" charset="-122"/>
                <a:cs typeface="Segoe UI" pitchFamily="34" charset="-120"/>
              </a:rPr>
              <a:t>• Location filter for Indiranagar, Koramangala, and Central Bangalore.</a:t>
            </a:r>
            <a:endParaRPr lang="en-US" sz="1100" dirty="0"/>
          </a:p>
        </p:txBody>
      </p:sp>
      <p:sp>
        <p:nvSpPr>
          <p:cNvPr id="13" name="Text 10"/>
          <p:cNvSpPr/>
          <p:nvPr/>
        </p:nvSpPr>
        <p:spPr>
          <a:xfrm>
            <a:off x="8869680" y="3566160"/>
            <a:ext cx="2377440" cy="685800"/>
          </a:xfrm>
          <a:prstGeom prst="rect">
            <a:avLst/>
          </a:prstGeom>
          <a:noFill/>
          <a:ln/>
        </p:spPr>
        <p:txBody>
          <a:bodyPr wrap="square" rtlCol="0" anchor="ctr"/>
          <a:lstStyle/>
          <a:p>
            <a:pPr indent="0" marL="0">
              <a:lnSpc>
                <a:spcPts val="1600"/>
              </a:lnSpc>
              <a:buNone/>
            </a:pPr>
            <a:r>
              <a:rPr lang="en-US" sz="1100" dirty="0">
                <a:solidFill>
                  <a:srgbClr val="F8FAFC"/>
                </a:solidFill>
                <a:latin typeface="Segoe UI" pitchFamily="34" charset="0"/>
                <a:ea typeface="Segoe UI" pitchFamily="34" charset="-122"/>
                <a:cs typeface="Segoe UI" pitchFamily="34" charset="-120"/>
              </a:rPr>
              <a:t>• Instant keyword search and cuisine tag filtering.</a:t>
            </a:r>
            <a:endParaRPr lang="en-US" sz="1100" dirty="0"/>
          </a:p>
        </p:txBody>
      </p:sp>
      <p:sp>
        <p:nvSpPr>
          <p:cNvPr id="14" name="Text 11"/>
          <p:cNvSpPr/>
          <p:nvPr/>
        </p:nvSpPr>
        <p:spPr>
          <a:xfrm>
            <a:off x="8869680" y="4343400"/>
            <a:ext cx="2377440" cy="685800"/>
          </a:xfrm>
          <a:prstGeom prst="rect">
            <a:avLst/>
          </a:prstGeom>
          <a:noFill/>
          <a:ln/>
        </p:spPr>
        <p:txBody>
          <a:bodyPr wrap="square" rtlCol="0" anchor="ctr"/>
          <a:lstStyle/>
          <a:p>
            <a:pPr indent="0" marL="0">
              <a:lnSpc>
                <a:spcPts val="1600"/>
              </a:lnSpc>
              <a:buNone/>
            </a:pPr>
            <a:r>
              <a:rPr lang="en-US" sz="1100" dirty="0">
                <a:solidFill>
                  <a:srgbClr val="F8FAFC"/>
                </a:solidFill>
                <a:latin typeface="Segoe UI" pitchFamily="34" charset="0"/>
                <a:ea typeface="Segoe UI" pitchFamily="34" charset="-122"/>
                <a:cs typeface="Segoe UI" pitchFamily="34" charset="-120"/>
              </a:rPr>
              <a:t>• Live Fleet Velocity Simulator (Eco, Hyper, Express, Race modes).</a:t>
            </a:r>
            <a:endParaRPr lang="en-US" sz="1100" dirty="0"/>
          </a:p>
        </p:txBody>
      </p:sp>
      <p:sp>
        <p:nvSpPr>
          <p:cNvPr id="15" name="Text 12"/>
          <p:cNvSpPr/>
          <p:nvPr/>
        </p:nvSpPr>
        <p:spPr>
          <a:xfrm>
            <a:off x="8869680" y="5120640"/>
            <a:ext cx="2377440" cy="685800"/>
          </a:xfrm>
          <a:prstGeom prst="rect">
            <a:avLst/>
          </a:prstGeom>
          <a:noFill/>
          <a:ln/>
        </p:spPr>
        <p:txBody>
          <a:bodyPr wrap="square" rtlCol="0" anchor="ctr"/>
          <a:lstStyle/>
          <a:p>
            <a:pPr indent="0" marL="0">
              <a:lnSpc>
                <a:spcPts val="1600"/>
              </a:lnSpc>
              <a:buNone/>
            </a:pPr>
            <a:r>
              <a:rPr lang="en-US" sz="1100" dirty="0">
                <a:solidFill>
                  <a:srgbClr val="F8FAFC"/>
                </a:solidFill>
                <a:latin typeface="Segoe UI" pitchFamily="34" charset="0"/>
                <a:ea typeface="Segoe UI" pitchFamily="34" charset="-122"/>
                <a:cs typeface="Segoe UI" pitchFamily="34" charset="-120"/>
              </a:rPr>
              <a:t>• Dark / Light theme toggle with high-contrast glassmorphism.</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731520" y="320040"/>
            <a:ext cx="2011680" cy="256032"/>
          </a:xfrm>
          <a:prstGeom prst="roundRect">
            <a:avLst>
              <a:gd name="adj" fmla="val 50000"/>
            </a:avLst>
          </a:prstGeom>
          <a:solidFill>
            <a:srgbClr val="1E293B"/>
          </a:solidFill>
          <a:ln w="12700">
            <a:solidFill>
              <a:srgbClr val="334155"/>
            </a:solidFill>
            <a:prstDash val="solid"/>
          </a:ln>
        </p:spPr>
      </p:sp>
      <p:sp>
        <p:nvSpPr>
          <p:cNvPr id="3" name="Text 1"/>
          <p:cNvSpPr/>
          <p:nvPr/>
        </p:nvSpPr>
        <p:spPr>
          <a:xfrm>
            <a:off x="731520" y="320040"/>
            <a:ext cx="2011680" cy="256032"/>
          </a:xfrm>
          <a:prstGeom prst="rect">
            <a:avLst/>
          </a:prstGeom>
          <a:noFill/>
          <a:ln/>
        </p:spPr>
        <p:txBody>
          <a:bodyPr wrap="square" rtlCol="0" anchor="ctr"/>
          <a:lstStyle/>
          <a:p>
            <a:pPr algn="ctr" indent="0" marL="0">
              <a:buNone/>
            </a:pPr>
            <a:r>
              <a:rPr lang="en-US" sz="900" b="1" dirty="0">
                <a:solidFill>
                  <a:srgbClr val="F4B942"/>
                </a:solidFill>
                <a:latin typeface="Segoe UI" pitchFamily="34" charset="0"/>
                <a:ea typeface="Segoe UI" pitchFamily="34" charset="-122"/>
                <a:cs typeface="Segoe UI" pitchFamily="34" charset="-120"/>
              </a:rPr>
              <a:t>SECTION 5 • PAGE SCREENSHOTS (2/6)</a:t>
            </a:r>
            <a:endParaRPr lang="en-US" sz="900" dirty="0"/>
          </a:p>
        </p:txBody>
      </p:sp>
      <p:sp>
        <p:nvSpPr>
          <p:cNvPr id="4" name="Shape 2"/>
          <p:cNvSpPr/>
          <p:nvPr/>
        </p:nvSpPr>
        <p:spPr>
          <a:xfrm>
            <a:off x="9509760" y="320040"/>
            <a:ext cx="1920240" cy="256032"/>
          </a:xfrm>
          <a:prstGeom prst="roundRect">
            <a:avLst>
              <a:gd name="adj" fmla="val 50000"/>
            </a:avLst>
          </a:prstGeom>
          <a:solidFill>
            <a:srgbClr val="1E293B"/>
          </a:solidFill>
          <a:ln w="12700">
            <a:solidFill>
              <a:srgbClr val="334155"/>
            </a:solidFill>
            <a:prstDash val="solid"/>
          </a:ln>
        </p:spPr>
      </p:sp>
      <p:sp>
        <p:nvSpPr>
          <p:cNvPr id="5" name="Text 3"/>
          <p:cNvSpPr/>
          <p:nvPr/>
        </p:nvSpPr>
        <p:spPr>
          <a:xfrm>
            <a:off x="9509760" y="320040"/>
            <a:ext cx="1920240" cy="256032"/>
          </a:xfrm>
          <a:prstGeom prst="rect">
            <a:avLst/>
          </a:prstGeom>
          <a:noFill/>
          <a:ln/>
        </p:spPr>
        <p:txBody>
          <a:bodyPr wrap="square" rtlCol="0" anchor="ctr"/>
          <a:lstStyle/>
          <a:p>
            <a:pPr algn="ctr" indent="0" marL="0">
              <a:buNone/>
            </a:pPr>
            <a:r>
              <a:rPr lang="en-US" sz="850" b="1" dirty="0">
                <a:solidFill>
                  <a:srgbClr val="94A3B8"/>
                </a:solidFill>
                <a:latin typeface="Segoe UI" pitchFamily="34" charset="0"/>
                <a:ea typeface="Segoe UI" pitchFamily="34" charset="-122"/>
                <a:cs typeface="Segoe UI" pitchFamily="34" charset="-120"/>
              </a:rPr>
              <a:t>TAP ACADEMY EVALUATION</a:t>
            </a:r>
            <a:endParaRPr lang="en-US" sz="850" dirty="0"/>
          </a:p>
        </p:txBody>
      </p:sp>
      <p:sp>
        <p:nvSpPr>
          <p:cNvPr id="6" name="Text 4"/>
          <p:cNvSpPr/>
          <p:nvPr/>
        </p:nvSpPr>
        <p:spPr>
          <a:xfrm>
            <a:off x="731520" y="658368"/>
            <a:ext cx="10515600" cy="457200"/>
          </a:xfrm>
          <a:prstGeom prst="rect">
            <a:avLst/>
          </a:prstGeom>
          <a:noFill/>
          <a:ln/>
        </p:spPr>
        <p:txBody>
          <a:bodyPr wrap="square" rtlCol="0" anchor="t"/>
          <a:lstStyle/>
          <a:p>
            <a:pPr indent="0" marL="0">
              <a:buNone/>
            </a:pPr>
            <a:r>
              <a:rPr lang="en-US" sz="2200" b="1" dirty="0">
                <a:solidFill>
                  <a:srgbClr val="F8FAFC"/>
                </a:solidFill>
                <a:latin typeface="Segoe UI" pitchFamily="34" charset="0"/>
                <a:ea typeface="Segoe UI" pitchFamily="34" charset="-122"/>
                <a:cs typeface="Segoe UI" pitchFamily="34" charset="-120"/>
              </a:rPr>
              <a:t>Unified Authentication Portal (Login.jsp &amp; Register.jsp)</a:t>
            </a:r>
            <a:endParaRPr lang="en-US" sz="2200" dirty="0"/>
          </a:p>
        </p:txBody>
      </p:sp>
      <p:sp>
        <p:nvSpPr>
          <p:cNvPr id="7" name="Shape 5"/>
          <p:cNvSpPr/>
          <p:nvPr/>
        </p:nvSpPr>
        <p:spPr>
          <a:xfrm>
            <a:off x="731520" y="1143000"/>
            <a:ext cx="10698480" cy="0"/>
          </a:xfrm>
          <a:prstGeom prst="line">
            <a:avLst/>
          </a:prstGeom>
          <a:noFill/>
          <a:ln w="19050">
            <a:solidFill>
              <a:srgbClr val="1E293B"/>
            </a:solidFill>
            <a:prstDash val="solid"/>
          </a:ln>
        </p:spPr>
      </p:sp>
      <p:pic>
        <p:nvPicPr>
          <p:cNvPr id="8" name="Image 0" descr="C:\Users\Asus\eclipse-workspace\FoodHouse\FoodHouse_Presentation_Assets\02_login_register_page.png">    </p:cNvPr>
          <p:cNvPicPr>
            <a:picLocks noChangeAspect="1"/>
          </p:cNvPicPr>
          <p:nvPr/>
        </p:nvPicPr>
        <p:blipFill>
          <a:blip r:embed="rId1"/>
          <a:stretch>
            <a:fillRect/>
          </a:stretch>
        </p:blipFill>
        <p:spPr>
          <a:xfrm>
            <a:off x="731520" y="1371600"/>
            <a:ext cx="7772400" cy="4663440"/>
          </a:xfrm>
          <a:prstGeom prst="rect">
            <a:avLst/>
          </a:prstGeom>
        </p:spPr>
      </p:pic>
      <p:sp>
        <p:nvSpPr>
          <p:cNvPr id="9" name="Shape 6"/>
          <p:cNvSpPr/>
          <p:nvPr/>
        </p:nvSpPr>
        <p:spPr>
          <a:xfrm>
            <a:off x="8686800" y="1371600"/>
            <a:ext cx="2743200" cy="4663440"/>
          </a:xfrm>
          <a:prstGeom prst="roundRect">
            <a:avLst>
              <a:gd name="adj" fmla="val 4000"/>
            </a:avLst>
          </a:prstGeom>
          <a:solidFill>
            <a:srgbClr val="111827"/>
          </a:solidFill>
          <a:ln w="12700">
            <a:solidFill>
              <a:srgbClr val="1E293B"/>
            </a:solidFill>
            <a:prstDash val="solid"/>
          </a:ln>
        </p:spPr>
      </p:sp>
      <p:sp>
        <p:nvSpPr>
          <p:cNvPr id="10" name="Text 7"/>
          <p:cNvSpPr/>
          <p:nvPr/>
        </p:nvSpPr>
        <p:spPr>
          <a:xfrm>
            <a:off x="8869680" y="1645920"/>
            <a:ext cx="2377440" cy="274320"/>
          </a:xfrm>
          <a:prstGeom prst="rect">
            <a:avLst/>
          </a:prstGeom>
          <a:noFill/>
          <a:ln/>
        </p:spPr>
        <p:txBody>
          <a:bodyPr wrap="square" rtlCol="0" anchor="ctr"/>
          <a:lstStyle/>
          <a:p>
            <a:pPr indent="0" marL="0">
              <a:buNone/>
            </a:pPr>
            <a:r>
              <a:rPr lang="en-US" sz="1400" b="1" dirty="0">
                <a:solidFill>
                  <a:srgbClr val="F4B942"/>
                </a:solidFill>
                <a:latin typeface="Segoe UI" pitchFamily="34" charset="0"/>
                <a:ea typeface="Segoe UI" pitchFamily="34" charset="-122"/>
                <a:cs typeface="Segoe UI" pitchFamily="34" charset="-120"/>
              </a:rPr>
              <a:t>Security Highlights</a:t>
            </a:r>
            <a:endParaRPr lang="en-US" sz="1400" dirty="0"/>
          </a:p>
        </p:txBody>
      </p:sp>
      <p:sp>
        <p:nvSpPr>
          <p:cNvPr id="11" name="Text 8"/>
          <p:cNvSpPr/>
          <p:nvPr/>
        </p:nvSpPr>
        <p:spPr>
          <a:xfrm>
            <a:off x="8869680" y="2011680"/>
            <a:ext cx="2377440" cy="685800"/>
          </a:xfrm>
          <a:prstGeom prst="rect">
            <a:avLst/>
          </a:prstGeom>
          <a:noFill/>
          <a:ln/>
        </p:spPr>
        <p:txBody>
          <a:bodyPr wrap="square" rtlCol="0" anchor="ctr"/>
          <a:lstStyle/>
          <a:p>
            <a:pPr indent="0" marL="0">
              <a:lnSpc>
                <a:spcPts val="1600"/>
              </a:lnSpc>
              <a:buNone/>
            </a:pPr>
            <a:r>
              <a:rPr lang="en-US" sz="1100" dirty="0">
                <a:solidFill>
                  <a:srgbClr val="F8FAFC"/>
                </a:solidFill>
                <a:latin typeface="Segoe UI" pitchFamily="34" charset="0"/>
                <a:ea typeface="Segoe UI" pitchFamily="34" charset="-122"/>
                <a:cs typeface="Segoe UI" pitchFamily="34" charset="-120"/>
              </a:rPr>
              <a:t>• Unified 1-page Auth Portal with tabbed Login &amp; Register views.</a:t>
            </a:r>
            <a:endParaRPr lang="en-US" sz="1100" dirty="0"/>
          </a:p>
        </p:txBody>
      </p:sp>
      <p:sp>
        <p:nvSpPr>
          <p:cNvPr id="12" name="Text 9"/>
          <p:cNvSpPr/>
          <p:nvPr/>
        </p:nvSpPr>
        <p:spPr>
          <a:xfrm>
            <a:off x="8869680" y="2788920"/>
            <a:ext cx="2377440" cy="685800"/>
          </a:xfrm>
          <a:prstGeom prst="rect">
            <a:avLst/>
          </a:prstGeom>
          <a:noFill/>
          <a:ln/>
        </p:spPr>
        <p:txBody>
          <a:bodyPr wrap="square" rtlCol="0" anchor="ctr"/>
          <a:lstStyle/>
          <a:p>
            <a:pPr indent="0" marL="0">
              <a:lnSpc>
                <a:spcPts val="1600"/>
              </a:lnSpc>
              <a:buNone/>
            </a:pPr>
            <a:r>
              <a:rPr lang="en-US" sz="1100" dirty="0">
                <a:solidFill>
                  <a:srgbClr val="F8FAFC"/>
                </a:solidFill>
                <a:latin typeface="Segoe UI" pitchFamily="34" charset="0"/>
                <a:ea typeface="Segoe UI" pitchFamily="34" charset="-122"/>
                <a:cs typeface="Segoe UI" pitchFamily="34" charset="-120"/>
              </a:rPr>
              <a:t>• Enterprise jBCrypt password hashing with unique per-user salt.</a:t>
            </a:r>
            <a:endParaRPr lang="en-US" sz="1100" dirty="0"/>
          </a:p>
        </p:txBody>
      </p:sp>
      <p:sp>
        <p:nvSpPr>
          <p:cNvPr id="13" name="Text 10"/>
          <p:cNvSpPr/>
          <p:nvPr/>
        </p:nvSpPr>
        <p:spPr>
          <a:xfrm>
            <a:off x="8869680" y="3566160"/>
            <a:ext cx="2377440" cy="685800"/>
          </a:xfrm>
          <a:prstGeom prst="rect">
            <a:avLst/>
          </a:prstGeom>
          <a:noFill/>
          <a:ln/>
        </p:spPr>
        <p:txBody>
          <a:bodyPr wrap="square" rtlCol="0" anchor="ctr"/>
          <a:lstStyle/>
          <a:p>
            <a:pPr indent="0" marL="0">
              <a:lnSpc>
                <a:spcPts val="1600"/>
              </a:lnSpc>
              <a:buNone/>
            </a:pPr>
            <a:r>
              <a:rPr lang="en-US" sz="1100" dirty="0">
                <a:solidFill>
                  <a:srgbClr val="F8FAFC"/>
                </a:solidFill>
                <a:latin typeface="Segoe UI" pitchFamily="34" charset="0"/>
                <a:ea typeface="Segoe UI" pitchFamily="34" charset="-122"/>
                <a:cs typeface="Segoe UI" pitchFamily="34" charset="-120"/>
              </a:rPr>
              <a:t>• Protects against SQL injection via JDBC PreparedStatements.</a:t>
            </a:r>
            <a:endParaRPr lang="en-US" sz="1100" dirty="0"/>
          </a:p>
        </p:txBody>
      </p:sp>
      <p:sp>
        <p:nvSpPr>
          <p:cNvPr id="14" name="Text 11"/>
          <p:cNvSpPr/>
          <p:nvPr/>
        </p:nvSpPr>
        <p:spPr>
          <a:xfrm>
            <a:off x="8869680" y="4343400"/>
            <a:ext cx="2377440" cy="685800"/>
          </a:xfrm>
          <a:prstGeom prst="rect">
            <a:avLst/>
          </a:prstGeom>
          <a:noFill/>
          <a:ln/>
        </p:spPr>
        <p:txBody>
          <a:bodyPr wrap="square" rtlCol="0" anchor="ctr"/>
          <a:lstStyle/>
          <a:p>
            <a:pPr indent="0" marL="0">
              <a:lnSpc>
                <a:spcPts val="1600"/>
              </a:lnSpc>
              <a:buNone/>
            </a:pPr>
            <a:r>
              <a:rPr lang="en-US" sz="1100" dirty="0">
                <a:solidFill>
                  <a:srgbClr val="F8FAFC"/>
                </a:solidFill>
                <a:latin typeface="Segoe UI" pitchFamily="34" charset="0"/>
                <a:ea typeface="Segoe UI" pitchFamily="34" charset="-122"/>
                <a:cs typeface="Segoe UI" pitchFamily="34" charset="-120"/>
              </a:rPr>
              <a:t>• HttpSession management preserves authenticated user identity across checkout.</a:t>
            </a:r>
            <a:endParaRPr lang="en-US" sz="1100" dirty="0"/>
          </a:p>
        </p:txBody>
      </p:sp>
      <p:sp>
        <p:nvSpPr>
          <p:cNvPr id="15" name="Text 12"/>
          <p:cNvSpPr/>
          <p:nvPr/>
        </p:nvSpPr>
        <p:spPr>
          <a:xfrm>
            <a:off x="8869680" y="5120640"/>
            <a:ext cx="2377440" cy="685800"/>
          </a:xfrm>
          <a:prstGeom prst="rect">
            <a:avLst/>
          </a:prstGeom>
          <a:noFill/>
          <a:ln/>
        </p:spPr>
        <p:txBody>
          <a:bodyPr wrap="square" rtlCol="0" anchor="ctr"/>
          <a:lstStyle/>
          <a:p>
            <a:pPr indent="0" marL="0">
              <a:lnSpc>
                <a:spcPts val="1600"/>
              </a:lnSpc>
              <a:buNone/>
            </a:pPr>
            <a:r>
              <a:rPr lang="en-US" sz="1100" dirty="0">
                <a:solidFill>
                  <a:srgbClr val="F8FAFC"/>
                </a:solidFill>
                <a:latin typeface="Segoe UI" pitchFamily="34" charset="0"/>
                <a:ea typeface="Segoe UI" pitchFamily="34" charset="-122"/>
                <a:cs typeface="Segoe UI" pitchFamily="34" charset="-120"/>
              </a:rPr>
              <a:t>• Auto-redirect back to the active shopping session.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731520" y="320040"/>
            <a:ext cx="2011680" cy="256032"/>
          </a:xfrm>
          <a:prstGeom prst="roundRect">
            <a:avLst>
              <a:gd name="adj" fmla="val 50000"/>
            </a:avLst>
          </a:prstGeom>
          <a:solidFill>
            <a:srgbClr val="1E293B"/>
          </a:solidFill>
          <a:ln w="12700">
            <a:solidFill>
              <a:srgbClr val="334155"/>
            </a:solidFill>
            <a:prstDash val="solid"/>
          </a:ln>
        </p:spPr>
      </p:sp>
      <p:sp>
        <p:nvSpPr>
          <p:cNvPr id="3" name="Text 1"/>
          <p:cNvSpPr/>
          <p:nvPr/>
        </p:nvSpPr>
        <p:spPr>
          <a:xfrm>
            <a:off x="731520" y="320040"/>
            <a:ext cx="2011680" cy="256032"/>
          </a:xfrm>
          <a:prstGeom prst="rect">
            <a:avLst/>
          </a:prstGeom>
          <a:noFill/>
          <a:ln/>
        </p:spPr>
        <p:txBody>
          <a:bodyPr wrap="square" rtlCol="0" anchor="ctr"/>
          <a:lstStyle/>
          <a:p>
            <a:pPr algn="ctr" indent="0" marL="0">
              <a:buNone/>
            </a:pPr>
            <a:r>
              <a:rPr lang="en-US" sz="900" b="1" dirty="0">
                <a:solidFill>
                  <a:srgbClr val="F4B942"/>
                </a:solidFill>
                <a:latin typeface="Segoe UI" pitchFamily="34" charset="0"/>
                <a:ea typeface="Segoe UI" pitchFamily="34" charset="-122"/>
                <a:cs typeface="Segoe UI" pitchFamily="34" charset="-120"/>
              </a:rPr>
              <a:t>SECTION 5 • PAGE SCREENSHOTS (3/6)</a:t>
            </a:r>
            <a:endParaRPr lang="en-US" sz="900" dirty="0"/>
          </a:p>
        </p:txBody>
      </p:sp>
      <p:sp>
        <p:nvSpPr>
          <p:cNvPr id="4" name="Shape 2"/>
          <p:cNvSpPr/>
          <p:nvPr/>
        </p:nvSpPr>
        <p:spPr>
          <a:xfrm>
            <a:off x="9509760" y="320040"/>
            <a:ext cx="1920240" cy="256032"/>
          </a:xfrm>
          <a:prstGeom prst="roundRect">
            <a:avLst>
              <a:gd name="adj" fmla="val 50000"/>
            </a:avLst>
          </a:prstGeom>
          <a:solidFill>
            <a:srgbClr val="1E293B"/>
          </a:solidFill>
          <a:ln w="12700">
            <a:solidFill>
              <a:srgbClr val="334155"/>
            </a:solidFill>
            <a:prstDash val="solid"/>
          </a:ln>
        </p:spPr>
      </p:sp>
      <p:sp>
        <p:nvSpPr>
          <p:cNvPr id="5" name="Text 3"/>
          <p:cNvSpPr/>
          <p:nvPr/>
        </p:nvSpPr>
        <p:spPr>
          <a:xfrm>
            <a:off x="9509760" y="320040"/>
            <a:ext cx="1920240" cy="256032"/>
          </a:xfrm>
          <a:prstGeom prst="rect">
            <a:avLst/>
          </a:prstGeom>
          <a:noFill/>
          <a:ln/>
        </p:spPr>
        <p:txBody>
          <a:bodyPr wrap="square" rtlCol="0" anchor="ctr"/>
          <a:lstStyle/>
          <a:p>
            <a:pPr algn="ctr" indent="0" marL="0">
              <a:buNone/>
            </a:pPr>
            <a:r>
              <a:rPr lang="en-US" sz="850" b="1" dirty="0">
                <a:solidFill>
                  <a:srgbClr val="94A3B8"/>
                </a:solidFill>
                <a:latin typeface="Segoe UI" pitchFamily="34" charset="0"/>
                <a:ea typeface="Segoe UI" pitchFamily="34" charset="-122"/>
                <a:cs typeface="Segoe UI" pitchFamily="34" charset="-120"/>
              </a:rPr>
              <a:t>TAP ACADEMY EVALUATION</a:t>
            </a:r>
            <a:endParaRPr lang="en-US" sz="850" dirty="0"/>
          </a:p>
        </p:txBody>
      </p:sp>
      <p:sp>
        <p:nvSpPr>
          <p:cNvPr id="6" name="Text 4"/>
          <p:cNvSpPr/>
          <p:nvPr/>
        </p:nvSpPr>
        <p:spPr>
          <a:xfrm>
            <a:off x="731520" y="658368"/>
            <a:ext cx="10515600" cy="457200"/>
          </a:xfrm>
          <a:prstGeom prst="rect">
            <a:avLst/>
          </a:prstGeom>
          <a:noFill/>
          <a:ln/>
        </p:spPr>
        <p:txBody>
          <a:bodyPr wrap="square" rtlCol="0" anchor="t"/>
          <a:lstStyle/>
          <a:p>
            <a:pPr indent="0" marL="0">
              <a:buNone/>
            </a:pPr>
            <a:r>
              <a:rPr lang="en-US" sz="2200" b="1" dirty="0">
                <a:solidFill>
                  <a:srgbClr val="F8FAFC"/>
                </a:solidFill>
                <a:latin typeface="Segoe UI" pitchFamily="34" charset="0"/>
                <a:ea typeface="Segoe UI" pitchFamily="34" charset="-122"/>
                <a:cs typeface="Segoe UI" pitchFamily="34" charset="-120"/>
              </a:rPr>
              <a:t>Curated Restaurant Menu &amp; Dish Selection (Menu.jsp)</a:t>
            </a:r>
            <a:endParaRPr lang="en-US" sz="2200" dirty="0"/>
          </a:p>
        </p:txBody>
      </p:sp>
      <p:sp>
        <p:nvSpPr>
          <p:cNvPr id="7" name="Shape 5"/>
          <p:cNvSpPr/>
          <p:nvPr/>
        </p:nvSpPr>
        <p:spPr>
          <a:xfrm>
            <a:off x="731520" y="1143000"/>
            <a:ext cx="10698480" cy="0"/>
          </a:xfrm>
          <a:prstGeom prst="line">
            <a:avLst/>
          </a:prstGeom>
          <a:noFill/>
          <a:ln w="19050">
            <a:solidFill>
              <a:srgbClr val="1E293B"/>
            </a:solidFill>
            <a:prstDash val="solid"/>
          </a:ln>
        </p:spPr>
      </p:sp>
      <p:pic>
        <p:nvPicPr>
          <p:cNvPr id="8" name="Image 0" descr="C:\Users\Asus\eclipse-workspace\FoodHouse\FoodHouse_Presentation_Assets\03_menu_page.png">    </p:cNvPr>
          <p:cNvPicPr>
            <a:picLocks noChangeAspect="1"/>
          </p:cNvPicPr>
          <p:nvPr/>
        </p:nvPicPr>
        <p:blipFill>
          <a:blip r:embed="rId1"/>
          <a:stretch>
            <a:fillRect/>
          </a:stretch>
        </p:blipFill>
        <p:spPr>
          <a:xfrm>
            <a:off x="731520" y="1371600"/>
            <a:ext cx="7772400" cy="4663440"/>
          </a:xfrm>
          <a:prstGeom prst="rect">
            <a:avLst/>
          </a:prstGeom>
        </p:spPr>
      </p:pic>
      <p:sp>
        <p:nvSpPr>
          <p:cNvPr id="9" name="Shape 6"/>
          <p:cNvSpPr/>
          <p:nvPr/>
        </p:nvSpPr>
        <p:spPr>
          <a:xfrm>
            <a:off x="8686800" y="1371600"/>
            <a:ext cx="2743200" cy="4663440"/>
          </a:xfrm>
          <a:prstGeom prst="roundRect">
            <a:avLst>
              <a:gd name="adj" fmla="val 4000"/>
            </a:avLst>
          </a:prstGeom>
          <a:solidFill>
            <a:srgbClr val="111827"/>
          </a:solidFill>
          <a:ln w="12700">
            <a:solidFill>
              <a:srgbClr val="1E293B"/>
            </a:solidFill>
            <a:prstDash val="solid"/>
          </a:ln>
        </p:spPr>
      </p:sp>
      <p:sp>
        <p:nvSpPr>
          <p:cNvPr id="10" name="Text 7"/>
          <p:cNvSpPr/>
          <p:nvPr/>
        </p:nvSpPr>
        <p:spPr>
          <a:xfrm>
            <a:off x="8869680" y="1645920"/>
            <a:ext cx="2377440" cy="274320"/>
          </a:xfrm>
          <a:prstGeom prst="rect">
            <a:avLst/>
          </a:prstGeom>
          <a:noFill/>
          <a:ln/>
        </p:spPr>
        <p:txBody>
          <a:bodyPr wrap="square" rtlCol="0" anchor="ctr"/>
          <a:lstStyle/>
          <a:p>
            <a:pPr indent="0" marL="0">
              <a:buNone/>
            </a:pPr>
            <a:r>
              <a:rPr lang="en-US" sz="1400" b="1" dirty="0">
                <a:solidFill>
                  <a:srgbClr val="38BDF8"/>
                </a:solidFill>
                <a:latin typeface="Segoe UI" pitchFamily="34" charset="0"/>
                <a:ea typeface="Segoe UI" pitchFamily="34" charset="-122"/>
                <a:cs typeface="Segoe UI" pitchFamily="34" charset="-120"/>
              </a:rPr>
              <a:t>Menu Engineering</a:t>
            </a:r>
            <a:endParaRPr lang="en-US" sz="1400" dirty="0"/>
          </a:p>
        </p:txBody>
      </p:sp>
      <p:sp>
        <p:nvSpPr>
          <p:cNvPr id="11" name="Text 8"/>
          <p:cNvSpPr/>
          <p:nvPr/>
        </p:nvSpPr>
        <p:spPr>
          <a:xfrm>
            <a:off x="8869680" y="2011680"/>
            <a:ext cx="2377440" cy="685800"/>
          </a:xfrm>
          <a:prstGeom prst="rect">
            <a:avLst/>
          </a:prstGeom>
          <a:noFill/>
          <a:ln/>
        </p:spPr>
        <p:txBody>
          <a:bodyPr wrap="square" rtlCol="0" anchor="ctr"/>
          <a:lstStyle/>
          <a:p>
            <a:pPr indent="0" marL="0">
              <a:lnSpc>
                <a:spcPts val="1600"/>
              </a:lnSpc>
              <a:buNone/>
            </a:pPr>
            <a:r>
              <a:rPr lang="en-US" sz="1100" dirty="0">
                <a:solidFill>
                  <a:srgbClr val="F8FAFC"/>
                </a:solidFill>
                <a:latin typeface="Segoe UI" pitchFamily="34" charset="0"/>
                <a:ea typeface="Segoe UI" pitchFamily="34" charset="-122"/>
                <a:cs typeface="Segoe UI" pitchFamily="34" charset="-120"/>
              </a:rPr>
              <a:t>• Restaurant-specific menu querying (e.g. 12 dishes for Meghana Foods).</a:t>
            </a:r>
            <a:endParaRPr lang="en-US" sz="1100" dirty="0"/>
          </a:p>
        </p:txBody>
      </p:sp>
      <p:sp>
        <p:nvSpPr>
          <p:cNvPr id="12" name="Text 9"/>
          <p:cNvSpPr/>
          <p:nvPr/>
        </p:nvSpPr>
        <p:spPr>
          <a:xfrm>
            <a:off x="8869680" y="2788920"/>
            <a:ext cx="2377440" cy="685800"/>
          </a:xfrm>
          <a:prstGeom prst="rect">
            <a:avLst/>
          </a:prstGeom>
          <a:noFill/>
          <a:ln/>
        </p:spPr>
        <p:txBody>
          <a:bodyPr wrap="square" rtlCol="0" anchor="ctr"/>
          <a:lstStyle/>
          <a:p>
            <a:pPr indent="0" marL="0">
              <a:lnSpc>
                <a:spcPts val="1600"/>
              </a:lnSpc>
              <a:buNone/>
            </a:pPr>
            <a:r>
              <a:rPr lang="en-US" sz="1100" dirty="0">
                <a:solidFill>
                  <a:srgbClr val="F8FAFC"/>
                </a:solidFill>
                <a:latin typeface="Segoe UI" pitchFamily="34" charset="0"/>
                <a:ea typeface="Segoe UI" pitchFamily="34" charset="-122"/>
                <a:cs typeface="Segoe UI" pitchFamily="34" charset="-120"/>
              </a:rPr>
              <a:t>• Veg and Non-Veg visual badge indicators with pricing in INR.</a:t>
            </a:r>
            <a:endParaRPr lang="en-US" sz="1100" dirty="0"/>
          </a:p>
        </p:txBody>
      </p:sp>
      <p:sp>
        <p:nvSpPr>
          <p:cNvPr id="13" name="Text 10"/>
          <p:cNvSpPr/>
          <p:nvPr/>
        </p:nvSpPr>
        <p:spPr>
          <a:xfrm>
            <a:off x="8869680" y="3566160"/>
            <a:ext cx="2377440" cy="685800"/>
          </a:xfrm>
          <a:prstGeom prst="rect">
            <a:avLst/>
          </a:prstGeom>
          <a:noFill/>
          <a:ln/>
        </p:spPr>
        <p:txBody>
          <a:bodyPr wrap="square" rtlCol="0" anchor="ctr"/>
          <a:lstStyle/>
          <a:p>
            <a:pPr indent="0" marL="0">
              <a:lnSpc>
                <a:spcPts val="1600"/>
              </a:lnSpc>
              <a:buNone/>
            </a:pPr>
            <a:r>
              <a:rPr lang="en-US" sz="1100" dirty="0">
                <a:solidFill>
                  <a:srgbClr val="F8FAFC"/>
                </a:solidFill>
                <a:latin typeface="Segoe UI" pitchFamily="34" charset="0"/>
                <a:ea typeface="Segoe UI" pitchFamily="34" charset="-122"/>
                <a:cs typeface="Segoe UI" pitchFamily="34" charset="-120"/>
              </a:rPr>
              <a:t>• Zero-Jump AJAX Add-to-Cart prevents page reloads and scroll disorientation.</a:t>
            </a:r>
            <a:endParaRPr lang="en-US" sz="1100" dirty="0"/>
          </a:p>
        </p:txBody>
      </p:sp>
      <p:sp>
        <p:nvSpPr>
          <p:cNvPr id="14" name="Text 11"/>
          <p:cNvSpPr/>
          <p:nvPr/>
        </p:nvSpPr>
        <p:spPr>
          <a:xfrm>
            <a:off x="8869680" y="4343400"/>
            <a:ext cx="2377440" cy="685800"/>
          </a:xfrm>
          <a:prstGeom prst="rect">
            <a:avLst/>
          </a:prstGeom>
          <a:noFill/>
          <a:ln/>
        </p:spPr>
        <p:txBody>
          <a:bodyPr wrap="square" rtlCol="0" anchor="ctr"/>
          <a:lstStyle/>
          <a:p>
            <a:pPr indent="0" marL="0">
              <a:lnSpc>
                <a:spcPts val="1600"/>
              </a:lnSpc>
              <a:buNone/>
            </a:pPr>
            <a:r>
              <a:rPr lang="en-US" sz="1100" dirty="0">
                <a:solidFill>
                  <a:srgbClr val="F8FAFC"/>
                </a:solidFill>
                <a:latin typeface="Segoe UI" pitchFamily="34" charset="0"/>
                <a:ea typeface="Segoe UI" pitchFamily="34" charset="-122"/>
                <a:cs typeface="Segoe UI" pitchFamily="34" charset="-120"/>
              </a:rPr>
              <a:t>• Instant Quantity Stepper (+ / -) directly on dish cards.</a:t>
            </a:r>
            <a:endParaRPr lang="en-US" sz="1100" dirty="0"/>
          </a:p>
        </p:txBody>
      </p:sp>
      <p:sp>
        <p:nvSpPr>
          <p:cNvPr id="15" name="Text 12"/>
          <p:cNvSpPr/>
          <p:nvPr/>
        </p:nvSpPr>
        <p:spPr>
          <a:xfrm>
            <a:off x="8869680" y="5120640"/>
            <a:ext cx="2377440" cy="685800"/>
          </a:xfrm>
          <a:prstGeom prst="rect">
            <a:avLst/>
          </a:prstGeom>
          <a:noFill/>
          <a:ln/>
        </p:spPr>
        <p:txBody>
          <a:bodyPr wrap="square" rtlCol="0" anchor="ctr"/>
          <a:lstStyle/>
          <a:p>
            <a:pPr indent="0" marL="0">
              <a:lnSpc>
                <a:spcPts val="1600"/>
              </a:lnSpc>
              <a:buNone/>
            </a:pPr>
            <a:r>
              <a:rPr lang="en-US" sz="1100" dirty="0">
                <a:solidFill>
                  <a:srgbClr val="F8FAFC"/>
                </a:solidFill>
                <a:latin typeface="Segoe UI" pitchFamily="34" charset="0"/>
                <a:ea typeface="Segoe UI" pitchFamily="34" charset="-122"/>
                <a:cs typeface="Segoe UI" pitchFamily="34" charset="-120"/>
              </a:rPr>
              <a:t>• Floating bottom cart summary bar with live item count and total.</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731520" y="320040"/>
            <a:ext cx="2011680" cy="256032"/>
          </a:xfrm>
          <a:prstGeom prst="roundRect">
            <a:avLst>
              <a:gd name="adj" fmla="val 50000"/>
            </a:avLst>
          </a:prstGeom>
          <a:solidFill>
            <a:srgbClr val="1E293B"/>
          </a:solidFill>
          <a:ln w="12700">
            <a:solidFill>
              <a:srgbClr val="334155"/>
            </a:solidFill>
            <a:prstDash val="solid"/>
          </a:ln>
        </p:spPr>
      </p:sp>
      <p:sp>
        <p:nvSpPr>
          <p:cNvPr id="3" name="Text 1"/>
          <p:cNvSpPr/>
          <p:nvPr/>
        </p:nvSpPr>
        <p:spPr>
          <a:xfrm>
            <a:off x="731520" y="320040"/>
            <a:ext cx="2011680" cy="256032"/>
          </a:xfrm>
          <a:prstGeom prst="rect">
            <a:avLst/>
          </a:prstGeom>
          <a:noFill/>
          <a:ln/>
        </p:spPr>
        <p:txBody>
          <a:bodyPr wrap="square" rtlCol="0" anchor="ctr"/>
          <a:lstStyle/>
          <a:p>
            <a:pPr algn="ctr" indent="0" marL="0">
              <a:buNone/>
            </a:pPr>
            <a:r>
              <a:rPr lang="en-US" sz="900" b="1" dirty="0">
                <a:solidFill>
                  <a:srgbClr val="F4B942"/>
                </a:solidFill>
                <a:latin typeface="Segoe UI" pitchFamily="34" charset="0"/>
                <a:ea typeface="Segoe UI" pitchFamily="34" charset="-122"/>
                <a:cs typeface="Segoe UI" pitchFamily="34" charset="-120"/>
              </a:rPr>
              <a:t>SECTION 5 • PAGE SCREENSHOTS (4/6)</a:t>
            </a:r>
            <a:endParaRPr lang="en-US" sz="900" dirty="0"/>
          </a:p>
        </p:txBody>
      </p:sp>
      <p:sp>
        <p:nvSpPr>
          <p:cNvPr id="4" name="Shape 2"/>
          <p:cNvSpPr/>
          <p:nvPr/>
        </p:nvSpPr>
        <p:spPr>
          <a:xfrm>
            <a:off x="9509760" y="320040"/>
            <a:ext cx="1920240" cy="256032"/>
          </a:xfrm>
          <a:prstGeom prst="roundRect">
            <a:avLst>
              <a:gd name="adj" fmla="val 50000"/>
            </a:avLst>
          </a:prstGeom>
          <a:solidFill>
            <a:srgbClr val="1E293B"/>
          </a:solidFill>
          <a:ln w="12700">
            <a:solidFill>
              <a:srgbClr val="334155"/>
            </a:solidFill>
            <a:prstDash val="solid"/>
          </a:ln>
        </p:spPr>
      </p:sp>
      <p:sp>
        <p:nvSpPr>
          <p:cNvPr id="5" name="Text 3"/>
          <p:cNvSpPr/>
          <p:nvPr/>
        </p:nvSpPr>
        <p:spPr>
          <a:xfrm>
            <a:off x="9509760" y="320040"/>
            <a:ext cx="1920240" cy="256032"/>
          </a:xfrm>
          <a:prstGeom prst="rect">
            <a:avLst/>
          </a:prstGeom>
          <a:noFill/>
          <a:ln/>
        </p:spPr>
        <p:txBody>
          <a:bodyPr wrap="square" rtlCol="0" anchor="ctr"/>
          <a:lstStyle/>
          <a:p>
            <a:pPr algn="ctr" indent="0" marL="0">
              <a:buNone/>
            </a:pPr>
            <a:r>
              <a:rPr lang="en-US" sz="850" b="1" dirty="0">
                <a:solidFill>
                  <a:srgbClr val="94A3B8"/>
                </a:solidFill>
                <a:latin typeface="Segoe UI" pitchFamily="34" charset="0"/>
                <a:ea typeface="Segoe UI" pitchFamily="34" charset="-122"/>
                <a:cs typeface="Segoe UI" pitchFamily="34" charset="-120"/>
              </a:rPr>
              <a:t>TAP ACADEMY EVALUATION</a:t>
            </a:r>
            <a:endParaRPr lang="en-US" sz="850" dirty="0"/>
          </a:p>
        </p:txBody>
      </p:sp>
      <p:sp>
        <p:nvSpPr>
          <p:cNvPr id="6" name="Text 4"/>
          <p:cNvSpPr/>
          <p:nvPr/>
        </p:nvSpPr>
        <p:spPr>
          <a:xfrm>
            <a:off x="731520" y="658368"/>
            <a:ext cx="10515600" cy="457200"/>
          </a:xfrm>
          <a:prstGeom prst="rect">
            <a:avLst/>
          </a:prstGeom>
          <a:noFill/>
          <a:ln/>
        </p:spPr>
        <p:txBody>
          <a:bodyPr wrap="square" rtlCol="0" anchor="t"/>
          <a:lstStyle/>
          <a:p>
            <a:pPr indent="0" marL="0">
              <a:buNone/>
            </a:pPr>
            <a:r>
              <a:rPr lang="en-US" sz="2200" b="1" dirty="0">
                <a:solidFill>
                  <a:srgbClr val="F8FAFC"/>
                </a:solidFill>
                <a:latin typeface="Segoe UI" pitchFamily="34" charset="0"/>
                <a:ea typeface="Segoe UI" pitchFamily="34" charset="-122"/>
                <a:cs typeface="Segoe UI" pitchFamily="34" charset="-120"/>
              </a:rPr>
              <a:t>Interactive Shopping Cart &amp; Financial Calculations (Cart.jsp)</a:t>
            </a:r>
            <a:endParaRPr lang="en-US" sz="2200" dirty="0"/>
          </a:p>
        </p:txBody>
      </p:sp>
      <p:sp>
        <p:nvSpPr>
          <p:cNvPr id="7" name="Shape 5"/>
          <p:cNvSpPr/>
          <p:nvPr/>
        </p:nvSpPr>
        <p:spPr>
          <a:xfrm>
            <a:off x="731520" y="1143000"/>
            <a:ext cx="10698480" cy="0"/>
          </a:xfrm>
          <a:prstGeom prst="line">
            <a:avLst/>
          </a:prstGeom>
          <a:noFill/>
          <a:ln w="19050">
            <a:solidFill>
              <a:srgbClr val="1E293B"/>
            </a:solidFill>
            <a:prstDash val="solid"/>
          </a:ln>
        </p:spPr>
      </p:sp>
      <p:pic>
        <p:nvPicPr>
          <p:cNvPr id="8" name="Image 0" descr="C:\Users\Asus\eclipse-workspace\FoodHouse\FoodHouse_Presentation_Assets\04_cart_page.png">    </p:cNvPr>
          <p:cNvPicPr>
            <a:picLocks noChangeAspect="1"/>
          </p:cNvPicPr>
          <p:nvPr/>
        </p:nvPicPr>
        <p:blipFill>
          <a:blip r:embed="rId1"/>
          <a:stretch>
            <a:fillRect/>
          </a:stretch>
        </p:blipFill>
        <p:spPr>
          <a:xfrm>
            <a:off x="731520" y="1371600"/>
            <a:ext cx="7772400" cy="4663440"/>
          </a:xfrm>
          <a:prstGeom prst="rect">
            <a:avLst/>
          </a:prstGeom>
        </p:spPr>
      </p:pic>
      <p:sp>
        <p:nvSpPr>
          <p:cNvPr id="9" name="Shape 6"/>
          <p:cNvSpPr/>
          <p:nvPr/>
        </p:nvSpPr>
        <p:spPr>
          <a:xfrm>
            <a:off x="8686800" y="1371600"/>
            <a:ext cx="2743200" cy="4663440"/>
          </a:xfrm>
          <a:prstGeom prst="roundRect">
            <a:avLst>
              <a:gd name="adj" fmla="val 4000"/>
            </a:avLst>
          </a:prstGeom>
          <a:solidFill>
            <a:srgbClr val="111827"/>
          </a:solidFill>
          <a:ln w="12700">
            <a:solidFill>
              <a:srgbClr val="1E293B"/>
            </a:solidFill>
            <a:prstDash val="solid"/>
          </a:ln>
        </p:spPr>
      </p:sp>
      <p:sp>
        <p:nvSpPr>
          <p:cNvPr id="10" name="Text 7"/>
          <p:cNvSpPr/>
          <p:nvPr/>
        </p:nvSpPr>
        <p:spPr>
          <a:xfrm>
            <a:off x="8869680" y="1645920"/>
            <a:ext cx="2377440" cy="274320"/>
          </a:xfrm>
          <a:prstGeom prst="rect">
            <a:avLst/>
          </a:prstGeom>
          <a:noFill/>
          <a:ln/>
        </p:spPr>
        <p:txBody>
          <a:bodyPr wrap="square" rtlCol="0" anchor="ctr"/>
          <a:lstStyle/>
          <a:p>
            <a:pPr indent="0" marL="0">
              <a:buNone/>
            </a:pPr>
            <a:r>
              <a:rPr lang="en-US" sz="1400" b="1" dirty="0">
                <a:solidFill>
                  <a:srgbClr val="10B981"/>
                </a:solidFill>
                <a:latin typeface="Segoe UI" pitchFamily="34" charset="0"/>
                <a:ea typeface="Segoe UI" pitchFamily="34" charset="-122"/>
                <a:cs typeface="Segoe UI" pitchFamily="34" charset="-120"/>
              </a:rPr>
              <a:t>Cart Calculations</a:t>
            </a:r>
            <a:endParaRPr lang="en-US" sz="1400" dirty="0"/>
          </a:p>
        </p:txBody>
      </p:sp>
      <p:sp>
        <p:nvSpPr>
          <p:cNvPr id="11" name="Text 8"/>
          <p:cNvSpPr/>
          <p:nvPr/>
        </p:nvSpPr>
        <p:spPr>
          <a:xfrm>
            <a:off x="8869680" y="2011680"/>
            <a:ext cx="2377440" cy="685800"/>
          </a:xfrm>
          <a:prstGeom prst="rect">
            <a:avLst/>
          </a:prstGeom>
          <a:noFill/>
          <a:ln/>
        </p:spPr>
        <p:txBody>
          <a:bodyPr wrap="square" rtlCol="0" anchor="ctr"/>
          <a:lstStyle/>
          <a:p>
            <a:pPr indent="0" marL="0">
              <a:lnSpc>
                <a:spcPts val="1600"/>
              </a:lnSpc>
              <a:buNone/>
            </a:pPr>
            <a:r>
              <a:rPr lang="en-US" sz="1100" dirty="0">
                <a:solidFill>
                  <a:srgbClr val="F8FAFC"/>
                </a:solidFill>
                <a:latin typeface="Segoe UI" pitchFamily="34" charset="0"/>
                <a:ea typeface="Segoe UI" pitchFamily="34" charset="-122"/>
                <a:cs typeface="Segoe UI" pitchFamily="34" charset="-120"/>
              </a:rPr>
              <a:t>• Itemized list with quantity steppers and quick item removal.</a:t>
            </a:r>
            <a:endParaRPr lang="en-US" sz="1100" dirty="0"/>
          </a:p>
        </p:txBody>
      </p:sp>
      <p:sp>
        <p:nvSpPr>
          <p:cNvPr id="12" name="Text 9"/>
          <p:cNvSpPr/>
          <p:nvPr/>
        </p:nvSpPr>
        <p:spPr>
          <a:xfrm>
            <a:off x="8869680" y="2788920"/>
            <a:ext cx="2377440" cy="685800"/>
          </a:xfrm>
          <a:prstGeom prst="rect">
            <a:avLst/>
          </a:prstGeom>
          <a:noFill/>
          <a:ln/>
        </p:spPr>
        <p:txBody>
          <a:bodyPr wrap="square" rtlCol="0" anchor="ctr"/>
          <a:lstStyle/>
          <a:p>
            <a:pPr indent="0" marL="0">
              <a:lnSpc>
                <a:spcPts val="1600"/>
              </a:lnSpc>
              <a:buNone/>
            </a:pPr>
            <a:r>
              <a:rPr lang="en-US" sz="1100" dirty="0">
                <a:solidFill>
                  <a:srgbClr val="F8FAFC"/>
                </a:solidFill>
                <a:latin typeface="Segoe UI" pitchFamily="34" charset="0"/>
                <a:ea typeface="Segoe UI" pitchFamily="34" charset="-122"/>
                <a:cs typeface="Segoe UI" pitchFamily="34" charset="-120"/>
              </a:rPr>
              <a:t>• Dynamic line item subtotal: price × quantity computed in Cart.java.</a:t>
            </a:r>
            <a:endParaRPr lang="en-US" sz="1100" dirty="0"/>
          </a:p>
        </p:txBody>
      </p:sp>
      <p:sp>
        <p:nvSpPr>
          <p:cNvPr id="13" name="Text 10"/>
          <p:cNvSpPr/>
          <p:nvPr/>
        </p:nvSpPr>
        <p:spPr>
          <a:xfrm>
            <a:off x="8869680" y="3566160"/>
            <a:ext cx="2377440" cy="685800"/>
          </a:xfrm>
          <a:prstGeom prst="rect">
            <a:avLst/>
          </a:prstGeom>
          <a:noFill/>
          <a:ln/>
        </p:spPr>
        <p:txBody>
          <a:bodyPr wrap="square" rtlCol="0" anchor="ctr"/>
          <a:lstStyle/>
          <a:p>
            <a:pPr indent="0" marL="0">
              <a:lnSpc>
                <a:spcPts val="1600"/>
              </a:lnSpc>
              <a:buNone/>
            </a:pPr>
            <a:r>
              <a:rPr lang="en-US" sz="1100" dirty="0">
                <a:solidFill>
                  <a:srgbClr val="F8FAFC"/>
                </a:solidFill>
                <a:latin typeface="Segoe UI" pitchFamily="34" charset="0"/>
                <a:ea typeface="Segoe UI" pitchFamily="34" charset="-122"/>
                <a:cs typeface="Segoe UI" pitchFamily="34" charset="-120"/>
              </a:rPr>
              <a:t>• Transparent financial breakdown: Delivery Fee, Platform Fee, and GST.</a:t>
            </a:r>
            <a:endParaRPr lang="en-US" sz="1100" dirty="0"/>
          </a:p>
        </p:txBody>
      </p:sp>
      <p:sp>
        <p:nvSpPr>
          <p:cNvPr id="14" name="Text 11"/>
          <p:cNvSpPr/>
          <p:nvPr/>
        </p:nvSpPr>
        <p:spPr>
          <a:xfrm>
            <a:off x="8869680" y="4343400"/>
            <a:ext cx="2377440" cy="685800"/>
          </a:xfrm>
          <a:prstGeom prst="rect">
            <a:avLst/>
          </a:prstGeom>
          <a:noFill/>
          <a:ln/>
        </p:spPr>
        <p:txBody>
          <a:bodyPr wrap="square" rtlCol="0" anchor="ctr"/>
          <a:lstStyle/>
          <a:p>
            <a:pPr indent="0" marL="0">
              <a:lnSpc>
                <a:spcPts val="1600"/>
              </a:lnSpc>
              <a:buNone/>
            </a:pPr>
            <a:r>
              <a:rPr lang="en-US" sz="1100" dirty="0">
                <a:solidFill>
                  <a:srgbClr val="F8FAFC"/>
                </a:solidFill>
                <a:latin typeface="Segoe UI" pitchFamily="34" charset="0"/>
                <a:ea typeface="Segoe UI" pitchFamily="34" charset="-122"/>
                <a:cs typeface="Segoe UI" pitchFamily="34" charset="-120"/>
              </a:rPr>
              <a:t>• Session-based storage ensures cart persistence across page navigation.</a:t>
            </a:r>
            <a:endParaRPr lang="en-US" sz="1100" dirty="0"/>
          </a:p>
        </p:txBody>
      </p:sp>
      <p:sp>
        <p:nvSpPr>
          <p:cNvPr id="15" name="Text 12"/>
          <p:cNvSpPr/>
          <p:nvPr/>
        </p:nvSpPr>
        <p:spPr>
          <a:xfrm>
            <a:off x="8869680" y="5120640"/>
            <a:ext cx="2377440" cy="685800"/>
          </a:xfrm>
          <a:prstGeom prst="rect">
            <a:avLst/>
          </a:prstGeom>
          <a:noFill/>
          <a:ln/>
        </p:spPr>
        <p:txBody>
          <a:bodyPr wrap="square" rtlCol="0" anchor="ctr"/>
          <a:lstStyle/>
          <a:p>
            <a:pPr indent="0" marL="0">
              <a:lnSpc>
                <a:spcPts val="1600"/>
              </a:lnSpc>
              <a:buNone/>
            </a:pPr>
            <a:r>
              <a:rPr lang="en-US" sz="1100" dirty="0">
                <a:solidFill>
                  <a:srgbClr val="F8FAFC"/>
                </a:solidFill>
                <a:latin typeface="Segoe UI" pitchFamily="34" charset="0"/>
                <a:ea typeface="Segoe UI" pitchFamily="34" charset="-122"/>
                <a:cs typeface="Segoe UI" pitchFamily="34" charset="-120"/>
              </a:rPr>
              <a:t>• Direct "Proceed to Checkout" action with authentication guard.</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731520" y="320040"/>
            <a:ext cx="2011680" cy="256032"/>
          </a:xfrm>
          <a:prstGeom prst="roundRect">
            <a:avLst>
              <a:gd name="adj" fmla="val 50000"/>
            </a:avLst>
          </a:prstGeom>
          <a:solidFill>
            <a:srgbClr val="1E293B"/>
          </a:solidFill>
          <a:ln w="12700">
            <a:solidFill>
              <a:srgbClr val="334155"/>
            </a:solidFill>
            <a:prstDash val="solid"/>
          </a:ln>
        </p:spPr>
      </p:sp>
      <p:sp>
        <p:nvSpPr>
          <p:cNvPr id="3" name="Text 1"/>
          <p:cNvSpPr/>
          <p:nvPr/>
        </p:nvSpPr>
        <p:spPr>
          <a:xfrm>
            <a:off x="731520" y="320040"/>
            <a:ext cx="2011680" cy="256032"/>
          </a:xfrm>
          <a:prstGeom prst="rect">
            <a:avLst/>
          </a:prstGeom>
          <a:noFill/>
          <a:ln/>
        </p:spPr>
        <p:txBody>
          <a:bodyPr wrap="square" rtlCol="0" anchor="ctr"/>
          <a:lstStyle/>
          <a:p>
            <a:pPr algn="ctr" indent="0" marL="0">
              <a:buNone/>
            </a:pPr>
            <a:r>
              <a:rPr lang="en-US" sz="900" b="1" dirty="0">
                <a:solidFill>
                  <a:srgbClr val="F4B942"/>
                </a:solidFill>
                <a:latin typeface="Segoe UI" pitchFamily="34" charset="0"/>
                <a:ea typeface="Segoe UI" pitchFamily="34" charset="-122"/>
                <a:cs typeface="Segoe UI" pitchFamily="34" charset="-120"/>
              </a:rPr>
              <a:t>SECTION 5 • PAGE SCREENSHOTS (5/6)</a:t>
            </a:r>
            <a:endParaRPr lang="en-US" sz="900" dirty="0"/>
          </a:p>
        </p:txBody>
      </p:sp>
      <p:sp>
        <p:nvSpPr>
          <p:cNvPr id="4" name="Shape 2"/>
          <p:cNvSpPr/>
          <p:nvPr/>
        </p:nvSpPr>
        <p:spPr>
          <a:xfrm>
            <a:off x="9509760" y="320040"/>
            <a:ext cx="1920240" cy="256032"/>
          </a:xfrm>
          <a:prstGeom prst="roundRect">
            <a:avLst>
              <a:gd name="adj" fmla="val 50000"/>
            </a:avLst>
          </a:prstGeom>
          <a:solidFill>
            <a:srgbClr val="1E293B"/>
          </a:solidFill>
          <a:ln w="12700">
            <a:solidFill>
              <a:srgbClr val="334155"/>
            </a:solidFill>
            <a:prstDash val="solid"/>
          </a:ln>
        </p:spPr>
      </p:sp>
      <p:sp>
        <p:nvSpPr>
          <p:cNvPr id="5" name="Text 3"/>
          <p:cNvSpPr/>
          <p:nvPr/>
        </p:nvSpPr>
        <p:spPr>
          <a:xfrm>
            <a:off x="9509760" y="320040"/>
            <a:ext cx="1920240" cy="256032"/>
          </a:xfrm>
          <a:prstGeom prst="rect">
            <a:avLst/>
          </a:prstGeom>
          <a:noFill/>
          <a:ln/>
        </p:spPr>
        <p:txBody>
          <a:bodyPr wrap="square" rtlCol="0" anchor="ctr"/>
          <a:lstStyle/>
          <a:p>
            <a:pPr algn="ctr" indent="0" marL="0">
              <a:buNone/>
            </a:pPr>
            <a:r>
              <a:rPr lang="en-US" sz="850" b="1" dirty="0">
                <a:solidFill>
                  <a:srgbClr val="94A3B8"/>
                </a:solidFill>
                <a:latin typeface="Segoe UI" pitchFamily="34" charset="0"/>
                <a:ea typeface="Segoe UI" pitchFamily="34" charset="-122"/>
                <a:cs typeface="Segoe UI" pitchFamily="34" charset="-120"/>
              </a:rPr>
              <a:t>TAP ACADEMY EVALUATION</a:t>
            </a:r>
            <a:endParaRPr lang="en-US" sz="850" dirty="0"/>
          </a:p>
        </p:txBody>
      </p:sp>
      <p:sp>
        <p:nvSpPr>
          <p:cNvPr id="6" name="Text 4"/>
          <p:cNvSpPr/>
          <p:nvPr/>
        </p:nvSpPr>
        <p:spPr>
          <a:xfrm>
            <a:off x="731520" y="658368"/>
            <a:ext cx="10515600" cy="457200"/>
          </a:xfrm>
          <a:prstGeom prst="rect">
            <a:avLst/>
          </a:prstGeom>
          <a:noFill/>
          <a:ln/>
        </p:spPr>
        <p:txBody>
          <a:bodyPr wrap="square" rtlCol="0" anchor="t"/>
          <a:lstStyle/>
          <a:p>
            <a:pPr indent="0" marL="0">
              <a:buNone/>
            </a:pPr>
            <a:r>
              <a:rPr lang="en-US" sz="2200" b="1" dirty="0">
                <a:solidFill>
                  <a:srgbClr val="F8FAFC"/>
                </a:solidFill>
                <a:latin typeface="Segoe UI" pitchFamily="34" charset="0"/>
                <a:ea typeface="Segoe UI" pitchFamily="34" charset="-122"/>
                <a:cs typeface="Segoe UI" pitchFamily="34" charset="-120"/>
              </a:rPr>
              <a:t>Checkout &amp; Payment Mode Selection (Checkout.jsp)</a:t>
            </a:r>
            <a:endParaRPr lang="en-US" sz="2200" dirty="0"/>
          </a:p>
        </p:txBody>
      </p:sp>
      <p:sp>
        <p:nvSpPr>
          <p:cNvPr id="7" name="Shape 5"/>
          <p:cNvSpPr/>
          <p:nvPr/>
        </p:nvSpPr>
        <p:spPr>
          <a:xfrm>
            <a:off x="731520" y="1143000"/>
            <a:ext cx="10698480" cy="0"/>
          </a:xfrm>
          <a:prstGeom prst="line">
            <a:avLst/>
          </a:prstGeom>
          <a:noFill/>
          <a:ln w="19050">
            <a:solidFill>
              <a:srgbClr val="1E293B"/>
            </a:solidFill>
            <a:prstDash val="solid"/>
          </a:ln>
        </p:spPr>
      </p:sp>
      <p:pic>
        <p:nvPicPr>
          <p:cNvPr id="8" name="Image 0" descr="C:\Users\Asus\eclipse-workspace\FoodHouse\FoodHouse_Presentation_Assets\05_checkout_page.png">    </p:cNvPr>
          <p:cNvPicPr>
            <a:picLocks noChangeAspect="1"/>
          </p:cNvPicPr>
          <p:nvPr/>
        </p:nvPicPr>
        <p:blipFill>
          <a:blip r:embed="rId1"/>
          <a:stretch>
            <a:fillRect/>
          </a:stretch>
        </p:blipFill>
        <p:spPr>
          <a:xfrm>
            <a:off x="731520" y="1371600"/>
            <a:ext cx="7772400" cy="4663440"/>
          </a:xfrm>
          <a:prstGeom prst="rect">
            <a:avLst/>
          </a:prstGeom>
        </p:spPr>
      </p:pic>
      <p:sp>
        <p:nvSpPr>
          <p:cNvPr id="9" name="Shape 6"/>
          <p:cNvSpPr/>
          <p:nvPr/>
        </p:nvSpPr>
        <p:spPr>
          <a:xfrm>
            <a:off x="8686800" y="1371600"/>
            <a:ext cx="2743200" cy="4663440"/>
          </a:xfrm>
          <a:prstGeom prst="roundRect">
            <a:avLst>
              <a:gd name="adj" fmla="val 4000"/>
            </a:avLst>
          </a:prstGeom>
          <a:solidFill>
            <a:srgbClr val="111827"/>
          </a:solidFill>
          <a:ln w="12700">
            <a:solidFill>
              <a:srgbClr val="1E293B"/>
            </a:solidFill>
            <a:prstDash val="solid"/>
          </a:ln>
        </p:spPr>
      </p:sp>
      <p:sp>
        <p:nvSpPr>
          <p:cNvPr id="10" name="Text 7"/>
          <p:cNvSpPr/>
          <p:nvPr/>
        </p:nvSpPr>
        <p:spPr>
          <a:xfrm>
            <a:off x="8869680" y="1645920"/>
            <a:ext cx="2377440" cy="274320"/>
          </a:xfrm>
          <a:prstGeom prst="rect">
            <a:avLst/>
          </a:prstGeom>
          <a:noFill/>
          <a:ln/>
        </p:spPr>
        <p:txBody>
          <a:bodyPr wrap="square" rtlCol="0" anchor="ctr"/>
          <a:lstStyle/>
          <a:p>
            <a:pPr indent="0" marL="0">
              <a:buNone/>
            </a:pPr>
            <a:r>
              <a:rPr lang="en-US" sz="1400" b="1" dirty="0">
                <a:solidFill>
                  <a:srgbClr val="FF6B35"/>
                </a:solidFill>
                <a:latin typeface="Segoe UI" pitchFamily="34" charset="0"/>
                <a:ea typeface="Segoe UI" pitchFamily="34" charset="-122"/>
                <a:cs typeface="Segoe UI" pitchFamily="34" charset="-120"/>
              </a:rPr>
              <a:t>Order Finalization</a:t>
            </a:r>
            <a:endParaRPr lang="en-US" sz="1400" dirty="0"/>
          </a:p>
        </p:txBody>
      </p:sp>
      <p:sp>
        <p:nvSpPr>
          <p:cNvPr id="11" name="Text 8"/>
          <p:cNvSpPr/>
          <p:nvPr/>
        </p:nvSpPr>
        <p:spPr>
          <a:xfrm>
            <a:off x="8869680" y="2011680"/>
            <a:ext cx="2377440" cy="685800"/>
          </a:xfrm>
          <a:prstGeom prst="rect">
            <a:avLst/>
          </a:prstGeom>
          <a:noFill/>
          <a:ln/>
        </p:spPr>
        <p:txBody>
          <a:bodyPr wrap="square" rtlCol="0" anchor="ctr"/>
          <a:lstStyle/>
          <a:p>
            <a:pPr indent="0" marL="0">
              <a:lnSpc>
                <a:spcPts val="1600"/>
              </a:lnSpc>
              <a:buNone/>
            </a:pPr>
            <a:r>
              <a:rPr lang="en-US" sz="1100" dirty="0">
                <a:solidFill>
                  <a:srgbClr val="F8FAFC"/>
                </a:solidFill>
                <a:latin typeface="Segoe UI" pitchFamily="34" charset="0"/>
                <a:ea typeface="Segoe UI" pitchFamily="34" charset="-122"/>
                <a:cs typeface="Segoe UI" pitchFamily="34" charset="-120"/>
              </a:rPr>
              <a:t>• Delivery address selection and contact phone validation.</a:t>
            </a:r>
            <a:endParaRPr lang="en-US" sz="1100" dirty="0"/>
          </a:p>
        </p:txBody>
      </p:sp>
      <p:sp>
        <p:nvSpPr>
          <p:cNvPr id="12" name="Text 9"/>
          <p:cNvSpPr/>
          <p:nvPr/>
        </p:nvSpPr>
        <p:spPr>
          <a:xfrm>
            <a:off x="8869680" y="2788920"/>
            <a:ext cx="2377440" cy="685800"/>
          </a:xfrm>
          <a:prstGeom prst="rect">
            <a:avLst/>
          </a:prstGeom>
          <a:noFill/>
          <a:ln/>
        </p:spPr>
        <p:txBody>
          <a:bodyPr wrap="square" rtlCol="0" anchor="ctr"/>
          <a:lstStyle/>
          <a:p>
            <a:pPr indent="0" marL="0">
              <a:lnSpc>
                <a:spcPts val="1600"/>
              </a:lnSpc>
              <a:buNone/>
            </a:pPr>
            <a:r>
              <a:rPr lang="en-US" sz="1100" dirty="0">
                <a:solidFill>
                  <a:srgbClr val="F8FAFC"/>
                </a:solidFill>
                <a:latin typeface="Segoe UI" pitchFamily="34" charset="0"/>
                <a:ea typeface="Segoe UI" pitchFamily="34" charset="-122"/>
                <a:cs typeface="Segoe UI" pitchFamily="34" charset="-120"/>
              </a:rPr>
              <a:t>• Support for 5 payment methods: Cash on Delivery, UPI, Cards, NetBanking.</a:t>
            </a:r>
            <a:endParaRPr lang="en-US" sz="1100" dirty="0"/>
          </a:p>
        </p:txBody>
      </p:sp>
      <p:sp>
        <p:nvSpPr>
          <p:cNvPr id="13" name="Text 10"/>
          <p:cNvSpPr/>
          <p:nvPr/>
        </p:nvSpPr>
        <p:spPr>
          <a:xfrm>
            <a:off x="8869680" y="3566160"/>
            <a:ext cx="2377440" cy="685800"/>
          </a:xfrm>
          <a:prstGeom prst="rect">
            <a:avLst/>
          </a:prstGeom>
          <a:noFill/>
          <a:ln/>
        </p:spPr>
        <p:txBody>
          <a:bodyPr wrap="square" rtlCol="0" anchor="ctr"/>
          <a:lstStyle/>
          <a:p>
            <a:pPr indent="0" marL="0">
              <a:lnSpc>
                <a:spcPts val="1600"/>
              </a:lnSpc>
              <a:buNone/>
            </a:pPr>
            <a:r>
              <a:rPr lang="en-US" sz="1100" dirty="0">
                <a:solidFill>
                  <a:srgbClr val="F8FAFC"/>
                </a:solidFill>
                <a:latin typeface="Segoe UI" pitchFamily="34" charset="0"/>
                <a:ea typeface="Segoe UI" pitchFamily="34" charset="-122"/>
                <a:cs typeface="Segoe UI" pitchFamily="34" charset="-120"/>
              </a:rPr>
              <a:t>• Comprehensive order bill review before final commitment.</a:t>
            </a:r>
            <a:endParaRPr lang="en-US" sz="1100" dirty="0"/>
          </a:p>
        </p:txBody>
      </p:sp>
      <p:sp>
        <p:nvSpPr>
          <p:cNvPr id="14" name="Text 11"/>
          <p:cNvSpPr/>
          <p:nvPr/>
        </p:nvSpPr>
        <p:spPr>
          <a:xfrm>
            <a:off x="8869680" y="4343400"/>
            <a:ext cx="2377440" cy="685800"/>
          </a:xfrm>
          <a:prstGeom prst="rect">
            <a:avLst/>
          </a:prstGeom>
          <a:noFill/>
          <a:ln/>
        </p:spPr>
        <p:txBody>
          <a:bodyPr wrap="square" rtlCol="0" anchor="ctr"/>
          <a:lstStyle/>
          <a:p>
            <a:pPr indent="0" marL="0">
              <a:lnSpc>
                <a:spcPts val="1600"/>
              </a:lnSpc>
              <a:buNone/>
            </a:pPr>
            <a:r>
              <a:rPr lang="en-US" sz="1100" dirty="0">
                <a:solidFill>
                  <a:srgbClr val="F8FAFC"/>
                </a:solidFill>
                <a:latin typeface="Segoe UI" pitchFamily="34" charset="0"/>
                <a:ea typeface="Segoe UI" pitchFamily="34" charset="-122"/>
                <a:cs typeface="Segoe UI" pitchFamily="34" charset="-120"/>
              </a:rPr>
              <a:t>• OrderController initiates transactional insertion in MySQL.</a:t>
            </a:r>
            <a:endParaRPr lang="en-US" sz="1100" dirty="0"/>
          </a:p>
        </p:txBody>
      </p:sp>
      <p:sp>
        <p:nvSpPr>
          <p:cNvPr id="15" name="Text 12"/>
          <p:cNvSpPr/>
          <p:nvPr/>
        </p:nvSpPr>
        <p:spPr>
          <a:xfrm>
            <a:off x="8869680" y="5120640"/>
            <a:ext cx="2377440" cy="685800"/>
          </a:xfrm>
          <a:prstGeom prst="rect">
            <a:avLst/>
          </a:prstGeom>
          <a:noFill/>
          <a:ln/>
        </p:spPr>
        <p:txBody>
          <a:bodyPr wrap="square" rtlCol="0" anchor="ctr"/>
          <a:lstStyle/>
          <a:p>
            <a:pPr indent="0" marL="0">
              <a:lnSpc>
                <a:spcPts val="1600"/>
              </a:lnSpc>
              <a:buNone/>
            </a:pPr>
            <a:r>
              <a:rPr lang="en-US" sz="1100" dirty="0">
                <a:solidFill>
                  <a:srgbClr val="F8FAFC"/>
                </a:solidFill>
                <a:latin typeface="Segoe UI" pitchFamily="34" charset="0"/>
                <a:ea typeface="Segoe UI" pitchFamily="34" charset="-122"/>
                <a:cs typeface="Segoe UI" pitchFamily="34" charset="-120"/>
              </a:rPr>
              <a:t>• Atomic insertion across orders and order_item tables with rollback safety.</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731520" y="320040"/>
            <a:ext cx="2011680" cy="256032"/>
          </a:xfrm>
          <a:prstGeom prst="roundRect">
            <a:avLst>
              <a:gd name="adj" fmla="val 50000"/>
            </a:avLst>
          </a:prstGeom>
          <a:solidFill>
            <a:srgbClr val="1E293B"/>
          </a:solidFill>
          <a:ln w="12700">
            <a:solidFill>
              <a:srgbClr val="334155"/>
            </a:solidFill>
            <a:prstDash val="solid"/>
          </a:ln>
        </p:spPr>
      </p:sp>
      <p:sp>
        <p:nvSpPr>
          <p:cNvPr id="3" name="Text 1"/>
          <p:cNvSpPr/>
          <p:nvPr/>
        </p:nvSpPr>
        <p:spPr>
          <a:xfrm>
            <a:off x="731520" y="320040"/>
            <a:ext cx="2011680" cy="256032"/>
          </a:xfrm>
          <a:prstGeom prst="rect">
            <a:avLst/>
          </a:prstGeom>
          <a:noFill/>
          <a:ln/>
        </p:spPr>
        <p:txBody>
          <a:bodyPr wrap="square" rtlCol="0" anchor="ctr"/>
          <a:lstStyle/>
          <a:p>
            <a:pPr algn="ctr" indent="0" marL="0">
              <a:buNone/>
            </a:pPr>
            <a:r>
              <a:rPr lang="en-US" sz="900" b="1" dirty="0">
                <a:solidFill>
                  <a:srgbClr val="F4B942"/>
                </a:solidFill>
                <a:latin typeface="Segoe UI" pitchFamily="34" charset="0"/>
                <a:ea typeface="Segoe UI" pitchFamily="34" charset="-122"/>
                <a:cs typeface="Segoe UI" pitchFamily="34" charset="-120"/>
              </a:rPr>
              <a:t>SECTION 5 • PAGE SCREENSHOTS (6/6)</a:t>
            </a:r>
            <a:endParaRPr lang="en-US" sz="900" dirty="0"/>
          </a:p>
        </p:txBody>
      </p:sp>
      <p:sp>
        <p:nvSpPr>
          <p:cNvPr id="4" name="Shape 2"/>
          <p:cNvSpPr/>
          <p:nvPr/>
        </p:nvSpPr>
        <p:spPr>
          <a:xfrm>
            <a:off x="9509760" y="320040"/>
            <a:ext cx="1920240" cy="256032"/>
          </a:xfrm>
          <a:prstGeom prst="roundRect">
            <a:avLst>
              <a:gd name="adj" fmla="val 50000"/>
            </a:avLst>
          </a:prstGeom>
          <a:solidFill>
            <a:srgbClr val="1E293B"/>
          </a:solidFill>
          <a:ln w="12700">
            <a:solidFill>
              <a:srgbClr val="334155"/>
            </a:solidFill>
            <a:prstDash val="solid"/>
          </a:ln>
        </p:spPr>
      </p:sp>
      <p:sp>
        <p:nvSpPr>
          <p:cNvPr id="5" name="Text 3"/>
          <p:cNvSpPr/>
          <p:nvPr/>
        </p:nvSpPr>
        <p:spPr>
          <a:xfrm>
            <a:off x="9509760" y="320040"/>
            <a:ext cx="1920240" cy="256032"/>
          </a:xfrm>
          <a:prstGeom prst="rect">
            <a:avLst/>
          </a:prstGeom>
          <a:noFill/>
          <a:ln/>
        </p:spPr>
        <p:txBody>
          <a:bodyPr wrap="square" rtlCol="0" anchor="ctr"/>
          <a:lstStyle/>
          <a:p>
            <a:pPr algn="ctr" indent="0" marL="0">
              <a:buNone/>
            </a:pPr>
            <a:r>
              <a:rPr lang="en-US" sz="850" b="1" dirty="0">
                <a:solidFill>
                  <a:srgbClr val="94A3B8"/>
                </a:solidFill>
                <a:latin typeface="Segoe UI" pitchFamily="34" charset="0"/>
                <a:ea typeface="Segoe UI" pitchFamily="34" charset="-122"/>
                <a:cs typeface="Segoe UI" pitchFamily="34" charset="-120"/>
              </a:rPr>
              <a:t>TAP ACADEMY EVALUATION</a:t>
            </a:r>
            <a:endParaRPr lang="en-US" sz="850" dirty="0"/>
          </a:p>
        </p:txBody>
      </p:sp>
      <p:sp>
        <p:nvSpPr>
          <p:cNvPr id="6" name="Text 4"/>
          <p:cNvSpPr/>
          <p:nvPr/>
        </p:nvSpPr>
        <p:spPr>
          <a:xfrm>
            <a:off x="731520" y="658368"/>
            <a:ext cx="10515600" cy="457200"/>
          </a:xfrm>
          <a:prstGeom prst="rect">
            <a:avLst/>
          </a:prstGeom>
          <a:noFill/>
          <a:ln/>
        </p:spPr>
        <p:txBody>
          <a:bodyPr wrap="square" rtlCol="0" anchor="t"/>
          <a:lstStyle/>
          <a:p>
            <a:pPr indent="0" marL="0">
              <a:buNone/>
            </a:pPr>
            <a:r>
              <a:rPr lang="en-US" sz="2200" b="1" dirty="0">
                <a:solidFill>
                  <a:srgbClr val="F8FAFC"/>
                </a:solidFill>
                <a:latin typeface="Segoe UI" pitchFamily="34" charset="0"/>
                <a:ea typeface="Segoe UI" pitchFamily="34" charset="-122"/>
                <a:cs typeface="Segoe UI" pitchFamily="34" charset="-120"/>
              </a:rPr>
              <a:t>Order History &amp; Real-Time Tracking (OrderHistory.jsp)</a:t>
            </a:r>
            <a:endParaRPr lang="en-US" sz="2200" dirty="0"/>
          </a:p>
        </p:txBody>
      </p:sp>
      <p:sp>
        <p:nvSpPr>
          <p:cNvPr id="7" name="Shape 5"/>
          <p:cNvSpPr/>
          <p:nvPr/>
        </p:nvSpPr>
        <p:spPr>
          <a:xfrm>
            <a:off x="731520" y="1143000"/>
            <a:ext cx="10698480" cy="0"/>
          </a:xfrm>
          <a:prstGeom prst="line">
            <a:avLst/>
          </a:prstGeom>
          <a:noFill/>
          <a:ln w="19050">
            <a:solidFill>
              <a:srgbClr val="1E293B"/>
            </a:solidFill>
            <a:prstDash val="solid"/>
          </a:ln>
        </p:spPr>
      </p:sp>
      <p:pic>
        <p:nvPicPr>
          <p:cNvPr id="8" name="Image 0" descr="C:\Users\Asus\eclipse-workspace\FoodHouse\FoodHouse_Presentation_Assets\06_order_history_tracking_page.png">    </p:cNvPr>
          <p:cNvPicPr>
            <a:picLocks noChangeAspect="1"/>
          </p:cNvPicPr>
          <p:nvPr/>
        </p:nvPicPr>
        <p:blipFill>
          <a:blip r:embed="rId1"/>
          <a:stretch>
            <a:fillRect/>
          </a:stretch>
        </p:blipFill>
        <p:spPr>
          <a:xfrm>
            <a:off x="731520" y="1371600"/>
            <a:ext cx="7772400" cy="4663440"/>
          </a:xfrm>
          <a:prstGeom prst="rect">
            <a:avLst/>
          </a:prstGeom>
        </p:spPr>
      </p:pic>
      <p:sp>
        <p:nvSpPr>
          <p:cNvPr id="9" name="Shape 6"/>
          <p:cNvSpPr/>
          <p:nvPr/>
        </p:nvSpPr>
        <p:spPr>
          <a:xfrm>
            <a:off x="8686800" y="1371600"/>
            <a:ext cx="2743200" cy="4663440"/>
          </a:xfrm>
          <a:prstGeom prst="roundRect">
            <a:avLst>
              <a:gd name="adj" fmla="val 4000"/>
            </a:avLst>
          </a:prstGeom>
          <a:solidFill>
            <a:srgbClr val="111827"/>
          </a:solidFill>
          <a:ln w="12700">
            <a:solidFill>
              <a:srgbClr val="1E293B"/>
            </a:solidFill>
            <a:prstDash val="solid"/>
          </a:ln>
        </p:spPr>
      </p:sp>
      <p:sp>
        <p:nvSpPr>
          <p:cNvPr id="10" name="Text 7"/>
          <p:cNvSpPr/>
          <p:nvPr/>
        </p:nvSpPr>
        <p:spPr>
          <a:xfrm>
            <a:off x="8869680" y="1645920"/>
            <a:ext cx="2377440" cy="274320"/>
          </a:xfrm>
          <a:prstGeom prst="rect">
            <a:avLst/>
          </a:prstGeom>
          <a:noFill/>
          <a:ln/>
        </p:spPr>
        <p:txBody>
          <a:bodyPr wrap="square" rtlCol="0" anchor="ctr"/>
          <a:lstStyle/>
          <a:p>
            <a:pPr indent="0" marL="0">
              <a:buNone/>
            </a:pPr>
            <a:r>
              <a:rPr lang="en-US" sz="1400" b="1" dirty="0">
                <a:solidFill>
                  <a:srgbClr val="F4B942"/>
                </a:solidFill>
                <a:latin typeface="Segoe UI" pitchFamily="34" charset="0"/>
                <a:ea typeface="Segoe UI" pitchFamily="34" charset="-122"/>
                <a:cs typeface="Segoe UI" pitchFamily="34" charset="-120"/>
              </a:rPr>
              <a:t>Live Order Tracking</a:t>
            </a:r>
            <a:endParaRPr lang="en-US" sz="1400" dirty="0"/>
          </a:p>
        </p:txBody>
      </p:sp>
      <p:sp>
        <p:nvSpPr>
          <p:cNvPr id="11" name="Text 8"/>
          <p:cNvSpPr/>
          <p:nvPr/>
        </p:nvSpPr>
        <p:spPr>
          <a:xfrm>
            <a:off x="8869680" y="2011680"/>
            <a:ext cx="2377440" cy="685800"/>
          </a:xfrm>
          <a:prstGeom prst="rect">
            <a:avLst/>
          </a:prstGeom>
          <a:noFill/>
          <a:ln/>
        </p:spPr>
        <p:txBody>
          <a:bodyPr wrap="square" rtlCol="0" anchor="ctr"/>
          <a:lstStyle/>
          <a:p>
            <a:pPr indent="0" marL="0">
              <a:lnSpc>
                <a:spcPts val="1600"/>
              </a:lnSpc>
              <a:buNone/>
            </a:pPr>
            <a:r>
              <a:rPr lang="en-US" sz="1100" dirty="0">
                <a:solidFill>
                  <a:srgbClr val="F8FAFC"/>
                </a:solidFill>
                <a:latin typeface="Segoe UI" pitchFamily="34" charset="0"/>
                <a:ea typeface="Segoe UI" pitchFamily="34" charset="-122"/>
                <a:cs typeface="Segoe UI" pitchFamily="34" charset="-120"/>
              </a:rPr>
              <a:t>• Real-time Order History listing all past and active customer orders.</a:t>
            </a:r>
            <a:endParaRPr lang="en-US" sz="1100" dirty="0"/>
          </a:p>
        </p:txBody>
      </p:sp>
      <p:sp>
        <p:nvSpPr>
          <p:cNvPr id="12" name="Text 9"/>
          <p:cNvSpPr/>
          <p:nvPr/>
        </p:nvSpPr>
        <p:spPr>
          <a:xfrm>
            <a:off x="8869680" y="2788920"/>
            <a:ext cx="2377440" cy="685800"/>
          </a:xfrm>
          <a:prstGeom prst="rect">
            <a:avLst/>
          </a:prstGeom>
          <a:noFill/>
          <a:ln/>
        </p:spPr>
        <p:txBody>
          <a:bodyPr wrap="square" rtlCol="0" anchor="ctr"/>
          <a:lstStyle/>
          <a:p>
            <a:pPr indent="0" marL="0">
              <a:lnSpc>
                <a:spcPts val="1600"/>
              </a:lnSpc>
              <a:buNone/>
            </a:pPr>
            <a:r>
              <a:rPr lang="en-US" sz="1100" dirty="0">
                <a:solidFill>
                  <a:srgbClr val="F8FAFC"/>
                </a:solidFill>
                <a:latin typeface="Segoe UI" pitchFamily="34" charset="0"/>
                <a:ea typeface="Segoe UI" pitchFamily="34" charset="-122"/>
                <a:cs typeface="Segoe UI" pitchFamily="34" charset="-120"/>
              </a:rPr>
              <a:t>• Dynamic 5-stage status badge (Confirmed → Accepted → Ready → On Way → Delivered).</a:t>
            </a:r>
            <a:endParaRPr lang="en-US" sz="1100" dirty="0"/>
          </a:p>
        </p:txBody>
      </p:sp>
      <p:sp>
        <p:nvSpPr>
          <p:cNvPr id="13" name="Text 10"/>
          <p:cNvSpPr/>
          <p:nvPr/>
        </p:nvSpPr>
        <p:spPr>
          <a:xfrm>
            <a:off x="8869680" y="3566160"/>
            <a:ext cx="2377440" cy="685800"/>
          </a:xfrm>
          <a:prstGeom prst="rect">
            <a:avLst/>
          </a:prstGeom>
          <a:noFill/>
          <a:ln/>
        </p:spPr>
        <p:txBody>
          <a:bodyPr wrap="square" rtlCol="0" anchor="ctr"/>
          <a:lstStyle/>
          <a:p>
            <a:pPr indent="0" marL="0">
              <a:lnSpc>
                <a:spcPts val="1600"/>
              </a:lnSpc>
              <a:buNone/>
            </a:pPr>
            <a:r>
              <a:rPr lang="en-US" sz="1100" dirty="0">
                <a:solidFill>
                  <a:srgbClr val="F8FAFC"/>
                </a:solidFill>
                <a:latin typeface="Segoe UI" pitchFamily="34" charset="0"/>
                <a:ea typeface="Segoe UI" pitchFamily="34" charset="-122"/>
                <a:cs typeface="Segoe UI" pitchFamily="34" charset="-120"/>
              </a:rPr>
              <a:t>• Powered by OrderLifecycleManager Finite State Machine.</a:t>
            </a:r>
            <a:endParaRPr lang="en-US" sz="1100" dirty="0"/>
          </a:p>
        </p:txBody>
      </p:sp>
      <p:sp>
        <p:nvSpPr>
          <p:cNvPr id="14" name="Text 11"/>
          <p:cNvSpPr/>
          <p:nvPr/>
        </p:nvSpPr>
        <p:spPr>
          <a:xfrm>
            <a:off x="8869680" y="4343400"/>
            <a:ext cx="2377440" cy="685800"/>
          </a:xfrm>
          <a:prstGeom prst="rect">
            <a:avLst/>
          </a:prstGeom>
          <a:noFill/>
          <a:ln/>
        </p:spPr>
        <p:txBody>
          <a:bodyPr wrap="square" rtlCol="0" anchor="ctr"/>
          <a:lstStyle/>
          <a:p>
            <a:pPr indent="0" marL="0">
              <a:lnSpc>
                <a:spcPts val="1600"/>
              </a:lnSpc>
              <a:buNone/>
            </a:pPr>
            <a:r>
              <a:rPr lang="en-US" sz="1100" dirty="0">
                <a:solidFill>
                  <a:srgbClr val="F8FAFC"/>
                </a:solidFill>
                <a:latin typeface="Segoe UI" pitchFamily="34" charset="0"/>
                <a:ea typeface="Segoe UI" pitchFamily="34" charset="-122"/>
                <a:cs typeface="Segoe UI" pitchFamily="34" charset="-120"/>
              </a:rPr>
              <a:t>• Itemized dish recap with exact order timestamp and transaction ID.</a:t>
            </a:r>
            <a:endParaRPr lang="en-US" sz="1100" dirty="0"/>
          </a:p>
        </p:txBody>
      </p:sp>
      <p:sp>
        <p:nvSpPr>
          <p:cNvPr id="15" name="Text 12"/>
          <p:cNvSpPr/>
          <p:nvPr/>
        </p:nvSpPr>
        <p:spPr>
          <a:xfrm>
            <a:off x="8869680" y="5120640"/>
            <a:ext cx="2377440" cy="685800"/>
          </a:xfrm>
          <a:prstGeom prst="rect">
            <a:avLst/>
          </a:prstGeom>
          <a:noFill/>
          <a:ln/>
        </p:spPr>
        <p:txBody>
          <a:bodyPr wrap="square" rtlCol="0" anchor="ctr"/>
          <a:lstStyle/>
          <a:p>
            <a:pPr indent="0" marL="0">
              <a:lnSpc>
                <a:spcPts val="1600"/>
              </a:lnSpc>
              <a:buNone/>
            </a:pPr>
            <a:r>
              <a:rPr lang="en-US" sz="1100" dirty="0">
                <a:solidFill>
                  <a:srgbClr val="F8FAFC"/>
                </a:solidFill>
                <a:latin typeface="Segoe UI" pitchFamily="34" charset="0"/>
                <a:ea typeface="Segoe UI" pitchFamily="34" charset="-122"/>
                <a:cs typeface="Segoe UI" pitchFamily="34" charset="-120"/>
              </a:rPr>
              <a:t>• Instant "Reorder" capability to streamline repeat dining.</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731520" y="320040"/>
            <a:ext cx="2011680" cy="256032"/>
          </a:xfrm>
          <a:prstGeom prst="roundRect">
            <a:avLst>
              <a:gd name="adj" fmla="val 50000"/>
            </a:avLst>
          </a:prstGeom>
          <a:solidFill>
            <a:srgbClr val="1E293B"/>
          </a:solidFill>
          <a:ln w="12700">
            <a:solidFill>
              <a:srgbClr val="334155"/>
            </a:solidFill>
            <a:prstDash val="solid"/>
          </a:ln>
        </p:spPr>
      </p:sp>
      <p:sp>
        <p:nvSpPr>
          <p:cNvPr id="3" name="Text 1"/>
          <p:cNvSpPr/>
          <p:nvPr/>
        </p:nvSpPr>
        <p:spPr>
          <a:xfrm>
            <a:off x="731520" y="320040"/>
            <a:ext cx="2011680" cy="256032"/>
          </a:xfrm>
          <a:prstGeom prst="rect">
            <a:avLst/>
          </a:prstGeom>
          <a:noFill/>
          <a:ln/>
        </p:spPr>
        <p:txBody>
          <a:bodyPr wrap="square" rtlCol="0" anchor="ctr"/>
          <a:lstStyle/>
          <a:p>
            <a:pPr algn="ctr" indent="0" marL="0">
              <a:buNone/>
            </a:pPr>
            <a:r>
              <a:rPr lang="en-US" sz="900" b="1" dirty="0">
                <a:solidFill>
                  <a:srgbClr val="F4B942"/>
                </a:solidFill>
                <a:latin typeface="Segoe UI" pitchFamily="34" charset="0"/>
                <a:ea typeface="Segoe UI" pitchFamily="34" charset="-122"/>
                <a:cs typeface="Segoe UI" pitchFamily="34" charset="-120"/>
              </a:rPr>
              <a:t>SECTION 6 • NEW FEATURES ADDED</a:t>
            </a:r>
            <a:endParaRPr lang="en-US" sz="900" dirty="0"/>
          </a:p>
        </p:txBody>
      </p:sp>
      <p:sp>
        <p:nvSpPr>
          <p:cNvPr id="4" name="Shape 2"/>
          <p:cNvSpPr/>
          <p:nvPr/>
        </p:nvSpPr>
        <p:spPr>
          <a:xfrm>
            <a:off x="9509760" y="320040"/>
            <a:ext cx="1920240" cy="256032"/>
          </a:xfrm>
          <a:prstGeom prst="roundRect">
            <a:avLst>
              <a:gd name="adj" fmla="val 50000"/>
            </a:avLst>
          </a:prstGeom>
          <a:solidFill>
            <a:srgbClr val="1E293B"/>
          </a:solidFill>
          <a:ln w="12700">
            <a:solidFill>
              <a:srgbClr val="334155"/>
            </a:solidFill>
            <a:prstDash val="solid"/>
          </a:ln>
        </p:spPr>
      </p:sp>
      <p:sp>
        <p:nvSpPr>
          <p:cNvPr id="5" name="Text 3"/>
          <p:cNvSpPr/>
          <p:nvPr/>
        </p:nvSpPr>
        <p:spPr>
          <a:xfrm>
            <a:off x="9509760" y="320040"/>
            <a:ext cx="1920240" cy="256032"/>
          </a:xfrm>
          <a:prstGeom prst="rect">
            <a:avLst/>
          </a:prstGeom>
          <a:noFill/>
          <a:ln/>
        </p:spPr>
        <p:txBody>
          <a:bodyPr wrap="square" rtlCol="0" anchor="ctr"/>
          <a:lstStyle/>
          <a:p>
            <a:pPr algn="ctr" indent="0" marL="0">
              <a:buNone/>
            </a:pPr>
            <a:r>
              <a:rPr lang="en-US" sz="850" b="1" dirty="0">
                <a:solidFill>
                  <a:srgbClr val="94A3B8"/>
                </a:solidFill>
                <a:latin typeface="Segoe UI" pitchFamily="34" charset="0"/>
                <a:ea typeface="Segoe UI" pitchFamily="34" charset="-122"/>
                <a:cs typeface="Segoe UI" pitchFamily="34" charset="-120"/>
              </a:rPr>
              <a:t>TAP ACADEMY EVALUATION</a:t>
            </a:r>
            <a:endParaRPr lang="en-US" sz="850" dirty="0"/>
          </a:p>
        </p:txBody>
      </p:sp>
      <p:sp>
        <p:nvSpPr>
          <p:cNvPr id="6" name="Text 4"/>
          <p:cNvSpPr/>
          <p:nvPr/>
        </p:nvSpPr>
        <p:spPr>
          <a:xfrm>
            <a:off x="731520" y="658368"/>
            <a:ext cx="10515600" cy="457200"/>
          </a:xfrm>
          <a:prstGeom prst="rect">
            <a:avLst/>
          </a:prstGeom>
          <a:noFill/>
          <a:ln/>
        </p:spPr>
        <p:txBody>
          <a:bodyPr wrap="square" rtlCol="0" anchor="t"/>
          <a:lstStyle/>
          <a:p>
            <a:pPr indent="0" marL="0">
              <a:buNone/>
            </a:pPr>
            <a:r>
              <a:rPr lang="en-US" sz="2200" b="1" dirty="0">
                <a:solidFill>
                  <a:srgbClr val="F8FAFC"/>
                </a:solidFill>
                <a:latin typeface="Segoe UI" pitchFamily="34" charset="0"/>
                <a:ea typeface="Segoe UI" pitchFamily="34" charset="-122"/>
                <a:cs typeface="Segoe UI" pitchFamily="34" charset="-120"/>
              </a:rPr>
              <a:t>Key Architectural Innovations Beyond Base TAP Project Requirements</a:t>
            </a:r>
            <a:endParaRPr lang="en-US" sz="2200" dirty="0"/>
          </a:p>
        </p:txBody>
      </p:sp>
      <p:sp>
        <p:nvSpPr>
          <p:cNvPr id="7" name="Shape 5"/>
          <p:cNvSpPr/>
          <p:nvPr/>
        </p:nvSpPr>
        <p:spPr>
          <a:xfrm>
            <a:off x="731520" y="1143000"/>
            <a:ext cx="10698480" cy="0"/>
          </a:xfrm>
          <a:prstGeom prst="line">
            <a:avLst/>
          </a:prstGeom>
          <a:noFill/>
          <a:ln w="19050">
            <a:solidFill>
              <a:srgbClr val="1E293B"/>
            </a:solidFill>
            <a:prstDash val="solid"/>
          </a:ln>
        </p:spPr>
      </p:sp>
      <p:sp>
        <p:nvSpPr>
          <p:cNvPr id="8" name="Shape 6"/>
          <p:cNvSpPr/>
          <p:nvPr/>
        </p:nvSpPr>
        <p:spPr>
          <a:xfrm>
            <a:off x="731520" y="1463040"/>
            <a:ext cx="5257800" cy="2103120"/>
          </a:xfrm>
          <a:prstGeom prst="roundRect">
            <a:avLst>
              <a:gd name="adj" fmla="val 5217"/>
            </a:avLst>
          </a:prstGeom>
          <a:solidFill>
            <a:srgbClr val="111827"/>
          </a:solidFill>
          <a:ln w="12700">
            <a:solidFill>
              <a:srgbClr val="1E293B"/>
            </a:solidFill>
            <a:prstDash val="solid"/>
          </a:ln>
        </p:spPr>
      </p:sp>
      <p:sp>
        <p:nvSpPr>
          <p:cNvPr id="9" name="Shape 7"/>
          <p:cNvSpPr/>
          <p:nvPr/>
        </p:nvSpPr>
        <p:spPr>
          <a:xfrm>
            <a:off x="1005840" y="1691640"/>
            <a:ext cx="2011680" cy="237744"/>
          </a:xfrm>
          <a:prstGeom prst="roundRect">
            <a:avLst>
              <a:gd name="adj" fmla="val 50000"/>
            </a:avLst>
          </a:prstGeom>
          <a:solidFill>
            <a:srgbClr val="1E293B"/>
          </a:solidFill>
          <a:ln w="12700">
            <a:solidFill>
              <a:srgbClr val="FF6B35"/>
            </a:solidFill>
            <a:prstDash val="solid"/>
          </a:ln>
        </p:spPr>
      </p:sp>
      <p:sp>
        <p:nvSpPr>
          <p:cNvPr id="10" name="Text 8"/>
          <p:cNvSpPr/>
          <p:nvPr/>
        </p:nvSpPr>
        <p:spPr>
          <a:xfrm>
            <a:off x="1005840" y="1691640"/>
            <a:ext cx="2011680" cy="237744"/>
          </a:xfrm>
          <a:prstGeom prst="rect">
            <a:avLst/>
          </a:prstGeom>
          <a:noFill/>
          <a:ln/>
        </p:spPr>
        <p:txBody>
          <a:bodyPr wrap="square" rtlCol="0" anchor="ctr"/>
          <a:lstStyle/>
          <a:p>
            <a:pPr algn="ctr" indent="0" marL="0">
              <a:buNone/>
            </a:pPr>
            <a:r>
              <a:rPr lang="en-US" sz="850" b="1" dirty="0">
                <a:solidFill>
                  <a:srgbClr val="FF6B35"/>
                </a:solidFill>
                <a:latin typeface="Segoe UI" pitchFamily="34" charset="0"/>
                <a:ea typeface="Segoe UI" pitchFamily="34" charset="-122"/>
                <a:cs typeface="Segoe UI" pitchFamily="34" charset="-120"/>
              </a:rPr>
              <a:t>BACKEND ALGORITHM</a:t>
            </a:r>
            <a:endParaRPr lang="en-US" sz="850" dirty="0"/>
          </a:p>
        </p:txBody>
      </p:sp>
      <p:sp>
        <p:nvSpPr>
          <p:cNvPr id="11" name="Text 9"/>
          <p:cNvSpPr/>
          <p:nvPr/>
        </p:nvSpPr>
        <p:spPr>
          <a:xfrm>
            <a:off x="3200400" y="1691640"/>
            <a:ext cx="2560320" cy="274320"/>
          </a:xfrm>
          <a:prstGeom prst="rect">
            <a:avLst/>
          </a:prstGeom>
          <a:noFill/>
          <a:ln/>
        </p:spPr>
        <p:txBody>
          <a:bodyPr wrap="square" rtlCol="0" anchor="ctr"/>
          <a:lstStyle/>
          <a:p>
            <a:pPr indent="0" marL="0">
              <a:buNone/>
            </a:pPr>
            <a:r>
              <a:rPr lang="en-US" sz="1500" b="1" dirty="0">
                <a:solidFill>
                  <a:srgbClr val="F8FAFC"/>
                </a:solidFill>
                <a:latin typeface="Segoe UI" pitchFamily="34" charset="0"/>
                <a:ea typeface="Segoe UI" pitchFamily="34" charset="-122"/>
                <a:cs typeface="Segoe UI" pitchFamily="34" charset="-120"/>
              </a:rPr>
              <a:t>Order Lifecycle State Machine</a:t>
            </a:r>
            <a:endParaRPr lang="en-US" sz="1500" dirty="0"/>
          </a:p>
        </p:txBody>
      </p:sp>
      <p:sp>
        <p:nvSpPr>
          <p:cNvPr id="12" name="Text 10"/>
          <p:cNvSpPr/>
          <p:nvPr/>
        </p:nvSpPr>
        <p:spPr>
          <a:xfrm>
            <a:off x="1005840" y="2057400"/>
            <a:ext cx="4709160" cy="685800"/>
          </a:xfrm>
          <a:prstGeom prst="rect">
            <a:avLst/>
          </a:prstGeom>
          <a:noFill/>
          <a:ln/>
        </p:spPr>
        <p:txBody>
          <a:bodyPr wrap="square" rtlCol="0" anchor="ctr"/>
          <a:lstStyle/>
          <a:p>
            <a:pPr indent="0" marL="0">
              <a:lnSpc>
                <a:spcPts val="1700"/>
              </a:lnSpc>
              <a:buNone/>
            </a:pPr>
            <a:r>
              <a:rPr lang="en-US" sz="1150" dirty="0">
                <a:solidFill>
                  <a:srgbClr val="F8FAFC"/>
                </a:solidFill>
                <a:latin typeface="Segoe UI" pitchFamily="34" charset="0"/>
                <a:ea typeface="Segoe UI" pitchFamily="34" charset="-122"/>
                <a:cs typeface="Segoe UI" pitchFamily="34" charset="-120"/>
              </a:rPr>
              <a:t>What it does: Built OrderLifecycleManager.java to manage deterministic, forward-only status progression (Confirmed → Delivered).</a:t>
            </a:r>
            <a:endParaRPr lang="en-US" sz="1150" dirty="0"/>
          </a:p>
        </p:txBody>
      </p:sp>
      <p:sp>
        <p:nvSpPr>
          <p:cNvPr id="13" name="Text 11"/>
          <p:cNvSpPr/>
          <p:nvPr/>
        </p:nvSpPr>
        <p:spPr>
          <a:xfrm>
            <a:off x="1005840" y="2788920"/>
            <a:ext cx="4709160" cy="594360"/>
          </a:xfrm>
          <a:prstGeom prst="rect">
            <a:avLst/>
          </a:prstGeom>
          <a:noFill/>
          <a:ln/>
        </p:spPr>
        <p:txBody>
          <a:bodyPr wrap="square" rtlCol="0" anchor="ctr"/>
          <a:lstStyle/>
          <a:p>
            <a:pPr indent="0" marL="0">
              <a:lnSpc>
                <a:spcPts val="1700"/>
              </a:lnSpc>
              <a:buNone/>
            </a:pPr>
            <a:r>
              <a:rPr lang="en-US" sz="1150" dirty="0">
                <a:solidFill>
                  <a:srgbClr val="F4B942"/>
                </a:solidFill>
                <a:latin typeface="Segoe UI" pitchFamily="34" charset="0"/>
                <a:ea typeface="Segoe UI" pitchFamily="34" charset="-122"/>
                <a:cs typeface="Segoe UI" pitchFamily="34" charset="-120"/>
              </a:rPr>
              <a:t>Why it matters: Eliminates static status values and models real-world kitchen preparation and fleet delivery tracking.</a:t>
            </a:r>
            <a:endParaRPr lang="en-US" sz="1150" dirty="0"/>
          </a:p>
        </p:txBody>
      </p:sp>
      <p:sp>
        <p:nvSpPr>
          <p:cNvPr id="14" name="Shape 12"/>
          <p:cNvSpPr/>
          <p:nvPr/>
        </p:nvSpPr>
        <p:spPr>
          <a:xfrm>
            <a:off x="6172200" y="1463040"/>
            <a:ext cx="5257800" cy="2103120"/>
          </a:xfrm>
          <a:prstGeom prst="roundRect">
            <a:avLst>
              <a:gd name="adj" fmla="val 5217"/>
            </a:avLst>
          </a:prstGeom>
          <a:solidFill>
            <a:srgbClr val="111827"/>
          </a:solidFill>
          <a:ln w="12700">
            <a:solidFill>
              <a:srgbClr val="1E293B"/>
            </a:solidFill>
            <a:prstDash val="solid"/>
          </a:ln>
        </p:spPr>
      </p:sp>
      <p:sp>
        <p:nvSpPr>
          <p:cNvPr id="15" name="Shape 13"/>
          <p:cNvSpPr/>
          <p:nvPr/>
        </p:nvSpPr>
        <p:spPr>
          <a:xfrm>
            <a:off x="6446520" y="1691640"/>
            <a:ext cx="2011680" cy="237744"/>
          </a:xfrm>
          <a:prstGeom prst="roundRect">
            <a:avLst>
              <a:gd name="adj" fmla="val 50000"/>
            </a:avLst>
          </a:prstGeom>
          <a:solidFill>
            <a:srgbClr val="1E293B"/>
          </a:solidFill>
          <a:ln w="12700">
            <a:solidFill>
              <a:srgbClr val="10B981"/>
            </a:solidFill>
            <a:prstDash val="solid"/>
          </a:ln>
        </p:spPr>
      </p:sp>
      <p:sp>
        <p:nvSpPr>
          <p:cNvPr id="16" name="Text 14"/>
          <p:cNvSpPr/>
          <p:nvPr/>
        </p:nvSpPr>
        <p:spPr>
          <a:xfrm>
            <a:off x="6446520" y="1691640"/>
            <a:ext cx="2011680" cy="237744"/>
          </a:xfrm>
          <a:prstGeom prst="rect">
            <a:avLst/>
          </a:prstGeom>
          <a:noFill/>
          <a:ln/>
        </p:spPr>
        <p:txBody>
          <a:bodyPr wrap="square" rtlCol="0" anchor="ctr"/>
          <a:lstStyle/>
          <a:p>
            <a:pPr algn="ctr" indent="0" marL="0">
              <a:buNone/>
            </a:pPr>
            <a:r>
              <a:rPr lang="en-US" sz="850" b="1" dirty="0">
                <a:solidFill>
                  <a:srgbClr val="10B981"/>
                </a:solidFill>
                <a:latin typeface="Segoe UI" pitchFamily="34" charset="0"/>
                <a:ea typeface="Segoe UI" pitchFamily="34" charset="-122"/>
                <a:cs typeface="Segoe UI" pitchFamily="34" charset="-120"/>
              </a:rPr>
              <a:t>SECURITY UPGRADE</a:t>
            </a:r>
            <a:endParaRPr lang="en-US" sz="850" dirty="0"/>
          </a:p>
        </p:txBody>
      </p:sp>
      <p:sp>
        <p:nvSpPr>
          <p:cNvPr id="17" name="Text 15"/>
          <p:cNvSpPr/>
          <p:nvPr/>
        </p:nvSpPr>
        <p:spPr>
          <a:xfrm>
            <a:off x="8641080" y="1691640"/>
            <a:ext cx="2560320" cy="274320"/>
          </a:xfrm>
          <a:prstGeom prst="rect">
            <a:avLst/>
          </a:prstGeom>
          <a:noFill/>
          <a:ln/>
        </p:spPr>
        <p:txBody>
          <a:bodyPr wrap="square" rtlCol="0" anchor="ctr"/>
          <a:lstStyle/>
          <a:p>
            <a:pPr indent="0" marL="0">
              <a:buNone/>
            </a:pPr>
            <a:r>
              <a:rPr lang="en-US" sz="1500" b="1" dirty="0">
                <a:solidFill>
                  <a:srgbClr val="F8FAFC"/>
                </a:solidFill>
                <a:latin typeface="Segoe UI" pitchFamily="34" charset="0"/>
                <a:ea typeface="Segoe UI" pitchFamily="34" charset="-122"/>
                <a:cs typeface="Segoe UI" pitchFamily="34" charset="-120"/>
              </a:rPr>
              <a:t>BCrypt Security Hardening</a:t>
            </a:r>
            <a:endParaRPr lang="en-US" sz="1500" dirty="0"/>
          </a:p>
        </p:txBody>
      </p:sp>
      <p:sp>
        <p:nvSpPr>
          <p:cNvPr id="18" name="Text 16"/>
          <p:cNvSpPr/>
          <p:nvPr/>
        </p:nvSpPr>
        <p:spPr>
          <a:xfrm>
            <a:off x="6446520" y="2057400"/>
            <a:ext cx="4709160" cy="685800"/>
          </a:xfrm>
          <a:prstGeom prst="rect">
            <a:avLst/>
          </a:prstGeom>
          <a:noFill/>
          <a:ln/>
        </p:spPr>
        <p:txBody>
          <a:bodyPr wrap="square" rtlCol="0" anchor="ctr"/>
          <a:lstStyle/>
          <a:p>
            <a:pPr indent="0" marL="0">
              <a:lnSpc>
                <a:spcPts val="1700"/>
              </a:lnSpc>
              <a:buNone/>
            </a:pPr>
            <a:r>
              <a:rPr lang="en-US" sz="1150" dirty="0">
                <a:solidFill>
                  <a:srgbClr val="F8FAFC"/>
                </a:solidFill>
                <a:latin typeface="Segoe UI" pitchFamily="34" charset="0"/>
                <a:ea typeface="Segoe UI" pitchFamily="34" charset="-122"/>
                <a:cs typeface="Segoe UI" pitchFamily="34" charset="-120"/>
              </a:rPr>
              <a:t>What it does: Replaced plain-text password storage with salted jBCrypt hashing and automated migration utility.</a:t>
            </a:r>
            <a:endParaRPr lang="en-US" sz="1150" dirty="0"/>
          </a:p>
        </p:txBody>
      </p:sp>
      <p:sp>
        <p:nvSpPr>
          <p:cNvPr id="19" name="Text 17"/>
          <p:cNvSpPr/>
          <p:nvPr/>
        </p:nvSpPr>
        <p:spPr>
          <a:xfrm>
            <a:off x="6446520" y="2788920"/>
            <a:ext cx="4709160" cy="594360"/>
          </a:xfrm>
          <a:prstGeom prst="rect">
            <a:avLst/>
          </a:prstGeom>
          <a:noFill/>
          <a:ln/>
        </p:spPr>
        <p:txBody>
          <a:bodyPr wrap="square" rtlCol="0" anchor="ctr"/>
          <a:lstStyle/>
          <a:p>
            <a:pPr indent="0" marL="0">
              <a:lnSpc>
                <a:spcPts val="1700"/>
              </a:lnSpc>
              <a:buNone/>
            </a:pPr>
            <a:r>
              <a:rPr lang="en-US" sz="1150" dirty="0">
                <a:solidFill>
                  <a:srgbClr val="F4B942"/>
                </a:solidFill>
                <a:latin typeface="Segoe UI" pitchFamily="34" charset="0"/>
                <a:ea typeface="Segoe UI" pitchFamily="34" charset="-122"/>
                <a:cs typeface="Segoe UI" pitchFamily="34" charset="-120"/>
              </a:rPr>
              <a:t>Why it matters: Guarantees enterprise protection against database breach vulnerabilities and protects user credentials.</a:t>
            </a:r>
            <a:endParaRPr lang="en-US" sz="1150" dirty="0"/>
          </a:p>
        </p:txBody>
      </p:sp>
      <p:sp>
        <p:nvSpPr>
          <p:cNvPr id="20" name="Shape 18"/>
          <p:cNvSpPr/>
          <p:nvPr/>
        </p:nvSpPr>
        <p:spPr>
          <a:xfrm>
            <a:off x="731520" y="3749040"/>
            <a:ext cx="5257800" cy="2103120"/>
          </a:xfrm>
          <a:prstGeom prst="roundRect">
            <a:avLst>
              <a:gd name="adj" fmla="val 5217"/>
            </a:avLst>
          </a:prstGeom>
          <a:solidFill>
            <a:srgbClr val="111827"/>
          </a:solidFill>
          <a:ln w="12700">
            <a:solidFill>
              <a:srgbClr val="1E293B"/>
            </a:solidFill>
            <a:prstDash val="solid"/>
          </a:ln>
        </p:spPr>
      </p:sp>
      <p:sp>
        <p:nvSpPr>
          <p:cNvPr id="21" name="Shape 19"/>
          <p:cNvSpPr/>
          <p:nvPr/>
        </p:nvSpPr>
        <p:spPr>
          <a:xfrm>
            <a:off x="1005840" y="3977640"/>
            <a:ext cx="2011680" cy="237744"/>
          </a:xfrm>
          <a:prstGeom prst="roundRect">
            <a:avLst>
              <a:gd name="adj" fmla="val 50000"/>
            </a:avLst>
          </a:prstGeom>
          <a:solidFill>
            <a:srgbClr val="1E293B"/>
          </a:solidFill>
          <a:ln w="12700">
            <a:solidFill>
              <a:srgbClr val="38BDF8"/>
            </a:solidFill>
            <a:prstDash val="solid"/>
          </a:ln>
        </p:spPr>
      </p:sp>
      <p:sp>
        <p:nvSpPr>
          <p:cNvPr id="22" name="Text 20"/>
          <p:cNvSpPr/>
          <p:nvPr/>
        </p:nvSpPr>
        <p:spPr>
          <a:xfrm>
            <a:off x="1005840" y="3977640"/>
            <a:ext cx="2011680" cy="237744"/>
          </a:xfrm>
          <a:prstGeom prst="rect">
            <a:avLst/>
          </a:prstGeom>
          <a:noFill/>
          <a:ln/>
        </p:spPr>
        <p:txBody>
          <a:bodyPr wrap="square" rtlCol="0" anchor="ctr"/>
          <a:lstStyle/>
          <a:p>
            <a:pPr algn="ctr" indent="0" marL="0">
              <a:buNone/>
            </a:pPr>
            <a:r>
              <a:rPr lang="en-US" sz="850" b="1" dirty="0">
                <a:solidFill>
                  <a:srgbClr val="38BDF8"/>
                </a:solidFill>
                <a:latin typeface="Segoe UI" pitchFamily="34" charset="0"/>
                <a:ea typeface="Segoe UI" pitchFamily="34" charset="-122"/>
                <a:cs typeface="Segoe UI" pitchFamily="34" charset="-120"/>
              </a:rPr>
              <a:t>FRONTEND INNOVATION</a:t>
            </a:r>
            <a:endParaRPr lang="en-US" sz="850" dirty="0"/>
          </a:p>
        </p:txBody>
      </p:sp>
      <p:sp>
        <p:nvSpPr>
          <p:cNvPr id="23" name="Text 21"/>
          <p:cNvSpPr/>
          <p:nvPr/>
        </p:nvSpPr>
        <p:spPr>
          <a:xfrm>
            <a:off x="3200400" y="3977640"/>
            <a:ext cx="2560320" cy="274320"/>
          </a:xfrm>
          <a:prstGeom prst="rect">
            <a:avLst/>
          </a:prstGeom>
          <a:noFill/>
          <a:ln/>
        </p:spPr>
        <p:txBody>
          <a:bodyPr wrap="square" rtlCol="0" anchor="ctr"/>
          <a:lstStyle/>
          <a:p>
            <a:pPr indent="0" marL="0">
              <a:buNone/>
            </a:pPr>
            <a:r>
              <a:rPr lang="en-US" sz="1500" b="1" dirty="0">
                <a:solidFill>
                  <a:srgbClr val="F8FAFC"/>
                </a:solidFill>
                <a:latin typeface="Segoe UI" pitchFamily="34" charset="0"/>
                <a:ea typeface="Segoe UI" pitchFamily="34" charset="-122"/>
                <a:cs typeface="Segoe UI" pitchFamily="34" charset="-120"/>
              </a:rPr>
              <a:t>Zero-Jump Dynamic Menu UX</a:t>
            </a:r>
            <a:endParaRPr lang="en-US" sz="1500" dirty="0"/>
          </a:p>
        </p:txBody>
      </p:sp>
      <p:sp>
        <p:nvSpPr>
          <p:cNvPr id="24" name="Text 22"/>
          <p:cNvSpPr/>
          <p:nvPr/>
        </p:nvSpPr>
        <p:spPr>
          <a:xfrm>
            <a:off x="1005840" y="4343400"/>
            <a:ext cx="4709160" cy="685800"/>
          </a:xfrm>
          <a:prstGeom prst="rect">
            <a:avLst/>
          </a:prstGeom>
          <a:noFill/>
          <a:ln/>
        </p:spPr>
        <p:txBody>
          <a:bodyPr wrap="square" rtlCol="0" anchor="ctr"/>
          <a:lstStyle/>
          <a:p>
            <a:pPr indent="0" marL="0">
              <a:lnSpc>
                <a:spcPts val="1700"/>
              </a:lnSpc>
              <a:buNone/>
            </a:pPr>
            <a:r>
              <a:rPr lang="en-US" sz="1150" dirty="0">
                <a:solidFill>
                  <a:srgbClr val="F8FAFC"/>
                </a:solidFill>
                <a:latin typeface="Segoe UI" pitchFamily="34" charset="0"/>
                <a:ea typeface="Segoe UI" pitchFamily="34" charset="-122"/>
                <a:cs typeface="Segoe UI" pitchFamily="34" charset="-120"/>
              </a:rPr>
              <a:t>What it does: Engineered asynchronous cart modification with scroll-anchor preservation on dish cards.</a:t>
            </a:r>
            <a:endParaRPr lang="en-US" sz="1150" dirty="0"/>
          </a:p>
        </p:txBody>
      </p:sp>
      <p:sp>
        <p:nvSpPr>
          <p:cNvPr id="25" name="Text 23"/>
          <p:cNvSpPr/>
          <p:nvPr/>
        </p:nvSpPr>
        <p:spPr>
          <a:xfrm>
            <a:off x="1005840" y="5074920"/>
            <a:ext cx="4709160" cy="594360"/>
          </a:xfrm>
          <a:prstGeom prst="rect">
            <a:avLst/>
          </a:prstGeom>
          <a:noFill/>
          <a:ln/>
        </p:spPr>
        <p:txBody>
          <a:bodyPr wrap="square" rtlCol="0" anchor="ctr"/>
          <a:lstStyle/>
          <a:p>
            <a:pPr indent="0" marL="0">
              <a:lnSpc>
                <a:spcPts val="1700"/>
              </a:lnSpc>
              <a:buNone/>
            </a:pPr>
            <a:r>
              <a:rPr lang="en-US" sz="1150" dirty="0">
                <a:solidFill>
                  <a:srgbClr val="F4B942"/>
                </a:solidFill>
                <a:latin typeface="Segoe UI" pitchFamily="34" charset="0"/>
                <a:ea typeface="Segoe UI" pitchFamily="34" charset="-122"/>
                <a:cs typeface="Segoe UI" pitchFamily="34" charset="-120"/>
              </a:rPr>
              <a:t>Why it matters: Prevents disorienting page reloads when browsing lengthy menus, delivering a native app-like experience.</a:t>
            </a:r>
            <a:endParaRPr lang="en-US" sz="1150" dirty="0"/>
          </a:p>
        </p:txBody>
      </p:sp>
      <p:sp>
        <p:nvSpPr>
          <p:cNvPr id="26" name="Shape 24"/>
          <p:cNvSpPr/>
          <p:nvPr/>
        </p:nvSpPr>
        <p:spPr>
          <a:xfrm>
            <a:off x="6172200" y="3749040"/>
            <a:ext cx="5257800" cy="2103120"/>
          </a:xfrm>
          <a:prstGeom prst="roundRect">
            <a:avLst>
              <a:gd name="adj" fmla="val 5217"/>
            </a:avLst>
          </a:prstGeom>
          <a:solidFill>
            <a:srgbClr val="111827"/>
          </a:solidFill>
          <a:ln w="12700">
            <a:solidFill>
              <a:srgbClr val="1E293B"/>
            </a:solidFill>
            <a:prstDash val="solid"/>
          </a:ln>
        </p:spPr>
      </p:sp>
      <p:sp>
        <p:nvSpPr>
          <p:cNvPr id="27" name="Shape 25"/>
          <p:cNvSpPr/>
          <p:nvPr/>
        </p:nvSpPr>
        <p:spPr>
          <a:xfrm>
            <a:off x="6446520" y="3977640"/>
            <a:ext cx="2011680" cy="237744"/>
          </a:xfrm>
          <a:prstGeom prst="roundRect">
            <a:avLst>
              <a:gd name="adj" fmla="val 50000"/>
            </a:avLst>
          </a:prstGeom>
          <a:solidFill>
            <a:srgbClr val="1E293B"/>
          </a:solidFill>
          <a:ln w="12700">
            <a:solidFill>
              <a:srgbClr val="F4B942"/>
            </a:solidFill>
            <a:prstDash val="solid"/>
          </a:ln>
        </p:spPr>
      </p:sp>
      <p:sp>
        <p:nvSpPr>
          <p:cNvPr id="28" name="Text 26"/>
          <p:cNvSpPr/>
          <p:nvPr/>
        </p:nvSpPr>
        <p:spPr>
          <a:xfrm>
            <a:off x="6446520" y="3977640"/>
            <a:ext cx="2011680" cy="237744"/>
          </a:xfrm>
          <a:prstGeom prst="rect">
            <a:avLst/>
          </a:prstGeom>
          <a:noFill/>
          <a:ln/>
        </p:spPr>
        <p:txBody>
          <a:bodyPr wrap="square" rtlCol="0" anchor="ctr"/>
          <a:lstStyle/>
          <a:p>
            <a:pPr algn="ctr" indent="0" marL="0">
              <a:buNone/>
            </a:pPr>
            <a:r>
              <a:rPr lang="en-US" sz="850" b="1" dirty="0">
                <a:solidFill>
                  <a:srgbClr val="F4B942"/>
                </a:solidFill>
                <a:latin typeface="Segoe UI" pitchFamily="34" charset="0"/>
                <a:ea typeface="Segoe UI" pitchFamily="34" charset="-122"/>
                <a:cs typeface="Segoe UI" pitchFamily="34" charset="-120"/>
              </a:rPr>
              <a:t>UI POLISH</a:t>
            </a:r>
            <a:endParaRPr lang="en-US" sz="850" dirty="0"/>
          </a:p>
        </p:txBody>
      </p:sp>
      <p:sp>
        <p:nvSpPr>
          <p:cNvPr id="29" name="Text 27"/>
          <p:cNvSpPr/>
          <p:nvPr/>
        </p:nvSpPr>
        <p:spPr>
          <a:xfrm>
            <a:off x="8641080" y="3977640"/>
            <a:ext cx="2560320" cy="274320"/>
          </a:xfrm>
          <a:prstGeom prst="rect">
            <a:avLst/>
          </a:prstGeom>
          <a:noFill/>
          <a:ln/>
        </p:spPr>
        <p:txBody>
          <a:bodyPr wrap="square" rtlCol="0" anchor="ctr"/>
          <a:lstStyle/>
          <a:p>
            <a:pPr indent="0" marL="0">
              <a:buNone/>
            </a:pPr>
            <a:r>
              <a:rPr lang="en-US" sz="1500" b="1" dirty="0">
                <a:solidFill>
                  <a:srgbClr val="F8FAFC"/>
                </a:solidFill>
                <a:latin typeface="Segoe UI" pitchFamily="34" charset="0"/>
                <a:ea typeface="Segoe UI" pitchFamily="34" charset="-122"/>
                <a:cs typeface="Segoe UI" pitchFamily="34" charset="-120"/>
              </a:rPr>
              <a:t>Dynamic Dual-Theme Engine</a:t>
            </a:r>
            <a:endParaRPr lang="en-US" sz="1500" dirty="0"/>
          </a:p>
        </p:txBody>
      </p:sp>
      <p:sp>
        <p:nvSpPr>
          <p:cNvPr id="30" name="Text 28"/>
          <p:cNvSpPr/>
          <p:nvPr/>
        </p:nvSpPr>
        <p:spPr>
          <a:xfrm>
            <a:off x="6446520" y="4343400"/>
            <a:ext cx="4709160" cy="685800"/>
          </a:xfrm>
          <a:prstGeom prst="rect">
            <a:avLst/>
          </a:prstGeom>
          <a:noFill/>
          <a:ln/>
        </p:spPr>
        <p:txBody>
          <a:bodyPr wrap="square" rtlCol="0" anchor="ctr"/>
          <a:lstStyle/>
          <a:p>
            <a:pPr indent="0" marL="0">
              <a:lnSpc>
                <a:spcPts val="1700"/>
              </a:lnSpc>
              <a:buNone/>
            </a:pPr>
            <a:r>
              <a:rPr lang="en-US" sz="1150" dirty="0">
                <a:solidFill>
                  <a:srgbClr val="F8FAFC"/>
                </a:solidFill>
                <a:latin typeface="Segoe UI" pitchFamily="34" charset="0"/>
                <a:ea typeface="Segoe UI" pitchFamily="34" charset="-122"/>
                <a:cs typeface="Segoe UI" pitchFamily="34" charset="-120"/>
              </a:rPr>
              <a:t>What it does: Implemented dynamic Dark/Light theme toggle with CSS custom properties and persistent state.</a:t>
            </a:r>
            <a:endParaRPr lang="en-US" sz="1150" dirty="0"/>
          </a:p>
        </p:txBody>
      </p:sp>
      <p:sp>
        <p:nvSpPr>
          <p:cNvPr id="31" name="Text 29"/>
          <p:cNvSpPr/>
          <p:nvPr/>
        </p:nvSpPr>
        <p:spPr>
          <a:xfrm>
            <a:off x="6446520" y="5074920"/>
            <a:ext cx="4709160" cy="594360"/>
          </a:xfrm>
          <a:prstGeom prst="rect">
            <a:avLst/>
          </a:prstGeom>
          <a:noFill/>
          <a:ln/>
        </p:spPr>
        <p:txBody>
          <a:bodyPr wrap="square" rtlCol="0" anchor="ctr"/>
          <a:lstStyle/>
          <a:p>
            <a:pPr indent="0" marL="0">
              <a:lnSpc>
                <a:spcPts val="1700"/>
              </a:lnSpc>
              <a:buNone/>
            </a:pPr>
            <a:r>
              <a:rPr lang="en-US" sz="1150" dirty="0">
                <a:solidFill>
                  <a:srgbClr val="F4B942"/>
                </a:solidFill>
                <a:latin typeface="Segoe UI" pitchFamily="34" charset="0"/>
                <a:ea typeface="Segoe UI" pitchFamily="34" charset="-122"/>
                <a:cs typeface="Segoe UI" pitchFamily="34" charset="-120"/>
              </a:rPr>
              <a:t>Why it matters: Provides comfortable viewing in both night and daytime dining environments with seamless contrast.</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731520" y="320040"/>
            <a:ext cx="2011680" cy="256032"/>
          </a:xfrm>
          <a:prstGeom prst="roundRect">
            <a:avLst>
              <a:gd name="adj" fmla="val 50000"/>
            </a:avLst>
          </a:prstGeom>
          <a:solidFill>
            <a:srgbClr val="1E293B"/>
          </a:solidFill>
          <a:ln w="12700">
            <a:solidFill>
              <a:srgbClr val="334155"/>
            </a:solidFill>
            <a:prstDash val="solid"/>
          </a:ln>
        </p:spPr>
      </p:sp>
      <p:sp>
        <p:nvSpPr>
          <p:cNvPr id="3" name="Text 1"/>
          <p:cNvSpPr/>
          <p:nvPr/>
        </p:nvSpPr>
        <p:spPr>
          <a:xfrm>
            <a:off x="731520" y="320040"/>
            <a:ext cx="2011680" cy="256032"/>
          </a:xfrm>
          <a:prstGeom prst="rect">
            <a:avLst/>
          </a:prstGeom>
          <a:noFill/>
          <a:ln/>
        </p:spPr>
        <p:txBody>
          <a:bodyPr wrap="square" rtlCol="0" anchor="ctr"/>
          <a:lstStyle/>
          <a:p>
            <a:pPr algn="ctr" indent="0" marL="0">
              <a:buNone/>
            </a:pPr>
            <a:r>
              <a:rPr lang="en-US" sz="900" b="1" dirty="0">
                <a:solidFill>
                  <a:srgbClr val="F4B942"/>
                </a:solidFill>
                <a:latin typeface="Segoe UI" pitchFamily="34" charset="0"/>
                <a:ea typeface="Segoe UI" pitchFamily="34" charset="-122"/>
                <a:cs typeface="Segoe UI" pitchFamily="34" charset="-120"/>
              </a:rPr>
              <a:t>SECTION 7 • IMPORTANT ALGORITHMS</a:t>
            </a:r>
            <a:endParaRPr lang="en-US" sz="900" dirty="0"/>
          </a:p>
        </p:txBody>
      </p:sp>
      <p:sp>
        <p:nvSpPr>
          <p:cNvPr id="4" name="Shape 2"/>
          <p:cNvSpPr/>
          <p:nvPr/>
        </p:nvSpPr>
        <p:spPr>
          <a:xfrm>
            <a:off x="9509760" y="320040"/>
            <a:ext cx="1920240" cy="256032"/>
          </a:xfrm>
          <a:prstGeom prst="roundRect">
            <a:avLst>
              <a:gd name="adj" fmla="val 50000"/>
            </a:avLst>
          </a:prstGeom>
          <a:solidFill>
            <a:srgbClr val="1E293B"/>
          </a:solidFill>
          <a:ln w="12700">
            <a:solidFill>
              <a:srgbClr val="334155"/>
            </a:solidFill>
            <a:prstDash val="solid"/>
          </a:ln>
        </p:spPr>
      </p:sp>
      <p:sp>
        <p:nvSpPr>
          <p:cNvPr id="5" name="Text 3"/>
          <p:cNvSpPr/>
          <p:nvPr/>
        </p:nvSpPr>
        <p:spPr>
          <a:xfrm>
            <a:off x="9509760" y="320040"/>
            <a:ext cx="1920240" cy="256032"/>
          </a:xfrm>
          <a:prstGeom prst="rect">
            <a:avLst/>
          </a:prstGeom>
          <a:noFill/>
          <a:ln/>
        </p:spPr>
        <p:txBody>
          <a:bodyPr wrap="square" rtlCol="0" anchor="ctr"/>
          <a:lstStyle/>
          <a:p>
            <a:pPr algn="ctr" indent="0" marL="0">
              <a:buNone/>
            </a:pPr>
            <a:r>
              <a:rPr lang="en-US" sz="850" b="1" dirty="0">
                <a:solidFill>
                  <a:srgbClr val="94A3B8"/>
                </a:solidFill>
                <a:latin typeface="Segoe UI" pitchFamily="34" charset="0"/>
                <a:ea typeface="Segoe UI" pitchFamily="34" charset="-122"/>
                <a:cs typeface="Segoe UI" pitchFamily="34" charset="-120"/>
              </a:rPr>
              <a:t>TAP ACADEMY EVALUATION</a:t>
            </a:r>
            <a:endParaRPr lang="en-US" sz="850" dirty="0"/>
          </a:p>
        </p:txBody>
      </p:sp>
      <p:sp>
        <p:nvSpPr>
          <p:cNvPr id="6" name="Text 4"/>
          <p:cNvSpPr/>
          <p:nvPr/>
        </p:nvSpPr>
        <p:spPr>
          <a:xfrm>
            <a:off x="731520" y="658368"/>
            <a:ext cx="10515600" cy="457200"/>
          </a:xfrm>
          <a:prstGeom prst="rect">
            <a:avLst/>
          </a:prstGeom>
          <a:noFill/>
          <a:ln/>
        </p:spPr>
        <p:txBody>
          <a:bodyPr wrap="square" rtlCol="0" anchor="t"/>
          <a:lstStyle/>
          <a:p>
            <a:pPr indent="0" marL="0">
              <a:buNone/>
            </a:pPr>
            <a:r>
              <a:rPr lang="en-US" sz="2200" b="1" dirty="0">
                <a:solidFill>
                  <a:srgbClr val="F8FAFC"/>
                </a:solidFill>
                <a:latin typeface="Segoe UI" pitchFamily="34" charset="0"/>
                <a:ea typeface="Segoe UI" pitchFamily="34" charset="-122"/>
                <a:cs typeface="Segoe UI" pitchFamily="34" charset="-120"/>
              </a:rPr>
              <a:t>OrderLifecycleManager Finite State Machine &amp; Transactional Persistence</a:t>
            </a:r>
            <a:endParaRPr lang="en-US" sz="2200" dirty="0"/>
          </a:p>
        </p:txBody>
      </p:sp>
      <p:sp>
        <p:nvSpPr>
          <p:cNvPr id="7" name="Shape 5"/>
          <p:cNvSpPr/>
          <p:nvPr/>
        </p:nvSpPr>
        <p:spPr>
          <a:xfrm>
            <a:off x="731520" y="1143000"/>
            <a:ext cx="10698480" cy="0"/>
          </a:xfrm>
          <a:prstGeom prst="line">
            <a:avLst/>
          </a:prstGeom>
          <a:noFill/>
          <a:ln w="19050">
            <a:solidFill>
              <a:srgbClr val="1E293B"/>
            </a:solidFill>
            <a:prstDash val="solid"/>
          </a:ln>
        </p:spPr>
      </p:sp>
      <p:pic>
        <p:nvPicPr>
          <p:cNvPr id="8" name="Image 0" descr="C:\Users\Asus\eclipse-workspace\FoodHouse\FoodHouse_Presentation_Assets\09_algorithm_architecture.png">    </p:cNvPr>
          <p:cNvPicPr>
            <a:picLocks noChangeAspect="1"/>
          </p:cNvPicPr>
          <p:nvPr/>
        </p:nvPicPr>
        <p:blipFill>
          <a:blip r:embed="rId1"/>
          <a:stretch>
            <a:fillRect/>
          </a:stretch>
        </p:blipFill>
        <p:spPr>
          <a:xfrm>
            <a:off x="731520" y="1371600"/>
            <a:ext cx="10698480" cy="46634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731520" y="320040"/>
            <a:ext cx="2011680" cy="256032"/>
          </a:xfrm>
          <a:prstGeom prst="roundRect">
            <a:avLst>
              <a:gd name="adj" fmla="val 50000"/>
            </a:avLst>
          </a:prstGeom>
          <a:solidFill>
            <a:srgbClr val="1E293B"/>
          </a:solidFill>
          <a:ln w="12700">
            <a:solidFill>
              <a:srgbClr val="334155"/>
            </a:solidFill>
            <a:prstDash val="solid"/>
          </a:ln>
        </p:spPr>
      </p:sp>
      <p:sp>
        <p:nvSpPr>
          <p:cNvPr id="3" name="Text 1"/>
          <p:cNvSpPr/>
          <p:nvPr/>
        </p:nvSpPr>
        <p:spPr>
          <a:xfrm>
            <a:off x="731520" y="320040"/>
            <a:ext cx="2011680" cy="256032"/>
          </a:xfrm>
          <a:prstGeom prst="rect">
            <a:avLst/>
          </a:prstGeom>
          <a:noFill/>
          <a:ln/>
        </p:spPr>
        <p:txBody>
          <a:bodyPr wrap="square" rtlCol="0" anchor="ctr"/>
          <a:lstStyle/>
          <a:p>
            <a:pPr algn="ctr" indent="0" marL="0">
              <a:buNone/>
            </a:pPr>
            <a:r>
              <a:rPr lang="en-US" sz="900" b="1" dirty="0">
                <a:solidFill>
                  <a:srgbClr val="F4B942"/>
                </a:solidFill>
                <a:latin typeface="Segoe UI" pitchFamily="34" charset="0"/>
                <a:ea typeface="Segoe UI" pitchFamily="34" charset="-122"/>
                <a:cs typeface="Segoe UI" pitchFamily="34" charset="-120"/>
              </a:rPr>
              <a:t>SECTION 8 • MAJOR CHALLENGE FACED</a:t>
            </a:r>
            <a:endParaRPr lang="en-US" sz="900" dirty="0"/>
          </a:p>
        </p:txBody>
      </p:sp>
      <p:sp>
        <p:nvSpPr>
          <p:cNvPr id="4" name="Shape 2"/>
          <p:cNvSpPr/>
          <p:nvPr/>
        </p:nvSpPr>
        <p:spPr>
          <a:xfrm>
            <a:off x="9509760" y="320040"/>
            <a:ext cx="1920240" cy="256032"/>
          </a:xfrm>
          <a:prstGeom prst="roundRect">
            <a:avLst>
              <a:gd name="adj" fmla="val 50000"/>
            </a:avLst>
          </a:prstGeom>
          <a:solidFill>
            <a:srgbClr val="1E293B"/>
          </a:solidFill>
          <a:ln w="12700">
            <a:solidFill>
              <a:srgbClr val="334155"/>
            </a:solidFill>
            <a:prstDash val="solid"/>
          </a:ln>
        </p:spPr>
      </p:sp>
      <p:sp>
        <p:nvSpPr>
          <p:cNvPr id="5" name="Text 3"/>
          <p:cNvSpPr/>
          <p:nvPr/>
        </p:nvSpPr>
        <p:spPr>
          <a:xfrm>
            <a:off x="9509760" y="320040"/>
            <a:ext cx="1920240" cy="256032"/>
          </a:xfrm>
          <a:prstGeom prst="rect">
            <a:avLst/>
          </a:prstGeom>
          <a:noFill/>
          <a:ln/>
        </p:spPr>
        <p:txBody>
          <a:bodyPr wrap="square" rtlCol="0" anchor="ctr"/>
          <a:lstStyle/>
          <a:p>
            <a:pPr algn="ctr" indent="0" marL="0">
              <a:buNone/>
            </a:pPr>
            <a:r>
              <a:rPr lang="en-US" sz="850" b="1" dirty="0">
                <a:solidFill>
                  <a:srgbClr val="94A3B8"/>
                </a:solidFill>
                <a:latin typeface="Segoe UI" pitchFamily="34" charset="0"/>
                <a:ea typeface="Segoe UI" pitchFamily="34" charset="-122"/>
                <a:cs typeface="Segoe UI" pitchFamily="34" charset="-120"/>
              </a:rPr>
              <a:t>TAP ACADEMY EVALUATION</a:t>
            </a:r>
            <a:endParaRPr lang="en-US" sz="850" dirty="0"/>
          </a:p>
        </p:txBody>
      </p:sp>
      <p:sp>
        <p:nvSpPr>
          <p:cNvPr id="6" name="Text 4"/>
          <p:cNvSpPr/>
          <p:nvPr/>
        </p:nvSpPr>
        <p:spPr>
          <a:xfrm>
            <a:off x="731520" y="658368"/>
            <a:ext cx="10515600" cy="457200"/>
          </a:xfrm>
          <a:prstGeom prst="rect">
            <a:avLst/>
          </a:prstGeom>
          <a:noFill/>
          <a:ln/>
        </p:spPr>
        <p:txBody>
          <a:bodyPr wrap="square" rtlCol="0" anchor="t"/>
          <a:lstStyle/>
          <a:p>
            <a:pPr indent="0" marL="0">
              <a:buNone/>
            </a:pPr>
            <a:r>
              <a:rPr lang="en-US" sz="2200" b="1" dirty="0">
                <a:solidFill>
                  <a:srgbClr val="F8FAFC"/>
                </a:solidFill>
                <a:latin typeface="Segoe UI" pitchFamily="34" charset="0"/>
                <a:ea typeface="Segoe UI" pitchFamily="34" charset="-122"/>
                <a:cs typeface="Segoe UI" pitchFamily="34" charset="-120"/>
              </a:rPr>
              <a:t>Viewport Scroll Jump Disorientation &amp; Password Encryption Migration</a:t>
            </a:r>
            <a:endParaRPr lang="en-US" sz="2200" dirty="0"/>
          </a:p>
        </p:txBody>
      </p:sp>
      <p:sp>
        <p:nvSpPr>
          <p:cNvPr id="7" name="Shape 5"/>
          <p:cNvSpPr/>
          <p:nvPr/>
        </p:nvSpPr>
        <p:spPr>
          <a:xfrm>
            <a:off x="731520" y="1143000"/>
            <a:ext cx="10698480" cy="0"/>
          </a:xfrm>
          <a:prstGeom prst="line">
            <a:avLst/>
          </a:prstGeom>
          <a:noFill/>
          <a:ln w="19050">
            <a:solidFill>
              <a:srgbClr val="1E293B"/>
            </a:solidFill>
            <a:prstDash val="solid"/>
          </a:ln>
        </p:spPr>
      </p:sp>
      <p:pic>
        <p:nvPicPr>
          <p:cNvPr id="8" name="Image 0" descr="C:\Users\Asus\eclipse-workspace\FoodHouse\FoodHouse_Presentation_Assets\10_challenge_solution.png">    </p:cNvPr>
          <p:cNvPicPr>
            <a:picLocks noChangeAspect="1"/>
          </p:cNvPicPr>
          <p:nvPr/>
        </p:nvPicPr>
        <p:blipFill>
          <a:blip r:embed="rId1"/>
          <a:stretch>
            <a:fillRect/>
          </a:stretch>
        </p:blipFill>
        <p:spPr>
          <a:xfrm>
            <a:off x="731520" y="1371600"/>
            <a:ext cx="10698480" cy="46634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731520" y="320040"/>
            <a:ext cx="2011680" cy="256032"/>
          </a:xfrm>
          <a:prstGeom prst="roundRect">
            <a:avLst>
              <a:gd name="adj" fmla="val 50000"/>
            </a:avLst>
          </a:prstGeom>
          <a:solidFill>
            <a:srgbClr val="1E293B"/>
          </a:solidFill>
          <a:ln w="12700">
            <a:solidFill>
              <a:srgbClr val="334155"/>
            </a:solidFill>
            <a:prstDash val="solid"/>
          </a:ln>
        </p:spPr>
      </p:sp>
      <p:sp>
        <p:nvSpPr>
          <p:cNvPr id="3" name="Text 1"/>
          <p:cNvSpPr/>
          <p:nvPr/>
        </p:nvSpPr>
        <p:spPr>
          <a:xfrm>
            <a:off x="731520" y="320040"/>
            <a:ext cx="2011680" cy="256032"/>
          </a:xfrm>
          <a:prstGeom prst="rect">
            <a:avLst/>
          </a:prstGeom>
          <a:noFill/>
          <a:ln/>
        </p:spPr>
        <p:txBody>
          <a:bodyPr wrap="square" rtlCol="0" anchor="ctr"/>
          <a:lstStyle/>
          <a:p>
            <a:pPr algn="ctr" indent="0" marL="0">
              <a:buNone/>
            </a:pPr>
            <a:r>
              <a:rPr lang="en-US" sz="900" b="1" dirty="0">
                <a:solidFill>
                  <a:srgbClr val="F4B942"/>
                </a:solidFill>
                <a:latin typeface="Segoe UI" pitchFamily="34" charset="0"/>
                <a:ea typeface="Segoe UI" pitchFamily="34" charset="-122"/>
                <a:cs typeface="Segoe UI" pitchFamily="34" charset="-120"/>
              </a:rPr>
              <a:t>SECTION 9 • WHAT I'LL ADD NEXT</a:t>
            </a:r>
            <a:endParaRPr lang="en-US" sz="900" dirty="0"/>
          </a:p>
        </p:txBody>
      </p:sp>
      <p:sp>
        <p:nvSpPr>
          <p:cNvPr id="4" name="Shape 2"/>
          <p:cNvSpPr/>
          <p:nvPr/>
        </p:nvSpPr>
        <p:spPr>
          <a:xfrm>
            <a:off x="9509760" y="320040"/>
            <a:ext cx="1920240" cy="256032"/>
          </a:xfrm>
          <a:prstGeom prst="roundRect">
            <a:avLst>
              <a:gd name="adj" fmla="val 50000"/>
            </a:avLst>
          </a:prstGeom>
          <a:solidFill>
            <a:srgbClr val="1E293B"/>
          </a:solidFill>
          <a:ln w="12700">
            <a:solidFill>
              <a:srgbClr val="334155"/>
            </a:solidFill>
            <a:prstDash val="solid"/>
          </a:ln>
        </p:spPr>
      </p:sp>
      <p:sp>
        <p:nvSpPr>
          <p:cNvPr id="5" name="Text 3"/>
          <p:cNvSpPr/>
          <p:nvPr/>
        </p:nvSpPr>
        <p:spPr>
          <a:xfrm>
            <a:off x="9509760" y="320040"/>
            <a:ext cx="1920240" cy="256032"/>
          </a:xfrm>
          <a:prstGeom prst="rect">
            <a:avLst/>
          </a:prstGeom>
          <a:noFill/>
          <a:ln/>
        </p:spPr>
        <p:txBody>
          <a:bodyPr wrap="square" rtlCol="0" anchor="ctr"/>
          <a:lstStyle/>
          <a:p>
            <a:pPr algn="ctr" indent="0" marL="0">
              <a:buNone/>
            </a:pPr>
            <a:r>
              <a:rPr lang="en-US" sz="850" b="1" dirty="0">
                <a:solidFill>
                  <a:srgbClr val="94A3B8"/>
                </a:solidFill>
                <a:latin typeface="Segoe UI" pitchFamily="34" charset="0"/>
                <a:ea typeface="Segoe UI" pitchFamily="34" charset="-122"/>
                <a:cs typeface="Segoe UI" pitchFamily="34" charset="-120"/>
              </a:rPr>
              <a:t>TAP ACADEMY EVALUATION</a:t>
            </a:r>
            <a:endParaRPr lang="en-US" sz="850" dirty="0"/>
          </a:p>
        </p:txBody>
      </p:sp>
      <p:sp>
        <p:nvSpPr>
          <p:cNvPr id="6" name="Text 4"/>
          <p:cNvSpPr/>
          <p:nvPr/>
        </p:nvSpPr>
        <p:spPr>
          <a:xfrm>
            <a:off x="731520" y="658368"/>
            <a:ext cx="10515600" cy="457200"/>
          </a:xfrm>
          <a:prstGeom prst="rect">
            <a:avLst/>
          </a:prstGeom>
          <a:noFill/>
          <a:ln/>
        </p:spPr>
        <p:txBody>
          <a:bodyPr wrap="square" rtlCol="0" anchor="t"/>
          <a:lstStyle/>
          <a:p>
            <a:pPr indent="0" marL="0">
              <a:buNone/>
            </a:pPr>
            <a:r>
              <a:rPr lang="en-US" sz="2200" b="1" dirty="0">
                <a:solidFill>
                  <a:srgbClr val="F8FAFC"/>
                </a:solidFill>
                <a:latin typeface="Segoe UI" pitchFamily="34" charset="0"/>
                <a:ea typeface="Segoe UI" pitchFamily="34" charset="-122"/>
                <a:cs typeface="Segoe UI" pitchFamily="34" charset="-120"/>
              </a:rPr>
              <a:t>Future Architectural Enhancements &amp; Production Roadmap</a:t>
            </a:r>
            <a:endParaRPr lang="en-US" sz="2200" dirty="0"/>
          </a:p>
        </p:txBody>
      </p:sp>
      <p:sp>
        <p:nvSpPr>
          <p:cNvPr id="7" name="Shape 5"/>
          <p:cNvSpPr/>
          <p:nvPr/>
        </p:nvSpPr>
        <p:spPr>
          <a:xfrm>
            <a:off x="731520" y="1143000"/>
            <a:ext cx="10698480" cy="0"/>
          </a:xfrm>
          <a:prstGeom prst="line">
            <a:avLst/>
          </a:prstGeom>
          <a:noFill/>
          <a:ln w="19050">
            <a:solidFill>
              <a:srgbClr val="1E293B"/>
            </a:solidFill>
            <a:prstDash val="solid"/>
          </a:ln>
        </p:spPr>
      </p:sp>
      <p:sp>
        <p:nvSpPr>
          <p:cNvPr id="8" name="Shape 6"/>
          <p:cNvSpPr/>
          <p:nvPr/>
        </p:nvSpPr>
        <p:spPr>
          <a:xfrm>
            <a:off x="731520" y="1463040"/>
            <a:ext cx="2468880" cy="4480560"/>
          </a:xfrm>
          <a:prstGeom prst="roundRect">
            <a:avLst>
              <a:gd name="adj" fmla="val 4444"/>
            </a:avLst>
          </a:prstGeom>
          <a:solidFill>
            <a:srgbClr val="111827"/>
          </a:solidFill>
          <a:ln w="12700">
            <a:solidFill>
              <a:srgbClr val="1E293B"/>
            </a:solidFill>
            <a:prstDash val="solid"/>
          </a:ln>
        </p:spPr>
      </p:sp>
      <p:sp>
        <p:nvSpPr>
          <p:cNvPr id="9" name="Text 7"/>
          <p:cNvSpPr/>
          <p:nvPr/>
        </p:nvSpPr>
        <p:spPr>
          <a:xfrm>
            <a:off x="1005840" y="1737360"/>
            <a:ext cx="1920240" cy="548640"/>
          </a:xfrm>
          <a:prstGeom prst="rect">
            <a:avLst/>
          </a:prstGeom>
          <a:noFill/>
          <a:ln/>
        </p:spPr>
        <p:txBody>
          <a:bodyPr wrap="square" rtlCol="0" anchor="ctr"/>
          <a:lstStyle/>
          <a:p>
            <a:pPr indent="0" marL="0">
              <a:buNone/>
            </a:pPr>
            <a:r>
              <a:rPr lang="en-US" sz="3200" b="1" dirty="0">
                <a:solidFill>
                  <a:srgbClr val="FF6B35"/>
                </a:solidFill>
                <a:latin typeface="Segoe UI" pitchFamily="34" charset="0"/>
                <a:ea typeface="Segoe UI" pitchFamily="34" charset="-122"/>
                <a:cs typeface="Segoe UI" pitchFamily="34" charset="-120"/>
              </a:rPr>
              <a:t>01</a:t>
            </a:r>
            <a:endParaRPr lang="en-US" sz="3200" dirty="0"/>
          </a:p>
        </p:txBody>
      </p:sp>
      <p:sp>
        <p:nvSpPr>
          <p:cNvPr id="10" name="Text 8"/>
          <p:cNvSpPr/>
          <p:nvPr/>
        </p:nvSpPr>
        <p:spPr>
          <a:xfrm>
            <a:off x="1005840" y="2377440"/>
            <a:ext cx="1920240" cy="548640"/>
          </a:xfrm>
          <a:prstGeom prst="rect">
            <a:avLst/>
          </a:prstGeom>
          <a:noFill/>
          <a:ln/>
        </p:spPr>
        <p:txBody>
          <a:bodyPr wrap="square" rtlCol="0" anchor="ctr"/>
          <a:lstStyle/>
          <a:p>
            <a:pPr indent="0" marL="0">
              <a:buNone/>
            </a:pPr>
            <a:r>
              <a:rPr lang="en-US" sz="1600" b="1" dirty="0">
                <a:solidFill>
                  <a:srgbClr val="F8FAFC"/>
                </a:solidFill>
                <a:latin typeface="Segoe UI" pitchFamily="34" charset="0"/>
                <a:ea typeface="Segoe UI" pitchFamily="34" charset="-122"/>
                <a:cs typeface="Segoe UI" pitchFamily="34" charset="-120"/>
              </a:rPr>
              <a:t>Live Payment Gateway</a:t>
            </a:r>
            <a:endParaRPr lang="en-US" sz="1600" dirty="0"/>
          </a:p>
        </p:txBody>
      </p:sp>
      <p:sp>
        <p:nvSpPr>
          <p:cNvPr id="11" name="Shape 9"/>
          <p:cNvSpPr/>
          <p:nvPr/>
        </p:nvSpPr>
        <p:spPr>
          <a:xfrm>
            <a:off x="1005840" y="3017520"/>
            <a:ext cx="1920240" cy="274320"/>
          </a:xfrm>
          <a:prstGeom prst="roundRect">
            <a:avLst>
              <a:gd name="adj" fmla="val 26667"/>
            </a:avLst>
          </a:prstGeom>
          <a:solidFill>
            <a:srgbClr val="0F172A"/>
          </a:solidFill>
          <a:ln w="12700">
            <a:solidFill>
              <a:srgbClr val="334155"/>
            </a:solidFill>
            <a:prstDash val="solid"/>
          </a:ln>
        </p:spPr>
      </p:sp>
      <p:sp>
        <p:nvSpPr>
          <p:cNvPr id="12" name="Text 10"/>
          <p:cNvSpPr/>
          <p:nvPr/>
        </p:nvSpPr>
        <p:spPr>
          <a:xfrm>
            <a:off x="1005840" y="3017520"/>
            <a:ext cx="1920240" cy="274320"/>
          </a:xfrm>
          <a:prstGeom prst="rect">
            <a:avLst/>
          </a:prstGeom>
          <a:noFill/>
          <a:ln/>
        </p:spPr>
        <p:txBody>
          <a:bodyPr wrap="square" rtlCol="0" anchor="ctr"/>
          <a:lstStyle/>
          <a:p>
            <a:pPr algn="ctr" indent="0" marL="0">
              <a:buNone/>
            </a:pPr>
            <a:r>
              <a:rPr lang="en-US" sz="950" b="1" dirty="0">
                <a:solidFill>
                  <a:srgbClr val="F4B942"/>
                </a:solidFill>
                <a:latin typeface="Segoe UI" pitchFamily="34" charset="0"/>
                <a:ea typeface="Segoe UI" pitchFamily="34" charset="-122"/>
                <a:cs typeface="Segoe UI" pitchFamily="34" charset="-120"/>
              </a:rPr>
              <a:t>Razorpay / Stripe API</a:t>
            </a:r>
            <a:endParaRPr lang="en-US" sz="950" dirty="0"/>
          </a:p>
        </p:txBody>
      </p:sp>
      <p:sp>
        <p:nvSpPr>
          <p:cNvPr id="13" name="Text 11"/>
          <p:cNvSpPr/>
          <p:nvPr/>
        </p:nvSpPr>
        <p:spPr>
          <a:xfrm>
            <a:off x="1005840" y="3474720"/>
            <a:ext cx="1920240" cy="2194560"/>
          </a:xfrm>
          <a:prstGeom prst="rect">
            <a:avLst/>
          </a:prstGeom>
          <a:noFill/>
          <a:ln/>
        </p:spPr>
        <p:txBody>
          <a:bodyPr wrap="square" rtlCol="0" anchor="ctr"/>
          <a:lstStyle/>
          <a:p>
            <a:pPr indent="0" marL="0">
              <a:lnSpc>
                <a:spcPts val="1800"/>
              </a:lnSpc>
              <a:buNone/>
            </a:pPr>
            <a:r>
              <a:rPr lang="en-US" sz="1200" dirty="0">
                <a:solidFill>
                  <a:srgbClr val="94A3B8"/>
                </a:solidFill>
                <a:latin typeface="Segoe UI" pitchFamily="34" charset="0"/>
                <a:ea typeface="Segoe UI" pitchFamily="34" charset="-122"/>
                <a:cs typeface="Segoe UI" pitchFamily="34" charset="-120"/>
              </a:rPr>
              <a:t>Integrate real online payments supporting UPI intent, credit/debit cards, net banking, and automatic webhook refund processing.</a:t>
            </a:r>
            <a:endParaRPr lang="en-US" sz="1200" dirty="0"/>
          </a:p>
        </p:txBody>
      </p:sp>
      <p:sp>
        <p:nvSpPr>
          <p:cNvPr id="14" name="Shape 12"/>
          <p:cNvSpPr/>
          <p:nvPr/>
        </p:nvSpPr>
        <p:spPr>
          <a:xfrm>
            <a:off x="3474720" y="1463040"/>
            <a:ext cx="2468880" cy="4480560"/>
          </a:xfrm>
          <a:prstGeom prst="roundRect">
            <a:avLst>
              <a:gd name="adj" fmla="val 4444"/>
            </a:avLst>
          </a:prstGeom>
          <a:solidFill>
            <a:srgbClr val="111827"/>
          </a:solidFill>
          <a:ln w="12700">
            <a:solidFill>
              <a:srgbClr val="1E293B"/>
            </a:solidFill>
            <a:prstDash val="solid"/>
          </a:ln>
        </p:spPr>
      </p:sp>
      <p:sp>
        <p:nvSpPr>
          <p:cNvPr id="15" name="Text 13"/>
          <p:cNvSpPr/>
          <p:nvPr/>
        </p:nvSpPr>
        <p:spPr>
          <a:xfrm>
            <a:off x="3749040" y="1737360"/>
            <a:ext cx="1920240" cy="548640"/>
          </a:xfrm>
          <a:prstGeom prst="rect">
            <a:avLst/>
          </a:prstGeom>
          <a:noFill/>
          <a:ln/>
        </p:spPr>
        <p:txBody>
          <a:bodyPr wrap="square" rtlCol="0" anchor="ctr"/>
          <a:lstStyle/>
          <a:p>
            <a:pPr indent="0" marL="0">
              <a:buNone/>
            </a:pPr>
            <a:r>
              <a:rPr lang="en-US" sz="3200" b="1" dirty="0">
                <a:solidFill>
                  <a:srgbClr val="FF6B35"/>
                </a:solidFill>
                <a:latin typeface="Segoe UI" pitchFamily="34" charset="0"/>
                <a:ea typeface="Segoe UI" pitchFamily="34" charset="-122"/>
                <a:cs typeface="Segoe UI" pitchFamily="34" charset="-120"/>
              </a:rPr>
              <a:t>02</a:t>
            </a:r>
            <a:endParaRPr lang="en-US" sz="3200" dirty="0"/>
          </a:p>
        </p:txBody>
      </p:sp>
      <p:sp>
        <p:nvSpPr>
          <p:cNvPr id="16" name="Text 14"/>
          <p:cNvSpPr/>
          <p:nvPr/>
        </p:nvSpPr>
        <p:spPr>
          <a:xfrm>
            <a:off x="3749040" y="2377440"/>
            <a:ext cx="1920240" cy="548640"/>
          </a:xfrm>
          <a:prstGeom prst="rect">
            <a:avLst/>
          </a:prstGeom>
          <a:noFill/>
          <a:ln/>
        </p:spPr>
        <p:txBody>
          <a:bodyPr wrap="square" rtlCol="0" anchor="ctr"/>
          <a:lstStyle/>
          <a:p>
            <a:pPr indent="0" marL="0">
              <a:buNone/>
            </a:pPr>
            <a:r>
              <a:rPr lang="en-US" sz="1600" b="1" dirty="0">
                <a:solidFill>
                  <a:srgbClr val="F8FAFC"/>
                </a:solidFill>
                <a:latin typeface="Segoe UI" pitchFamily="34" charset="0"/>
                <a:ea typeface="Segoe UI" pitchFamily="34" charset="-122"/>
                <a:cs typeface="Segoe UI" pitchFamily="34" charset="-120"/>
              </a:rPr>
              <a:t>Live GPS Fleet Tracking</a:t>
            </a:r>
            <a:endParaRPr lang="en-US" sz="1600" dirty="0"/>
          </a:p>
        </p:txBody>
      </p:sp>
      <p:sp>
        <p:nvSpPr>
          <p:cNvPr id="17" name="Shape 15"/>
          <p:cNvSpPr/>
          <p:nvPr/>
        </p:nvSpPr>
        <p:spPr>
          <a:xfrm>
            <a:off x="3749040" y="3017520"/>
            <a:ext cx="1920240" cy="274320"/>
          </a:xfrm>
          <a:prstGeom prst="roundRect">
            <a:avLst>
              <a:gd name="adj" fmla="val 26667"/>
            </a:avLst>
          </a:prstGeom>
          <a:solidFill>
            <a:srgbClr val="0F172A"/>
          </a:solidFill>
          <a:ln w="12700">
            <a:solidFill>
              <a:srgbClr val="334155"/>
            </a:solidFill>
            <a:prstDash val="solid"/>
          </a:ln>
        </p:spPr>
      </p:sp>
      <p:sp>
        <p:nvSpPr>
          <p:cNvPr id="18" name="Text 16"/>
          <p:cNvSpPr/>
          <p:nvPr/>
        </p:nvSpPr>
        <p:spPr>
          <a:xfrm>
            <a:off x="3749040" y="3017520"/>
            <a:ext cx="1920240" cy="274320"/>
          </a:xfrm>
          <a:prstGeom prst="rect">
            <a:avLst/>
          </a:prstGeom>
          <a:noFill/>
          <a:ln/>
        </p:spPr>
        <p:txBody>
          <a:bodyPr wrap="square" rtlCol="0" anchor="ctr"/>
          <a:lstStyle/>
          <a:p>
            <a:pPr algn="ctr" indent="0" marL="0">
              <a:buNone/>
            </a:pPr>
            <a:r>
              <a:rPr lang="en-US" sz="950" b="1" dirty="0">
                <a:solidFill>
                  <a:srgbClr val="F4B942"/>
                </a:solidFill>
                <a:latin typeface="Segoe UI" pitchFamily="34" charset="0"/>
                <a:ea typeface="Segoe UI" pitchFamily="34" charset="-122"/>
                <a:cs typeface="Segoe UI" pitchFamily="34" charset="-120"/>
              </a:rPr>
              <a:t>Mapbox / Google Maps API</a:t>
            </a:r>
            <a:endParaRPr lang="en-US" sz="950" dirty="0"/>
          </a:p>
        </p:txBody>
      </p:sp>
      <p:sp>
        <p:nvSpPr>
          <p:cNvPr id="19" name="Text 17"/>
          <p:cNvSpPr/>
          <p:nvPr/>
        </p:nvSpPr>
        <p:spPr>
          <a:xfrm>
            <a:off x="3749040" y="3474720"/>
            <a:ext cx="1920240" cy="2194560"/>
          </a:xfrm>
          <a:prstGeom prst="rect">
            <a:avLst/>
          </a:prstGeom>
          <a:noFill/>
          <a:ln/>
        </p:spPr>
        <p:txBody>
          <a:bodyPr wrap="square" rtlCol="0" anchor="ctr"/>
          <a:lstStyle/>
          <a:p>
            <a:pPr indent="0" marL="0">
              <a:lnSpc>
                <a:spcPts val="1800"/>
              </a:lnSpc>
              <a:buNone/>
            </a:pPr>
            <a:r>
              <a:rPr lang="en-US" sz="1200" dirty="0">
                <a:solidFill>
                  <a:srgbClr val="94A3B8"/>
                </a:solidFill>
                <a:latin typeface="Segoe UI" pitchFamily="34" charset="0"/>
                <a:ea typeface="Segoe UI" pitchFamily="34" charset="-122"/>
                <a:cs typeface="Segoe UI" pitchFamily="34" charset="-120"/>
              </a:rPr>
              <a:t>Render interactive map visualizer showing real-time delivery rider coordinates, route polylines, and dynamic traffic-based ETA.</a:t>
            </a:r>
            <a:endParaRPr lang="en-US" sz="1200" dirty="0"/>
          </a:p>
        </p:txBody>
      </p:sp>
      <p:sp>
        <p:nvSpPr>
          <p:cNvPr id="20" name="Shape 18"/>
          <p:cNvSpPr/>
          <p:nvPr/>
        </p:nvSpPr>
        <p:spPr>
          <a:xfrm>
            <a:off x="6217920" y="1463040"/>
            <a:ext cx="2468880" cy="4480560"/>
          </a:xfrm>
          <a:prstGeom prst="roundRect">
            <a:avLst>
              <a:gd name="adj" fmla="val 4444"/>
            </a:avLst>
          </a:prstGeom>
          <a:solidFill>
            <a:srgbClr val="111827"/>
          </a:solidFill>
          <a:ln w="12700">
            <a:solidFill>
              <a:srgbClr val="1E293B"/>
            </a:solidFill>
            <a:prstDash val="solid"/>
          </a:ln>
        </p:spPr>
      </p:sp>
      <p:sp>
        <p:nvSpPr>
          <p:cNvPr id="21" name="Text 19"/>
          <p:cNvSpPr/>
          <p:nvPr/>
        </p:nvSpPr>
        <p:spPr>
          <a:xfrm>
            <a:off x="6492240" y="1737360"/>
            <a:ext cx="1920240" cy="548640"/>
          </a:xfrm>
          <a:prstGeom prst="rect">
            <a:avLst/>
          </a:prstGeom>
          <a:noFill/>
          <a:ln/>
        </p:spPr>
        <p:txBody>
          <a:bodyPr wrap="square" rtlCol="0" anchor="ctr"/>
          <a:lstStyle/>
          <a:p>
            <a:pPr indent="0" marL="0">
              <a:buNone/>
            </a:pPr>
            <a:r>
              <a:rPr lang="en-US" sz="3200" b="1" dirty="0">
                <a:solidFill>
                  <a:srgbClr val="FF6B35"/>
                </a:solidFill>
                <a:latin typeface="Segoe UI" pitchFamily="34" charset="0"/>
                <a:ea typeface="Segoe UI" pitchFamily="34" charset="-122"/>
                <a:cs typeface="Segoe UI" pitchFamily="34" charset="-120"/>
              </a:rPr>
              <a:t>03</a:t>
            </a:r>
            <a:endParaRPr lang="en-US" sz="3200" dirty="0"/>
          </a:p>
        </p:txBody>
      </p:sp>
      <p:sp>
        <p:nvSpPr>
          <p:cNvPr id="22" name="Text 20"/>
          <p:cNvSpPr/>
          <p:nvPr/>
        </p:nvSpPr>
        <p:spPr>
          <a:xfrm>
            <a:off x="6492240" y="2377440"/>
            <a:ext cx="1920240" cy="548640"/>
          </a:xfrm>
          <a:prstGeom prst="rect">
            <a:avLst/>
          </a:prstGeom>
          <a:noFill/>
          <a:ln/>
        </p:spPr>
        <p:txBody>
          <a:bodyPr wrap="square" rtlCol="0" anchor="ctr"/>
          <a:lstStyle/>
          <a:p>
            <a:pPr indent="0" marL="0">
              <a:buNone/>
            </a:pPr>
            <a:r>
              <a:rPr lang="en-US" sz="1600" b="1" dirty="0">
                <a:solidFill>
                  <a:srgbClr val="F8FAFC"/>
                </a:solidFill>
                <a:latin typeface="Segoe UI" pitchFamily="34" charset="0"/>
                <a:ea typeface="Segoe UI" pitchFamily="34" charset="-122"/>
                <a:cs typeface="Segoe UI" pitchFamily="34" charset="-120"/>
              </a:rPr>
              <a:t>SMS &amp; WhatsApp Alerts</a:t>
            </a:r>
            <a:endParaRPr lang="en-US" sz="1600" dirty="0"/>
          </a:p>
        </p:txBody>
      </p:sp>
      <p:sp>
        <p:nvSpPr>
          <p:cNvPr id="23" name="Shape 21"/>
          <p:cNvSpPr/>
          <p:nvPr/>
        </p:nvSpPr>
        <p:spPr>
          <a:xfrm>
            <a:off x="6492240" y="3017520"/>
            <a:ext cx="1920240" cy="274320"/>
          </a:xfrm>
          <a:prstGeom prst="roundRect">
            <a:avLst>
              <a:gd name="adj" fmla="val 26667"/>
            </a:avLst>
          </a:prstGeom>
          <a:solidFill>
            <a:srgbClr val="0F172A"/>
          </a:solidFill>
          <a:ln w="12700">
            <a:solidFill>
              <a:srgbClr val="334155"/>
            </a:solidFill>
            <a:prstDash val="solid"/>
          </a:ln>
        </p:spPr>
      </p:sp>
      <p:sp>
        <p:nvSpPr>
          <p:cNvPr id="24" name="Text 22"/>
          <p:cNvSpPr/>
          <p:nvPr/>
        </p:nvSpPr>
        <p:spPr>
          <a:xfrm>
            <a:off x="6492240" y="3017520"/>
            <a:ext cx="1920240" cy="274320"/>
          </a:xfrm>
          <a:prstGeom prst="rect">
            <a:avLst/>
          </a:prstGeom>
          <a:noFill/>
          <a:ln/>
        </p:spPr>
        <p:txBody>
          <a:bodyPr wrap="square" rtlCol="0" anchor="ctr"/>
          <a:lstStyle/>
          <a:p>
            <a:pPr algn="ctr" indent="0" marL="0">
              <a:buNone/>
            </a:pPr>
            <a:r>
              <a:rPr lang="en-US" sz="950" b="1" dirty="0">
                <a:solidFill>
                  <a:srgbClr val="F4B942"/>
                </a:solidFill>
                <a:latin typeface="Segoe UI" pitchFamily="34" charset="0"/>
                <a:ea typeface="Segoe UI" pitchFamily="34" charset="-122"/>
                <a:cs typeface="Segoe UI" pitchFamily="34" charset="-120"/>
              </a:rPr>
              <a:t>Twilio Cloud Webhooks</a:t>
            </a:r>
            <a:endParaRPr lang="en-US" sz="950" dirty="0"/>
          </a:p>
        </p:txBody>
      </p:sp>
      <p:sp>
        <p:nvSpPr>
          <p:cNvPr id="25" name="Text 23"/>
          <p:cNvSpPr/>
          <p:nvPr/>
        </p:nvSpPr>
        <p:spPr>
          <a:xfrm>
            <a:off x="6492240" y="3474720"/>
            <a:ext cx="1920240" cy="2194560"/>
          </a:xfrm>
          <a:prstGeom prst="rect">
            <a:avLst/>
          </a:prstGeom>
          <a:noFill/>
          <a:ln/>
        </p:spPr>
        <p:txBody>
          <a:bodyPr wrap="square" rtlCol="0" anchor="ctr"/>
          <a:lstStyle/>
          <a:p>
            <a:pPr indent="0" marL="0">
              <a:lnSpc>
                <a:spcPts val="1800"/>
              </a:lnSpc>
              <a:buNone/>
            </a:pPr>
            <a:r>
              <a:rPr lang="en-US" sz="1200" dirty="0">
                <a:solidFill>
                  <a:srgbClr val="94A3B8"/>
                </a:solidFill>
                <a:latin typeface="Segoe UI" pitchFamily="34" charset="0"/>
                <a:ea typeface="Segoe UI" pitchFamily="34" charset="-122"/>
                <a:cs typeface="Segoe UI" pitchFamily="34" charset="-120"/>
              </a:rPr>
              <a:t>Automated dispatch notifications, OTP verification at delivery handover, and live order confirmation alerts to customer phone.</a:t>
            </a:r>
            <a:endParaRPr lang="en-US" sz="1200" dirty="0"/>
          </a:p>
        </p:txBody>
      </p:sp>
      <p:sp>
        <p:nvSpPr>
          <p:cNvPr id="26" name="Shape 24"/>
          <p:cNvSpPr/>
          <p:nvPr/>
        </p:nvSpPr>
        <p:spPr>
          <a:xfrm>
            <a:off x="8961120" y="1463040"/>
            <a:ext cx="2468880" cy="4480560"/>
          </a:xfrm>
          <a:prstGeom prst="roundRect">
            <a:avLst>
              <a:gd name="adj" fmla="val 4444"/>
            </a:avLst>
          </a:prstGeom>
          <a:solidFill>
            <a:srgbClr val="111827"/>
          </a:solidFill>
          <a:ln w="12700">
            <a:solidFill>
              <a:srgbClr val="1E293B"/>
            </a:solidFill>
            <a:prstDash val="solid"/>
          </a:ln>
        </p:spPr>
      </p:sp>
      <p:sp>
        <p:nvSpPr>
          <p:cNvPr id="27" name="Text 25"/>
          <p:cNvSpPr/>
          <p:nvPr/>
        </p:nvSpPr>
        <p:spPr>
          <a:xfrm>
            <a:off x="9235440" y="1737360"/>
            <a:ext cx="1920240" cy="548640"/>
          </a:xfrm>
          <a:prstGeom prst="rect">
            <a:avLst/>
          </a:prstGeom>
          <a:noFill/>
          <a:ln/>
        </p:spPr>
        <p:txBody>
          <a:bodyPr wrap="square" rtlCol="0" anchor="ctr"/>
          <a:lstStyle/>
          <a:p>
            <a:pPr indent="0" marL="0">
              <a:buNone/>
            </a:pPr>
            <a:r>
              <a:rPr lang="en-US" sz="3200" b="1" dirty="0">
                <a:solidFill>
                  <a:srgbClr val="FF6B35"/>
                </a:solidFill>
                <a:latin typeface="Segoe UI" pitchFamily="34" charset="0"/>
                <a:ea typeface="Segoe UI" pitchFamily="34" charset="-122"/>
                <a:cs typeface="Segoe UI" pitchFamily="34" charset="-120"/>
              </a:rPr>
              <a:t>04</a:t>
            </a:r>
            <a:endParaRPr lang="en-US" sz="3200" dirty="0"/>
          </a:p>
        </p:txBody>
      </p:sp>
      <p:sp>
        <p:nvSpPr>
          <p:cNvPr id="28" name="Text 26"/>
          <p:cNvSpPr/>
          <p:nvPr/>
        </p:nvSpPr>
        <p:spPr>
          <a:xfrm>
            <a:off x="9235440" y="2377440"/>
            <a:ext cx="1920240" cy="548640"/>
          </a:xfrm>
          <a:prstGeom prst="rect">
            <a:avLst/>
          </a:prstGeom>
          <a:noFill/>
          <a:ln/>
        </p:spPr>
        <p:txBody>
          <a:bodyPr wrap="square" rtlCol="0" anchor="ctr"/>
          <a:lstStyle/>
          <a:p>
            <a:pPr indent="0" marL="0">
              <a:buNone/>
            </a:pPr>
            <a:r>
              <a:rPr lang="en-US" sz="1600" b="1" dirty="0">
                <a:solidFill>
                  <a:srgbClr val="F8FAFC"/>
                </a:solidFill>
                <a:latin typeface="Segoe UI" pitchFamily="34" charset="0"/>
                <a:ea typeface="Segoe UI" pitchFamily="34" charset="-122"/>
                <a:cs typeface="Segoe UI" pitchFamily="34" charset="-120"/>
              </a:rPr>
              <a:t>Admin Analytics Portal</a:t>
            </a:r>
            <a:endParaRPr lang="en-US" sz="1600" dirty="0"/>
          </a:p>
        </p:txBody>
      </p:sp>
      <p:sp>
        <p:nvSpPr>
          <p:cNvPr id="29" name="Shape 27"/>
          <p:cNvSpPr/>
          <p:nvPr/>
        </p:nvSpPr>
        <p:spPr>
          <a:xfrm>
            <a:off x="9235440" y="3017520"/>
            <a:ext cx="1920240" cy="274320"/>
          </a:xfrm>
          <a:prstGeom prst="roundRect">
            <a:avLst>
              <a:gd name="adj" fmla="val 26667"/>
            </a:avLst>
          </a:prstGeom>
          <a:solidFill>
            <a:srgbClr val="0F172A"/>
          </a:solidFill>
          <a:ln w="12700">
            <a:solidFill>
              <a:srgbClr val="334155"/>
            </a:solidFill>
            <a:prstDash val="solid"/>
          </a:ln>
        </p:spPr>
      </p:sp>
      <p:sp>
        <p:nvSpPr>
          <p:cNvPr id="30" name="Text 28"/>
          <p:cNvSpPr/>
          <p:nvPr/>
        </p:nvSpPr>
        <p:spPr>
          <a:xfrm>
            <a:off x="9235440" y="3017520"/>
            <a:ext cx="1920240" cy="274320"/>
          </a:xfrm>
          <a:prstGeom prst="rect">
            <a:avLst/>
          </a:prstGeom>
          <a:noFill/>
          <a:ln/>
        </p:spPr>
        <p:txBody>
          <a:bodyPr wrap="square" rtlCol="0" anchor="ctr"/>
          <a:lstStyle/>
          <a:p>
            <a:pPr algn="ctr" indent="0" marL="0">
              <a:buNone/>
            </a:pPr>
            <a:r>
              <a:rPr lang="en-US" sz="950" b="1" dirty="0">
                <a:solidFill>
                  <a:srgbClr val="F4B942"/>
                </a:solidFill>
                <a:latin typeface="Segoe UI" pitchFamily="34" charset="0"/>
                <a:ea typeface="Segoe UI" pitchFamily="34" charset="-122"/>
                <a:cs typeface="Segoe UI" pitchFamily="34" charset="-120"/>
              </a:rPr>
              <a:t>Chart.js &amp; Aggregation SQL</a:t>
            </a:r>
            <a:endParaRPr lang="en-US" sz="950" dirty="0"/>
          </a:p>
        </p:txBody>
      </p:sp>
      <p:sp>
        <p:nvSpPr>
          <p:cNvPr id="31" name="Text 29"/>
          <p:cNvSpPr/>
          <p:nvPr/>
        </p:nvSpPr>
        <p:spPr>
          <a:xfrm>
            <a:off x="9235440" y="3474720"/>
            <a:ext cx="1920240" cy="2194560"/>
          </a:xfrm>
          <a:prstGeom prst="rect">
            <a:avLst/>
          </a:prstGeom>
          <a:noFill/>
          <a:ln/>
        </p:spPr>
        <p:txBody>
          <a:bodyPr wrap="square" rtlCol="0" anchor="ctr"/>
          <a:lstStyle/>
          <a:p>
            <a:pPr indent="0" marL="0">
              <a:lnSpc>
                <a:spcPts val="1800"/>
              </a:lnSpc>
              <a:buNone/>
            </a:pPr>
            <a:r>
              <a:rPr lang="en-US" sz="1200" dirty="0">
                <a:solidFill>
                  <a:srgbClr val="94A3B8"/>
                </a:solidFill>
                <a:latin typeface="Segoe UI" pitchFamily="34" charset="0"/>
                <a:ea typeface="Segoe UI" pitchFamily="34" charset="-122"/>
                <a:cs typeface="Segoe UI" pitchFamily="34" charset="-120"/>
              </a:rPr>
              <a:t>Interactive business dashboard with revenue charts, top-selling dishes, peak dining hours, and delivery fleet velocity metrics.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TAP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FoodHouse — TAP Academy Full Stack Project Presentation</dc:title>
  <dc:subject>Java Full Stack Final Project Evaluation</dc:subject>
  <dc:creator>Ganesh K (Ganeshk-39)</dc:creator>
  <cp:lastModifiedBy>Ganesh K (Ganeshk-39)</cp:lastModifiedBy>
  <cp:revision>1</cp:revision>
  <dcterms:created xsi:type="dcterms:W3CDTF">2026-10-22T06:53:11Z</dcterms:created>
  <dcterms:modified xsi:type="dcterms:W3CDTF">2026-10-22T06:53:11Z</dcterms:modified>
</cp:coreProperties>
</file>