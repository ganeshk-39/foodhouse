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panel members. My project is FoodHouse, a Java-based food ordering web application developed using pure Core Java, Jakarta Servlets, JSP, and MySQL. It allows users across Bangalore to browse 30 dining establishments, explore 360 curated dishes, manage a shopping cart, and track order status transitions. Built strictly on core Java Web fundamentals without external frameworks, it demonstrates complete mastery of MVC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technology stack, I strictly used the technologies implemented in the source code. The backend runs on Java 21 LTS and Jakarta Servlets 6.0 with Apache Tomcat 10.1. Data persistence is handled via MySQL 8.0 and JDBC with PreparedStatement parameterized queries. The frontend uses dynamic JSP, modern CSS, and JavaScript. Password security uses jBCrypt. Notice that no heavy frameworks like Spring Boot or Hibernate are used, verifying complete foundational competency.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authentic Eclipse Dynamic Web Project structure directly from our workspace. Following the MVC architecture: `com.tap.controller` contains 14 Servlets orchestrating HTTP requests; `com.tap.model` contains 7 POJOs; `com.tap.DAO` and `DAOImpl` provide decoupled database access; `com.tap.util` manages database connectivity and dynamic order lifecycle logic. The `src/main/webapp` folder houses all JSPs, CSS, and WEB-INF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database ER diagram with five normalized relational tables in MySQL. The `user` table stores customer credentials with BCrypt hashes. The `restaurant` table stores 30 outlets. The `menu` table holds 360 dishes mapped via `restaurantId`. When an order is placed, a record is created in `orders`, which branches into multiple `order_item` records capturing quantities and line totals. All foreign keys enforce cascading deletes to maintain referential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our live application flow, this is the Home and Restaurant Discovery page rendered by `Restaurant.jsp`. It displays Bangalore restaurants with ratings, cuisine tags, and delivery estimates. Users can filter by location, search dishes by keyword, and adjust simulated delivery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our unified Authentication portal. Login and registration are integrated into a single tabbed modal. LoginController and RegisterController secure every password using salted BCrypt. Once authenticated, an HttpSession is established, preserving the user identity through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selects a restaurant, MenuController loads Menu.jsp. Here you see Meghana Foods featuring 12 curated dishes with food photography, pricing, and veg/non-veg tags. Clicking "+ ADD" updates the cart asynchronously without page reloads or scroll jumps.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Cart.jsp, our Cart model computes item subtotals, packaging charges, delivery fees, and taxes dynamically. Users can adjust quantities or remove items with instant total recalculation. Cart items are stored in the user session so nothing is lost while browsing.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Checkout page brings together delivery address selection and payment mode choice. Users can pick Cash on Delivery, UPI, or Card payments. Placing an order triggers OrderController, which writes to both orders and order_item tables within an atomic database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checkout, the user is redirected to OrderHistory.jsp. Driven by our OrderLifecycleManager, orders progress dynamically through 5 stages: Confirmed, Kitchen Accepted, Food Ready, On The Way, and Delivered, providing transparent order status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standard base requirements, I implemented four key innovations: First, an Order Lifecycle Finite State Machine in OrderLifecycleManager simulating delivery milestones. Second, BCrypt password hashing for database security. Third, a zero-jump asynchronous menu cart interaction that prevents jarring page reloads. And fourth, a dual Dark/Light mode theme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core algorithm, I designed the OrderLifecycleManager finite state machine. Input: active order record and timestamp. Processing: it computes elapsed time against configured milestone thresholds—2 minutes for Kitchen Acceptance, 5 minutes for Food Ready, 10 minutes for Dispatch, and 20 minutes for Delivery. Monotonic forward-only logic guarantees that terminal states like Delivered cannot regress. Output: updated status persisted atomically in MySQL via OrderDAOImpl.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challenge I faced was viewport scroll disorientation during menu interactions. When clicking "+ ADD" on bottom items, the standard form submission caused a full-page refresh, resetting scroll position to zero. Root cause: default browser unload behavior on POST forms. Solution: I re-engineered dish buttons with asynchronous fetch calls and scroll anchor retention. Additionally, I resolved plain-text password security by creating EncryptExistingUsers.java to auto-migrate legacy records to BCrypt. We validated the fix using Microsoft Edge CDP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future roadmap, I have four realistic enhancements planned: first, integrating live payments via Razorpay; second, real-time GPS map tracking with Google Maps API; third, automated SMS and WhatsApp delivery alerts via Twilio; and fourth, an analytics dashboard for restaurant managers with revenue and order heatmaps.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1 • PROJECT INTRODUCTION</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FoodHouse — Java Web Food Ordering Application</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sp>
        <p:nvSpPr>
          <p:cNvPr id="8" name="Shape 6"/>
          <p:cNvSpPr/>
          <p:nvPr/>
        </p:nvSpPr>
        <p:spPr>
          <a:xfrm>
            <a:off x="731520" y="1417320"/>
            <a:ext cx="10698480" cy="1828800"/>
          </a:xfrm>
          <a:prstGeom prst="roundRect">
            <a:avLst>
              <a:gd name="adj" fmla="val 6000"/>
            </a:avLst>
          </a:prstGeom>
          <a:solidFill>
            <a:srgbClr val="111827"/>
          </a:solidFill>
          <a:ln w="25400">
            <a:solidFill>
              <a:srgbClr val="FF6B35"/>
            </a:solidFill>
            <a:prstDash val="solid"/>
          </a:ln>
        </p:spPr>
      </p:sp>
      <p:sp>
        <p:nvSpPr>
          <p:cNvPr id="9" name="Text 7"/>
          <p:cNvSpPr/>
          <p:nvPr/>
        </p:nvSpPr>
        <p:spPr>
          <a:xfrm>
            <a:off x="1097280" y="1600200"/>
            <a:ext cx="9966960" cy="274320"/>
          </a:xfrm>
          <a:prstGeom prst="rect">
            <a:avLst/>
          </a:prstGeom>
          <a:noFill/>
          <a:ln/>
        </p:spPr>
        <p:txBody>
          <a:bodyPr wrap="square" rtlCol="0" anchor="ctr"/>
          <a:lstStyle/>
          <a:p>
            <a:pPr indent="0" marL="0">
              <a:buNone/>
            </a:pPr>
            <a:r>
              <a:rPr lang="en-US" sz="1200" b="1" dirty="0">
                <a:solidFill>
                  <a:srgbClr val="F4B942"/>
                </a:solidFill>
                <a:latin typeface="Segoe UI" pitchFamily="34" charset="0"/>
                <a:ea typeface="Segoe UI" pitchFamily="34" charset="-122"/>
                <a:cs typeface="Segoe UI" pitchFamily="34" charset="-120"/>
              </a:rPr>
              <a:t>PROJECT DEFINITION</a:t>
            </a:r>
            <a:endParaRPr lang="en-US" sz="1200" dirty="0"/>
          </a:p>
        </p:txBody>
      </p:sp>
      <p:sp>
        <p:nvSpPr>
          <p:cNvPr id="10" name="Text 8"/>
          <p:cNvSpPr/>
          <p:nvPr/>
        </p:nvSpPr>
        <p:spPr>
          <a:xfrm>
            <a:off x="1097280" y="1965960"/>
            <a:ext cx="9966960" cy="1097280"/>
          </a:xfrm>
          <a:prstGeom prst="rect">
            <a:avLst/>
          </a:prstGeom>
          <a:noFill/>
          <a:ln/>
        </p:spPr>
        <p:txBody>
          <a:bodyPr wrap="square" rtlCol="0" anchor="ctr"/>
          <a:lstStyle/>
          <a:p>
            <a:pPr indent="0" marL="0">
              <a:lnSpc>
                <a:spcPts val="2800"/>
              </a:lnSpc>
              <a:buNone/>
            </a:pPr>
            <a:r>
              <a:rPr lang="en-US" sz="1800" b="1" dirty="0">
                <a:solidFill>
                  <a:srgbClr val="F8FAFC"/>
                </a:solidFill>
                <a:latin typeface="Segoe UI" pitchFamily="34" charset="0"/>
                <a:ea typeface="Segoe UI" pitchFamily="34" charset="-122"/>
                <a:cs typeface="Segoe UI" pitchFamily="34" charset="-120"/>
              </a:rPr>
              <a:t>"FoodHouse is a Java-based food ordering web application that allows users to explore local restaurants, browse dish menus, manage a shopping cart, and place food orders with simulated order status tracking through a web interface."</a:t>
            </a:r>
            <a:endParaRPr lang="en-US" sz="1800" dirty="0"/>
          </a:p>
        </p:txBody>
      </p:sp>
      <p:sp>
        <p:nvSpPr>
          <p:cNvPr id="11" name="Shape 9"/>
          <p:cNvSpPr/>
          <p:nvPr/>
        </p:nvSpPr>
        <p:spPr>
          <a:xfrm>
            <a:off x="731520" y="3520440"/>
            <a:ext cx="2468880" cy="2560320"/>
          </a:xfrm>
          <a:prstGeom prst="roundRect">
            <a:avLst>
              <a:gd name="adj" fmla="val 4444"/>
            </a:avLst>
          </a:prstGeom>
          <a:solidFill>
            <a:srgbClr val="111827"/>
          </a:solidFill>
          <a:ln w="12700">
            <a:solidFill>
              <a:srgbClr val="1E293B"/>
            </a:solidFill>
            <a:prstDash val="solid"/>
          </a:ln>
        </p:spPr>
      </p:sp>
      <p:sp>
        <p:nvSpPr>
          <p:cNvPr id="12" name="Text 10"/>
          <p:cNvSpPr/>
          <p:nvPr/>
        </p:nvSpPr>
        <p:spPr>
          <a:xfrm>
            <a:off x="731520" y="3794760"/>
            <a:ext cx="2468880" cy="731520"/>
          </a:xfrm>
          <a:prstGeom prst="rect">
            <a:avLst/>
          </a:prstGeom>
          <a:noFill/>
          <a:ln/>
        </p:spPr>
        <p:txBody>
          <a:bodyPr wrap="square" rtlCol="0" anchor="ctr"/>
          <a:lstStyle/>
          <a:p>
            <a:pPr algn="ctr" indent="0" marL="0">
              <a:buNone/>
            </a:pPr>
            <a:r>
              <a:rPr lang="en-US" sz="3800" b="1" dirty="0">
                <a:solidFill>
                  <a:srgbClr val="FF6B35"/>
                </a:solidFill>
                <a:latin typeface="Segoe UI" pitchFamily="34" charset="0"/>
                <a:ea typeface="Segoe UI" pitchFamily="34" charset="-122"/>
                <a:cs typeface="Segoe UI" pitchFamily="34" charset="-120"/>
              </a:rPr>
              <a:t>30</a:t>
            </a:r>
            <a:endParaRPr lang="en-US" sz="3800" dirty="0"/>
          </a:p>
        </p:txBody>
      </p:sp>
      <p:sp>
        <p:nvSpPr>
          <p:cNvPr id="13" name="Text 11"/>
          <p:cNvSpPr/>
          <p:nvPr/>
        </p:nvSpPr>
        <p:spPr>
          <a:xfrm>
            <a:off x="868680" y="4617720"/>
            <a:ext cx="2194560" cy="457200"/>
          </a:xfrm>
          <a:prstGeom prst="rect">
            <a:avLst/>
          </a:prstGeom>
          <a:noFill/>
          <a:ln/>
        </p:spPr>
        <p:txBody>
          <a:bodyPr wrap="square" rtlCol="0" anchor="ctr"/>
          <a:lstStyle/>
          <a:p>
            <a:pPr algn="ctr" indent="0" marL="0">
              <a:buNone/>
            </a:pPr>
            <a:r>
              <a:rPr lang="en-US" sz="1350" b="1" dirty="0">
                <a:solidFill>
                  <a:srgbClr val="F8FAFC"/>
                </a:solidFill>
                <a:latin typeface="Segoe UI" pitchFamily="34" charset="0"/>
                <a:ea typeface="Segoe UI" pitchFamily="34" charset="-122"/>
                <a:cs typeface="Segoe UI" pitchFamily="34" charset="-120"/>
              </a:rPr>
              <a:t>Bangalore Restaurants</a:t>
            </a:r>
            <a:endParaRPr lang="en-US" sz="1350" dirty="0"/>
          </a:p>
        </p:txBody>
      </p:sp>
      <p:sp>
        <p:nvSpPr>
          <p:cNvPr id="14" name="Text 12"/>
          <p:cNvSpPr/>
          <p:nvPr/>
        </p:nvSpPr>
        <p:spPr>
          <a:xfrm>
            <a:off x="868680" y="5166360"/>
            <a:ext cx="2194560" cy="640080"/>
          </a:xfrm>
          <a:prstGeom prst="rect">
            <a:avLst/>
          </a:prstGeom>
          <a:noFill/>
          <a:ln/>
        </p:spPr>
        <p:txBody>
          <a:bodyPr wrap="square" rtlCol="0" anchor="ctr"/>
          <a:lstStyle/>
          <a:p>
            <a:pPr algn="ctr" indent="0" marL="0">
              <a:lnSpc>
                <a:spcPts val="1600"/>
              </a:lnSpc>
              <a:buNone/>
            </a:pPr>
            <a:r>
              <a:rPr lang="en-US" sz="1100" dirty="0">
                <a:solidFill>
                  <a:srgbClr val="94A3B8"/>
                </a:solidFill>
                <a:latin typeface="Segoe UI" pitchFamily="34" charset="0"/>
                <a:ea typeface="Segoe UI" pitchFamily="34" charset="-122"/>
                <a:cs typeface="Segoe UI" pitchFamily="34" charset="-120"/>
              </a:rPr>
              <a:t>Indiranagar, Koramangala &amp; MG Road</a:t>
            </a:r>
            <a:endParaRPr lang="en-US" sz="1100" dirty="0"/>
          </a:p>
        </p:txBody>
      </p:sp>
      <p:sp>
        <p:nvSpPr>
          <p:cNvPr id="15" name="Shape 13"/>
          <p:cNvSpPr/>
          <p:nvPr/>
        </p:nvSpPr>
        <p:spPr>
          <a:xfrm>
            <a:off x="3474720" y="3520440"/>
            <a:ext cx="2468880" cy="2560320"/>
          </a:xfrm>
          <a:prstGeom prst="roundRect">
            <a:avLst>
              <a:gd name="adj" fmla="val 4444"/>
            </a:avLst>
          </a:prstGeom>
          <a:solidFill>
            <a:srgbClr val="111827"/>
          </a:solidFill>
          <a:ln w="12700">
            <a:solidFill>
              <a:srgbClr val="1E293B"/>
            </a:solidFill>
            <a:prstDash val="solid"/>
          </a:ln>
        </p:spPr>
      </p:sp>
      <p:sp>
        <p:nvSpPr>
          <p:cNvPr id="16" name="Text 14"/>
          <p:cNvSpPr/>
          <p:nvPr/>
        </p:nvSpPr>
        <p:spPr>
          <a:xfrm>
            <a:off x="3474720" y="3794760"/>
            <a:ext cx="2468880" cy="731520"/>
          </a:xfrm>
          <a:prstGeom prst="rect">
            <a:avLst/>
          </a:prstGeom>
          <a:noFill/>
          <a:ln/>
        </p:spPr>
        <p:txBody>
          <a:bodyPr wrap="square" rtlCol="0" anchor="ctr"/>
          <a:lstStyle/>
          <a:p>
            <a:pPr algn="ctr" indent="0" marL="0">
              <a:buNone/>
            </a:pPr>
            <a:r>
              <a:rPr lang="en-US" sz="3800" b="1" dirty="0">
                <a:solidFill>
                  <a:srgbClr val="FF6B35"/>
                </a:solidFill>
                <a:latin typeface="Segoe UI" pitchFamily="34" charset="0"/>
                <a:ea typeface="Segoe UI" pitchFamily="34" charset="-122"/>
                <a:cs typeface="Segoe UI" pitchFamily="34" charset="-120"/>
              </a:rPr>
              <a:t>360</a:t>
            </a:r>
            <a:endParaRPr lang="en-US" sz="3800" dirty="0"/>
          </a:p>
        </p:txBody>
      </p:sp>
      <p:sp>
        <p:nvSpPr>
          <p:cNvPr id="17" name="Text 15"/>
          <p:cNvSpPr/>
          <p:nvPr/>
        </p:nvSpPr>
        <p:spPr>
          <a:xfrm>
            <a:off x="3611880" y="4617720"/>
            <a:ext cx="2194560" cy="457200"/>
          </a:xfrm>
          <a:prstGeom prst="rect">
            <a:avLst/>
          </a:prstGeom>
          <a:noFill/>
          <a:ln/>
        </p:spPr>
        <p:txBody>
          <a:bodyPr wrap="square" rtlCol="0" anchor="ctr"/>
          <a:lstStyle/>
          <a:p>
            <a:pPr algn="ctr" indent="0" marL="0">
              <a:buNone/>
            </a:pPr>
            <a:r>
              <a:rPr lang="en-US" sz="1350" b="1" dirty="0">
                <a:solidFill>
                  <a:srgbClr val="F8FAFC"/>
                </a:solidFill>
                <a:latin typeface="Segoe UI" pitchFamily="34" charset="0"/>
                <a:ea typeface="Segoe UI" pitchFamily="34" charset="-122"/>
                <a:cs typeface="Segoe UI" pitchFamily="34" charset="-120"/>
              </a:rPr>
              <a:t>Curated Menu Items</a:t>
            </a:r>
            <a:endParaRPr lang="en-US" sz="1350" dirty="0"/>
          </a:p>
        </p:txBody>
      </p:sp>
      <p:sp>
        <p:nvSpPr>
          <p:cNvPr id="18" name="Text 16"/>
          <p:cNvSpPr/>
          <p:nvPr/>
        </p:nvSpPr>
        <p:spPr>
          <a:xfrm>
            <a:off x="3611880" y="5166360"/>
            <a:ext cx="2194560" cy="640080"/>
          </a:xfrm>
          <a:prstGeom prst="rect">
            <a:avLst/>
          </a:prstGeom>
          <a:noFill/>
          <a:ln/>
        </p:spPr>
        <p:txBody>
          <a:bodyPr wrap="square" rtlCol="0" anchor="ctr"/>
          <a:lstStyle/>
          <a:p>
            <a:pPr algn="ctr" indent="0" marL="0">
              <a:lnSpc>
                <a:spcPts val="1600"/>
              </a:lnSpc>
              <a:buNone/>
            </a:pPr>
            <a:r>
              <a:rPr lang="en-US" sz="1100" dirty="0">
                <a:solidFill>
                  <a:srgbClr val="94A3B8"/>
                </a:solidFill>
                <a:latin typeface="Segoe UI" pitchFamily="34" charset="0"/>
                <a:ea typeface="Segoe UI" pitchFamily="34" charset="-122"/>
                <a:cs typeface="Segoe UI" pitchFamily="34" charset="-120"/>
              </a:rPr>
              <a:t>12 Curated Dishes per Restaurant in MySQL</a:t>
            </a:r>
            <a:endParaRPr lang="en-US" sz="1100" dirty="0"/>
          </a:p>
        </p:txBody>
      </p:sp>
      <p:sp>
        <p:nvSpPr>
          <p:cNvPr id="19" name="Shape 17"/>
          <p:cNvSpPr/>
          <p:nvPr/>
        </p:nvSpPr>
        <p:spPr>
          <a:xfrm>
            <a:off x="6217920" y="3520440"/>
            <a:ext cx="2468880" cy="2560320"/>
          </a:xfrm>
          <a:prstGeom prst="roundRect">
            <a:avLst>
              <a:gd name="adj" fmla="val 4444"/>
            </a:avLst>
          </a:prstGeom>
          <a:solidFill>
            <a:srgbClr val="111827"/>
          </a:solidFill>
          <a:ln w="12700">
            <a:solidFill>
              <a:srgbClr val="1E293B"/>
            </a:solidFill>
            <a:prstDash val="solid"/>
          </a:ln>
        </p:spPr>
      </p:sp>
      <p:sp>
        <p:nvSpPr>
          <p:cNvPr id="20" name="Text 18"/>
          <p:cNvSpPr/>
          <p:nvPr/>
        </p:nvSpPr>
        <p:spPr>
          <a:xfrm>
            <a:off x="6217920" y="3794760"/>
            <a:ext cx="2468880" cy="731520"/>
          </a:xfrm>
          <a:prstGeom prst="rect">
            <a:avLst/>
          </a:prstGeom>
          <a:noFill/>
          <a:ln/>
        </p:spPr>
        <p:txBody>
          <a:bodyPr wrap="square" rtlCol="0" anchor="ctr"/>
          <a:lstStyle/>
          <a:p>
            <a:pPr algn="ctr" indent="0" marL="0">
              <a:buNone/>
            </a:pPr>
            <a:r>
              <a:rPr lang="en-US" sz="3800" b="1" dirty="0">
                <a:solidFill>
                  <a:srgbClr val="FF6B35"/>
                </a:solidFill>
                <a:latin typeface="Segoe UI" pitchFamily="34" charset="0"/>
                <a:ea typeface="Segoe UI" pitchFamily="34" charset="-122"/>
                <a:cs typeface="Segoe UI" pitchFamily="34" charset="-120"/>
              </a:rPr>
              <a:t>14</a:t>
            </a:r>
            <a:endParaRPr lang="en-US" sz="3800" dirty="0"/>
          </a:p>
        </p:txBody>
      </p:sp>
      <p:sp>
        <p:nvSpPr>
          <p:cNvPr id="21" name="Text 19"/>
          <p:cNvSpPr/>
          <p:nvPr/>
        </p:nvSpPr>
        <p:spPr>
          <a:xfrm>
            <a:off x="6355080" y="4617720"/>
            <a:ext cx="2194560" cy="457200"/>
          </a:xfrm>
          <a:prstGeom prst="rect">
            <a:avLst/>
          </a:prstGeom>
          <a:noFill/>
          <a:ln/>
        </p:spPr>
        <p:txBody>
          <a:bodyPr wrap="square" rtlCol="0" anchor="ctr"/>
          <a:lstStyle/>
          <a:p>
            <a:pPr algn="ctr" indent="0" marL="0">
              <a:buNone/>
            </a:pPr>
            <a:r>
              <a:rPr lang="en-US" sz="1350" b="1" dirty="0">
                <a:solidFill>
                  <a:srgbClr val="F8FAFC"/>
                </a:solidFill>
                <a:latin typeface="Segoe UI" pitchFamily="34" charset="0"/>
                <a:ea typeface="Segoe UI" pitchFamily="34" charset="-122"/>
                <a:cs typeface="Segoe UI" pitchFamily="34" charset="-120"/>
              </a:rPr>
              <a:t>Jakarta Servlets</a:t>
            </a:r>
            <a:endParaRPr lang="en-US" sz="1350" dirty="0"/>
          </a:p>
        </p:txBody>
      </p:sp>
      <p:sp>
        <p:nvSpPr>
          <p:cNvPr id="22" name="Text 20"/>
          <p:cNvSpPr/>
          <p:nvPr/>
        </p:nvSpPr>
        <p:spPr>
          <a:xfrm>
            <a:off x="6355080" y="5166360"/>
            <a:ext cx="2194560" cy="640080"/>
          </a:xfrm>
          <a:prstGeom prst="rect">
            <a:avLst/>
          </a:prstGeom>
          <a:noFill/>
          <a:ln/>
        </p:spPr>
        <p:txBody>
          <a:bodyPr wrap="square" rtlCol="0" anchor="ctr"/>
          <a:lstStyle/>
          <a:p>
            <a:pPr algn="ctr" indent="0" marL="0">
              <a:lnSpc>
                <a:spcPts val="1600"/>
              </a:lnSpc>
              <a:buNone/>
            </a:pPr>
            <a:r>
              <a:rPr lang="en-US" sz="1100" dirty="0">
                <a:solidFill>
                  <a:srgbClr val="94A3B8"/>
                </a:solidFill>
                <a:latin typeface="Segoe UI" pitchFamily="34" charset="0"/>
                <a:ea typeface="Segoe UI" pitchFamily="34" charset="-122"/>
                <a:cs typeface="Segoe UI" pitchFamily="34" charset="-120"/>
              </a:rPr>
              <a:t>Core MVC HTTP Controller Architecture</a:t>
            </a:r>
            <a:endParaRPr lang="en-US" sz="1100" dirty="0"/>
          </a:p>
        </p:txBody>
      </p:sp>
      <p:sp>
        <p:nvSpPr>
          <p:cNvPr id="23" name="Shape 21"/>
          <p:cNvSpPr/>
          <p:nvPr/>
        </p:nvSpPr>
        <p:spPr>
          <a:xfrm>
            <a:off x="8961120" y="3520440"/>
            <a:ext cx="2468880" cy="2560320"/>
          </a:xfrm>
          <a:prstGeom prst="roundRect">
            <a:avLst>
              <a:gd name="adj" fmla="val 4444"/>
            </a:avLst>
          </a:prstGeom>
          <a:solidFill>
            <a:srgbClr val="111827"/>
          </a:solidFill>
          <a:ln w="12700">
            <a:solidFill>
              <a:srgbClr val="1E293B"/>
            </a:solidFill>
            <a:prstDash val="solid"/>
          </a:ln>
        </p:spPr>
      </p:sp>
      <p:sp>
        <p:nvSpPr>
          <p:cNvPr id="24" name="Text 22"/>
          <p:cNvSpPr/>
          <p:nvPr/>
        </p:nvSpPr>
        <p:spPr>
          <a:xfrm>
            <a:off x="8961120" y="3794760"/>
            <a:ext cx="2468880" cy="731520"/>
          </a:xfrm>
          <a:prstGeom prst="rect">
            <a:avLst/>
          </a:prstGeom>
          <a:noFill/>
          <a:ln/>
        </p:spPr>
        <p:txBody>
          <a:bodyPr wrap="square" rtlCol="0" anchor="ctr"/>
          <a:lstStyle/>
          <a:p>
            <a:pPr algn="ctr" indent="0" marL="0">
              <a:buNone/>
            </a:pPr>
            <a:r>
              <a:rPr lang="en-US" sz="3800" b="1" dirty="0">
                <a:solidFill>
                  <a:srgbClr val="FF6B35"/>
                </a:solidFill>
                <a:latin typeface="Segoe UI" pitchFamily="34" charset="0"/>
                <a:ea typeface="Segoe UI" pitchFamily="34" charset="-122"/>
                <a:cs typeface="Segoe UI" pitchFamily="34" charset="-120"/>
              </a:rPr>
              <a:t>5</a:t>
            </a:r>
            <a:endParaRPr lang="en-US" sz="3800" dirty="0"/>
          </a:p>
        </p:txBody>
      </p:sp>
      <p:sp>
        <p:nvSpPr>
          <p:cNvPr id="25" name="Text 23"/>
          <p:cNvSpPr/>
          <p:nvPr/>
        </p:nvSpPr>
        <p:spPr>
          <a:xfrm>
            <a:off x="9098280" y="4617720"/>
            <a:ext cx="2194560" cy="457200"/>
          </a:xfrm>
          <a:prstGeom prst="rect">
            <a:avLst/>
          </a:prstGeom>
          <a:noFill/>
          <a:ln/>
        </p:spPr>
        <p:txBody>
          <a:bodyPr wrap="square" rtlCol="0" anchor="ctr"/>
          <a:lstStyle/>
          <a:p>
            <a:pPr algn="ctr" indent="0" marL="0">
              <a:buNone/>
            </a:pPr>
            <a:r>
              <a:rPr lang="en-US" sz="1350" b="1" dirty="0">
                <a:solidFill>
                  <a:srgbClr val="F8FAFC"/>
                </a:solidFill>
                <a:latin typeface="Segoe UI" pitchFamily="34" charset="0"/>
                <a:ea typeface="Segoe UI" pitchFamily="34" charset="-122"/>
                <a:cs typeface="Segoe UI" pitchFamily="34" charset="-120"/>
              </a:rPr>
              <a:t>Relational Tables</a:t>
            </a:r>
            <a:endParaRPr lang="en-US" sz="1350" dirty="0"/>
          </a:p>
        </p:txBody>
      </p:sp>
      <p:sp>
        <p:nvSpPr>
          <p:cNvPr id="26" name="Text 24"/>
          <p:cNvSpPr/>
          <p:nvPr/>
        </p:nvSpPr>
        <p:spPr>
          <a:xfrm>
            <a:off x="9098280" y="5166360"/>
            <a:ext cx="2194560" cy="640080"/>
          </a:xfrm>
          <a:prstGeom prst="rect">
            <a:avLst/>
          </a:prstGeom>
          <a:noFill/>
          <a:ln/>
        </p:spPr>
        <p:txBody>
          <a:bodyPr wrap="square" rtlCol="0" anchor="ctr"/>
          <a:lstStyle/>
          <a:p>
            <a:pPr algn="ctr" indent="0" marL="0">
              <a:lnSpc>
                <a:spcPts val="1600"/>
              </a:lnSpc>
              <a:buNone/>
            </a:pPr>
            <a:r>
              <a:rPr lang="en-US" sz="1100" dirty="0">
                <a:solidFill>
                  <a:srgbClr val="94A3B8"/>
                </a:solidFill>
                <a:latin typeface="Segoe UI" pitchFamily="34" charset="0"/>
                <a:ea typeface="Segoe UI" pitchFamily="34" charset="-122"/>
                <a:cs typeface="Segoe UI" pitchFamily="34" charset="-120"/>
              </a:rPr>
              <a:t>MySQL 8.0 InnoDB with Foreign Keys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2 • TECHNOLOGY STACK</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Verified Production Technology Stack &amp; Tools</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sp>
        <p:nvSpPr>
          <p:cNvPr id="8" name="Shape 6"/>
          <p:cNvSpPr/>
          <p:nvPr/>
        </p:nvSpPr>
        <p:spPr>
          <a:xfrm>
            <a:off x="731520" y="1417320"/>
            <a:ext cx="2468880" cy="4754880"/>
          </a:xfrm>
          <a:prstGeom prst="roundRect">
            <a:avLst>
              <a:gd name="adj" fmla="val 4444"/>
            </a:avLst>
          </a:prstGeom>
          <a:solidFill>
            <a:srgbClr val="111827"/>
          </a:solidFill>
          <a:ln w="12700">
            <a:solidFill>
              <a:srgbClr val="1E293B"/>
            </a:solidFill>
            <a:prstDash val="solid"/>
          </a:ln>
        </p:spPr>
      </p:sp>
      <p:sp>
        <p:nvSpPr>
          <p:cNvPr id="9" name="Shape 7"/>
          <p:cNvSpPr/>
          <p:nvPr/>
        </p:nvSpPr>
        <p:spPr>
          <a:xfrm>
            <a:off x="1005840" y="1691640"/>
            <a:ext cx="1920240" cy="256032"/>
          </a:xfrm>
          <a:prstGeom prst="roundRect">
            <a:avLst>
              <a:gd name="adj" fmla="val 50000"/>
            </a:avLst>
          </a:prstGeom>
          <a:solidFill>
            <a:srgbClr val="1E293B"/>
          </a:solidFill>
          <a:ln w="12700">
            <a:solidFill>
              <a:srgbClr val="FF6B35"/>
            </a:solidFill>
            <a:prstDash val="solid"/>
          </a:ln>
        </p:spPr>
      </p:sp>
      <p:sp>
        <p:nvSpPr>
          <p:cNvPr id="10" name="Text 8"/>
          <p:cNvSpPr/>
          <p:nvPr/>
        </p:nvSpPr>
        <p:spPr>
          <a:xfrm>
            <a:off x="1005840" y="1691640"/>
            <a:ext cx="1920240" cy="256032"/>
          </a:xfrm>
          <a:prstGeom prst="rect">
            <a:avLst/>
          </a:prstGeom>
          <a:noFill/>
          <a:ln/>
        </p:spPr>
        <p:txBody>
          <a:bodyPr wrap="square" rtlCol="0" anchor="ctr"/>
          <a:lstStyle/>
          <a:p>
            <a:pPr algn="ctr" indent="0" marL="0">
              <a:buNone/>
            </a:pPr>
            <a:r>
              <a:rPr lang="en-US" sz="900" b="1" dirty="0">
                <a:solidFill>
                  <a:srgbClr val="FF6B35"/>
                </a:solidFill>
                <a:latin typeface="Segoe UI" pitchFamily="34" charset="0"/>
                <a:ea typeface="Segoe UI" pitchFamily="34" charset="-122"/>
                <a:cs typeface="Segoe UI" pitchFamily="34" charset="-120"/>
              </a:rPr>
              <a:t>CLIENT VIEW</a:t>
            </a:r>
            <a:endParaRPr lang="en-US" sz="900" dirty="0"/>
          </a:p>
        </p:txBody>
      </p:sp>
      <p:sp>
        <p:nvSpPr>
          <p:cNvPr id="11" name="Text 9"/>
          <p:cNvSpPr/>
          <p:nvPr/>
        </p:nvSpPr>
        <p:spPr>
          <a:xfrm>
            <a:off x="868680" y="2057400"/>
            <a:ext cx="2194560" cy="365760"/>
          </a:xfrm>
          <a:prstGeom prst="rect">
            <a:avLst/>
          </a:prstGeom>
          <a:noFill/>
          <a:ln/>
        </p:spPr>
        <p:txBody>
          <a:bodyPr wrap="square" rtlCol="0" anchor="ctr"/>
          <a:lstStyle/>
          <a:p>
            <a:pPr algn="ctr" indent="0" marL="0">
              <a:buNone/>
            </a:pPr>
            <a:r>
              <a:rPr lang="en-US" sz="1600" b="1" dirty="0">
                <a:solidFill>
                  <a:srgbClr val="F8FAFC"/>
                </a:solidFill>
                <a:latin typeface="Segoe UI" pitchFamily="34" charset="0"/>
                <a:ea typeface="Segoe UI" pitchFamily="34" charset="-122"/>
                <a:cs typeface="Segoe UI" pitchFamily="34" charset="-120"/>
              </a:rPr>
              <a:t>Frontend Tier</a:t>
            </a:r>
            <a:endParaRPr lang="en-US" sz="1600" dirty="0"/>
          </a:p>
        </p:txBody>
      </p:sp>
      <p:sp>
        <p:nvSpPr>
          <p:cNvPr id="12" name="Shape 10"/>
          <p:cNvSpPr/>
          <p:nvPr/>
        </p:nvSpPr>
        <p:spPr>
          <a:xfrm>
            <a:off x="914400" y="2606040"/>
            <a:ext cx="2103120" cy="685800"/>
          </a:xfrm>
          <a:prstGeom prst="roundRect">
            <a:avLst>
              <a:gd name="adj" fmla="val 10667"/>
            </a:avLst>
          </a:prstGeom>
          <a:solidFill>
            <a:srgbClr val="0F172A"/>
          </a:solidFill>
          <a:ln w="12700">
            <a:solidFill>
              <a:srgbClr val="1E293B"/>
            </a:solidFill>
            <a:prstDash val="solid"/>
          </a:ln>
        </p:spPr>
      </p:sp>
      <p:sp>
        <p:nvSpPr>
          <p:cNvPr id="13" name="Text 11"/>
          <p:cNvSpPr/>
          <p:nvPr/>
        </p:nvSpPr>
        <p:spPr>
          <a:xfrm>
            <a:off x="1005840" y="260604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HTML5 Semantic Markup</a:t>
            </a:r>
            <a:endParaRPr lang="en-US" sz="1050" dirty="0"/>
          </a:p>
        </p:txBody>
      </p:sp>
      <p:sp>
        <p:nvSpPr>
          <p:cNvPr id="14" name="Shape 12"/>
          <p:cNvSpPr/>
          <p:nvPr/>
        </p:nvSpPr>
        <p:spPr>
          <a:xfrm>
            <a:off x="914400" y="3474720"/>
            <a:ext cx="2103120" cy="685800"/>
          </a:xfrm>
          <a:prstGeom prst="roundRect">
            <a:avLst>
              <a:gd name="adj" fmla="val 10667"/>
            </a:avLst>
          </a:prstGeom>
          <a:solidFill>
            <a:srgbClr val="0F172A"/>
          </a:solidFill>
          <a:ln w="12700">
            <a:solidFill>
              <a:srgbClr val="1E293B"/>
            </a:solidFill>
            <a:prstDash val="solid"/>
          </a:ln>
        </p:spPr>
      </p:sp>
      <p:sp>
        <p:nvSpPr>
          <p:cNvPr id="15" name="Text 13"/>
          <p:cNvSpPr/>
          <p:nvPr/>
        </p:nvSpPr>
        <p:spPr>
          <a:xfrm>
            <a:off x="1005840" y="347472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CSS3 Glassmorphic Styling</a:t>
            </a:r>
            <a:endParaRPr lang="en-US" sz="1050" dirty="0"/>
          </a:p>
        </p:txBody>
      </p:sp>
      <p:sp>
        <p:nvSpPr>
          <p:cNvPr id="16" name="Shape 14"/>
          <p:cNvSpPr/>
          <p:nvPr/>
        </p:nvSpPr>
        <p:spPr>
          <a:xfrm>
            <a:off x="914400" y="4343400"/>
            <a:ext cx="2103120" cy="685800"/>
          </a:xfrm>
          <a:prstGeom prst="roundRect">
            <a:avLst>
              <a:gd name="adj" fmla="val 10667"/>
            </a:avLst>
          </a:prstGeom>
          <a:solidFill>
            <a:srgbClr val="0F172A"/>
          </a:solidFill>
          <a:ln w="12700">
            <a:solidFill>
              <a:srgbClr val="1E293B"/>
            </a:solidFill>
            <a:prstDash val="solid"/>
          </a:ln>
        </p:spPr>
      </p:sp>
      <p:sp>
        <p:nvSpPr>
          <p:cNvPr id="17" name="Text 15"/>
          <p:cNvSpPr/>
          <p:nvPr/>
        </p:nvSpPr>
        <p:spPr>
          <a:xfrm>
            <a:off x="1005840" y="434340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Vanilla JavaScript (DOM &amp; Fetch)</a:t>
            </a:r>
            <a:endParaRPr lang="en-US" sz="1050" dirty="0"/>
          </a:p>
        </p:txBody>
      </p:sp>
      <p:sp>
        <p:nvSpPr>
          <p:cNvPr id="18" name="Shape 16"/>
          <p:cNvSpPr/>
          <p:nvPr/>
        </p:nvSpPr>
        <p:spPr>
          <a:xfrm>
            <a:off x="914400" y="5212080"/>
            <a:ext cx="2103120" cy="685800"/>
          </a:xfrm>
          <a:prstGeom prst="roundRect">
            <a:avLst>
              <a:gd name="adj" fmla="val 10667"/>
            </a:avLst>
          </a:prstGeom>
          <a:solidFill>
            <a:srgbClr val="0F172A"/>
          </a:solidFill>
          <a:ln w="12700">
            <a:solidFill>
              <a:srgbClr val="1E293B"/>
            </a:solidFill>
            <a:prstDash val="solid"/>
          </a:ln>
        </p:spPr>
      </p:sp>
      <p:sp>
        <p:nvSpPr>
          <p:cNvPr id="19" name="Text 17"/>
          <p:cNvSpPr/>
          <p:nvPr/>
        </p:nvSpPr>
        <p:spPr>
          <a:xfrm>
            <a:off x="1005840" y="521208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JSP 2.3 &amp; JSTL Expression Lang.</a:t>
            </a:r>
            <a:endParaRPr lang="en-US" sz="1050" dirty="0"/>
          </a:p>
        </p:txBody>
      </p:sp>
      <p:sp>
        <p:nvSpPr>
          <p:cNvPr id="20" name="Shape 18"/>
          <p:cNvSpPr/>
          <p:nvPr/>
        </p:nvSpPr>
        <p:spPr>
          <a:xfrm>
            <a:off x="3474720" y="1417320"/>
            <a:ext cx="2468880" cy="4754880"/>
          </a:xfrm>
          <a:prstGeom prst="roundRect">
            <a:avLst>
              <a:gd name="adj" fmla="val 4444"/>
            </a:avLst>
          </a:prstGeom>
          <a:solidFill>
            <a:srgbClr val="111827"/>
          </a:solidFill>
          <a:ln w="12700">
            <a:solidFill>
              <a:srgbClr val="1E293B"/>
            </a:solidFill>
            <a:prstDash val="solid"/>
          </a:ln>
        </p:spPr>
      </p:sp>
      <p:sp>
        <p:nvSpPr>
          <p:cNvPr id="21" name="Shape 19"/>
          <p:cNvSpPr/>
          <p:nvPr/>
        </p:nvSpPr>
        <p:spPr>
          <a:xfrm>
            <a:off x="3749040" y="1691640"/>
            <a:ext cx="1920240" cy="256032"/>
          </a:xfrm>
          <a:prstGeom prst="roundRect">
            <a:avLst>
              <a:gd name="adj" fmla="val 50000"/>
            </a:avLst>
          </a:prstGeom>
          <a:solidFill>
            <a:srgbClr val="1E293B"/>
          </a:solidFill>
          <a:ln w="12700">
            <a:solidFill>
              <a:srgbClr val="38BDF8"/>
            </a:solidFill>
            <a:prstDash val="solid"/>
          </a:ln>
        </p:spPr>
      </p:sp>
      <p:sp>
        <p:nvSpPr>
          <p:cNvPr id="22" name="Text 20"/>
          <p:cNvSpPr/>
          <p:nvPr/>
        </p:nvSpPr>
        <p:spPr>
          <a:xfrm>
            <a:off x="3749040" y="1691640"/>
            <a:ext cx="1920240" cy="256032"/>
          </a:xfrm>
          <a:prstGeom prst="rect">
            <a:avLst/>
          </a:prstGeom>
          <a:noFill/>
          <a:ln/>
        </p:spPr>
        <p:txBody>
          <a:bodyPr wrap="square" rtlCol="0" anchor="ctr"/>
          <a:lstStyle/>
          <a:p>
            <a:pPr algn="ctr" indent="0" marL="0">
              <a:buNone/>
            </a:pPr>
            <a:r>
              <a:rPr lang="en-US" sz="900" b="1" dirty="0">
                <a:solidFill>
                  <a:srgbClr val="38BDF8"/>
                </a:solidFill>
                <a:latin typeface="Segoe UI" pitchFamily="34" charset="0"/>
                <a:ea typeface="Segoe UI" pitchFamily="34" charset="-122"/>
                <a:cs typeface="Segoe UI" pitchFamily="34" charset="-120"/>
              </a:rPr>
              <a:t>BUSINESS LOGIC</a:t>
            </a:r>
            <a:endParaRPr lang="en-US" sz="900" dirty="0"/>
          </a:p>
        </p:txBody>
      </p:sp>
      <p:sp>
        <p:nvSpPr>
          <p:cNvPr id="23" name="Text 21"/>
          <p:cNvSpPr/>
          <p:nvPr/>
        </p:nvSpPr>
        <p:spPr>
          <a:xfrm>
            <a:off x="3611880" y="2057400"/>
            <a:ext cx="2194560" cy="365760"/>
          </a:xfrm>
          <a:prstGeom prst="rect">
            <a:avLst/>
          </a:prstGeom>
          <a:noFill/>
          <a:ln/>
        </p:spPr>
        <p:txBody>
          <a:bodyPr wrap="square" rtlCol="0" anchor="ctr"/>
          <a:lstStyle/>
          <a:p>
            <a:pPr algn="ctr" indent="0" marL="0">
              <a:buNone/>
            </a:pPr>
            <a:r>
              <a:rPr lang="en-US" sz="1600" b="1" dirty="0">
                <a:solidFill>
                  <a:srgbClr val="F8FAFC"/>
                </a:solidFill>
                <a:latin typeface="Segoe UI" pitchFamily="34" charset="0"/>
                <a:ea typeface="Segoe UI" pitchFamily="34" charset="-122"/>
                <a:cs typeface="Segoe UI" pitchFamily="34" charset="-120"/>
              </a:rPr>
              <a:t>Backend Tier</a:t>
            </a:r>
            <a:endParaRPr lang="en-US" sz="1600" dirty="0"/>
          </a:p>
        </p:txBody>
      </p:sp>
      <p:sp>
        <p:nvSpPr>
          <p:cNvPr id="24" name="Shape 22"/>
          <p:cNvSpPr/>
          <p:nvPr/>
        </p:nvSpPr>
        <p:spPr>
          <a:xfrm>
            <a:off x="3657600" y="2606040"/>
            <a:ext cx="2103120" cy="685800"/>
          </a:xfrm>
          <a:prstGeom prst="roundRect">
            <a:avLst>
              <a:gd name="adj" fmla="val 10667"/>
            </a:avLst>
          </a:prstGeom>
          <a:solidFill>
            <a:srgbClr val="0F172A"/>
          </a:solidFill>
          <a:ln w="12700">
            <a:solidFill>
              <a:srgbClr val="1E293B"/>
            </a:solidFill>
            <a:prstDash val="solid"/>
          </a:ln>
        </p:spPr>
      </p:sp>
      <p:sp>
        <p:nvSpPr>
          <p:cNvPr id="25" name="Text 23"/>
          <p:cNvSpPr/>
          <p:nvPr/>
        </p:nvSpPr>
        <p:spPr>
          <a:xfrm>
            <a:off x="3749040" y="260604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Java SE 21 (LTS Release)</a:t>
            </a:r>
            <a:endParaRPr lang="en-US" sz="1050" dirty="0"/>
          </a:p>
        </p:txBody>
      </p:sp>
      <p:sp>
        <p:nvSpPr>
          <p:cNvPr id="26" name="Shape 24"/>
          <p:cNvSpPr/>
          <p:nvPr/>
        </p:nvSpPr>
        <p:spPr>
          <a:xfrm>
            <a:off x="3657600" y="3474720"/>
            <a:ext cx="2103120" cy="685800"/>
          </a:xfrm>
          <a:prstGeom prst="roundRect">
            <a:avLst>
              <a:gd name="adj" fmla="val 10667"/>
            </a:avLst>
          </a:prstGeom>
          <a:solidFill>
            <a:srgbClr val="0F172A"/>
          </a:solidFill>
          <a:ln w="12700">
            <a:solidFill>
              <a:srgbClr val="1E293B"/>
            </a:solidFill>
            <a:prstDash val="solid"/>
          </a:ln>
        </p:spPr>
      </p:sp>
      <p:sp>
        <p:nvSpPr>
          <p:cNvPr id="27" name="Text 25"/>
          <p:cNvSpPr/>
          <p:nvPr/>
        </p:nvSpPr>
        <p:spPr>
          <a:xfrm>
            <a:off x="3749040" y="347472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Jakarta Servlet 6.0 Specification</a:t>
            </a:r>
            <a:endParaRPr lang="en-US" sz="1050" dirty="0"/>
          </a:p>
        </p:txBody>
      </p:sp>
      <p:sp>
        <p:nvSpPr>
          <p:cNvPr id="28" name="Shape 26"/>
          <p:cNvSpPr/>
          <p:nvPr/>
        </p:nvSpPr>
        <p:spPr>
          <a:xfrm>
            <a:off x="3657600" y="4343400"/>
            <a:ext cx="2103120" cy="685800"/>
          </a:xfrm>
          <a:prstGeom prst="roundRect">
            <a:avLst>
              <a:gd name="adj" fmla="val 10667"/>
            </a:avLst>
          </a:prstGeom>
          <a:solidFill>
            <a:srgbClr val="0F172A"/>
          </a:solidFill>
          <a:ln w="12700">
            <a:solidFill>
              <a:srgbClr val="1E293B"/>
            </a:solidFill>
            <a:prstDash val="solid"/>
          </a:ln>
        </p:spPr>
      </p:sp>
      <p:sp>
        <p:nvSpPr>
          <p:cNvPr id="29" name="Text 27"/>
          <p:cNvSpPr/>
          <p:nvPr/>
        </p:nvSpPr>
        <p:spPr>
          <a:xfrm>
            <a:off x="3749040" y="434340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MVC Architectural Pattern</a:t>
            </a:r>
            <a:endParaRPr lang="en-US" sz="1050" dirty="0"/>
          </a:p>
        </p:txBody>
      </p:sp>
      <p:sp>
        <p:nvSpPr>
          <p:cNvPr id="30" name="Shape 28"/>
          <p:cNvSpPr/>
          <p:nvPr/>
        </p:nvSpPr>
        <p:spPr>
          <a:xfrm>
            <a:off x="3657600" y="5212080"/>
            <a:ext cx="2103120" cy="685800"/>
          </a:xfrm>
          <a:prstGeom prst="roundRect">
            <a:avLst>
              <a:gd name="adj" fmla="val 10667"/>
            </a:avLst>
          </a:prstGeom>
          <a:solidFill>
            <a:srgbClr val="0F172A"/>
          </a:solidFill>
          <a:ln w="12700">
            <a:solidFill>
              <a:srgbClr val="1E293B"/>
            </a:solidFill>
            <a:prstDash val="solid"/>
          </a:ln>
        </p:spPr>
      </p:sp>
      <p:sp>
        <p:nvSpPr>
          <p:cNvPr id="31" name="Text 29"/>
          <p:cNvSpPr/>
          <p:nvPr/>
        </p:nvSpPr>
        <p:spPr>
          <a:xfrm>
            <a:off x="3749040" y="521208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HttpSession State Management</a:t>
            </a:r>
            <a:endParaRPr lang="en-US" sz="1050" dirty="0"/>
          </a:p>
        </p:txBody>
      </p:sp>
      <p:sp>
        <p:nvSpPr>
          <p:cNvPr id="32" name="Shape 30"/>
          <p:cNvSpPr/>
          <p:nvPr/>
        </p:nvSpPr>
        <p:spPr>
          <a:xfrm>
            <a:off x="6217920" y="1417320"/>
            <a:ext cx="2468880" cy="4754880"/>
          </a:xfrm>
          <a:prstGeom prst="roundRect">
            <a:avLst>
              <a:gd name="adj" fmla="val 4444"/>
            </a:avLst>
          </a:prstGeom>
          <a:solidFill>
            <a:srgbClr val="111827"/>
          </a:solidFill>
          <a:ln w="12700">
            <a:solidFill>
              <a:srgbClr val="1E293B"/>
            </a:solidFill>
            <a:prstDash val="solid"/>
          </a:ln>
        </p:spPr>
      </p:sp>
      <p:sp>
        <p:nvSpPr>
          <p:cNvPr id="33" name="Shape 31"/>
          <p:cNvSpPr/>
          <p:nvPr/>
        </p:nvSpPr>
        <p:spPr>
          <a:xfrm>
            <a:off x="6492240" y="1691640"/>
            <a:ext cx="1920240" cy="256032"/>
          </a:xfrm>
          <a:prstGeom prst="roundRect">
            <a:avLst>
              <a:gd name="adj" fmla="val 50000"/>
            </a:avLst>
          </a:prstGeom>
          <a:solidFill>
            <a:srgbClr val="1E293B"/>
          </a:solidFill>
          <a:ln w="12700">
            <a:solidFill>
              <a:srgbClr val="10B981"/>
            </a:solidFill>
            <a:prstDash val="solid"/>
          </a:ln>
        </p:spPr>
      </p:sp>
      <p:sp>
        <p:nvSpPr>
          <p:cNvPr id="34" name="Text 32"/>
          <p:cNvSpPr/>
          <p:nvPr/>
        </p:nvSpPr>
        <p:spPr>
          <a:xfrm>
            <a:off x="6492240" y="1691640"/>
            <a:ext cx="1920240" cy="256032"/>
          </a:xfrm>
          <a:prstGeom prst="rect">
            <a:avLst/>
          </a:prstGeom>
          <a:noFill/>
          <a:ln/>
        </p:spPr>
        <p:txBody>
          <a:bodyPr wrap="square" rtlCol="0" anchor="ctr"/>
          <a:lstStyle/>
          <a:p>
            <a:pPr algn="ctr" indent="0" marL="0">
              <a:buNone/>
            </a:pPr>
            <a:r>
              <a:rPr lang="en-US" sz="900" b="1" dirty="0">
                <a:solidFill>
                  <a:srgbClr val="10B981"/>
                </a:solidFill>
                <a:latin typeface="Segoe UI" pitchFamily="34" charset="0"/>
                <a:ea typeface="Segoe UI" pitchFamily="34" charset="-122"/>
                <a:cs typeface="Segoe UI" pitchFamily="34" charset="-120"/>
              </a:rPr>
              <a:t>DATA PERSISTENCE</a:t>
            </a:r>
            <a:endParaRPr lang="en-US" sz="900" dirty="0"/>
          </a:p>
        </p:txBody>
      </p:sp>
      <p:sp>
        <p:nvSpPr>
          <p:cNvPr id="35" name="Text 33"/>
          <p:cNvSpPr/>
          <p:nvPr/>
        </p:nvSpPr>
        <p:spPr>
          <a:xfrm>
            <a:off x="6355080" y="2057400"/>
            <a:ext cx="2194560" cy="365760"/>
          </a:xfrm>
          <a:prstGeom prst="rect">
            <a:avLst/>
          </a:prstGeom>
          <a:noFill/>
          <a:ln/>
        </p:spPr>
        <p:txBody>
          <a:bodyPr wrap="square" rtlCol="0" anchor="ctr"/>
          <a:lstStyle/>
          <a:p>
            <a:pPr algn="ctr" indent="0" marL="0">
              <a:buNone/>
            </a:pPr>
            <a:r>
              <a:rPr lang="en-US" sz="1600" b="1" dirty="0">
                <a:solidFill>
                  <a:srgbClr val="F8FAFC"/>
                </a:solidFill>
                <a:latin typeface="Segoe UI" pitchFamily="34" charset="0"/>
                <a:ea typeface="Segoe UI" pitchFamily="34" charset="-122"/>
                <a:cs typeface="Segoe UI" pitchFamily="34" charset="-120"/>
              </a:rPr>
              <a:t>Database Tier</a:t>
            </a:r>
            <a:endParaRPr lang="en-US" sz="1600" dirty="0"/>
          </a:p>
        </p:txBody>
      </p:sp>
      <p:sp>
        <p:nvSpPr>
          <p:cNvPr id="36" name="Shape 34"/>
          <p:cNvSpPr/>
          <p:nvPr/>
        </p:nvSpPr>
        <p:spPr>
          <a:xfrm>
            <a:off x="6400800" y="2606040"/>
            <a:ext cx="2103120" cy="685800"/>
          </a:xfrm>
          <a:prstGeom prst="roundRect">
            <a:avLst>
              <a:gd name="adj" fmla="val 10667"/>
            </a:avLst>
          </a:prstGeom>
          <a:solidFill>
            <a:srgbClr val="0F172A"/>
          </a:solidFill>
          <a:ln w="12700">
            <a:solidFill>
              <a:srgbClr val="1E293B"/>
            </a:solidFill>
            <a:prstDash val="solid"/>
          </a:ln>
        </p:spPr>
      </p:sp>
      <p:sp>
        <p:nvSpPr>
          <p:cNvPr id="37" name="Text 35"/>
          <p:cNvSpPr/>
          <p:nvPr/>
        </p:nvSpPr>
        <p:spPr>
          <a:xfrm>
            <a:off x="6492240" y="260604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MySQL 8.0 Relational Engine</a:t>
            </a:r>
            <a:endParaRPr lang="en-US" sz="1050" dirty="0"/>
          </a:p>
        </p:txBody>
      </p:sp>
      <p:sp>
        <p:nvSpPr>
          <p:cNvPr id="38" name="Shape 36"/>
          <p:cNvSpPr/>
          <p:nvPr/>
        </p:nvSpPr>
        <p:spPr>
          <a:xfrm>
            <a:off x="6400800" y="3474720"/>
            <a:ext cx="2103120" cy="685800"/>
          </a:xfrm>
          <a:prstGeom prst="roundRect">
            <a:avLst>
              <a:gd name="adj" fmla="val 10667"/>
            </a:avLst>
          </a:prstGeom>
          <a:solidFill>
            <a:srgbClr val="0F172A"/>
          </a:solidFill>
          <a:ln w="12700">
            <a:solidFill>
              <a:srgbClr val="1E293B"/>
            </a:solidFill>
            <a:prstDash val="solid"/>
          </a:ln>
        </p:spPr>
      </p:sp>
      <p:sp>
        <p:nvSpPr>
          <p:cNvPr id="39" name="Text 37"/>
          <p:cNvSpPr/>
          <p:nvPr/>
        </p:nvSpPr>
        <p:spPr>
          <a:xfrm>
            <a:off x="6492240" y="347472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JDBC (java.sql API)</a:t>
            </a:r>
            <a:endParaRPr lang="en-US" sz="1050" dirty="0"/>
          </a:p>
        </p:txBody>
      </p:sp>
      <p:sp>
        <p:nvSpPr>
          <p:cNvPr id="40" name="Shape 38"/>
          <p:cNvSpPr/>
          <p:nvPr/>
        </p:nvSpPr>
        <p:spPr>
          <a:xfrm>
            <a:off x="6400800" y="4343400"/>
            <a:ext cx="2103120" cy="685800"/>
          </a:xfrm>
          <a:prstGeom prst="roundRect">
            <a:avLst>
              <a:gd name="adj" fmla="val 10667"/>
            </a:avLst>
          </a:prstGeom>
          <a:solidFill>
            <a:srgbClr val="0F172A"/>
          </a:solidFill>
          <a:ln w="12700">
            <a:solidFill>
              <a:srgbClr val="1E293B"/>
            </a:solidFill>
            <a:prstDash val="solid"/>
          </a:ln>
        </p:spPr>
      </p:sp>
      <p:sp>
        <p:nvSpPr>
          <p:cNvPr id="41" name="Text 39"/>
          <p:cNvSpPr/>
          <p:nvPr/>
        </p:nvSpPr>
        <p:spPr>
          <a:xfrm>
            <a:off x="6492240" y="434340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PreparedStatement SQL Security</a:t>
            </a:r>
            <a:endParaRPr lang="en-US" sz="1050" dirty="0"/>
          </a:p>
        </p:txBody>
      </p:sp>
      <p:sp>
        <p:nvSpPr>
          <p:cNvPr id="42" name="Shape 40"/>
          <p:cNvSpPr/>
          <p:nvPr/>
        </p:nvSpPr>
        <p:spPr>
          <a:xfrm>
            <a:off x="6400800" y="5212080"/>
            <a:ext cx="2103120" cy="685800"/>
          </a:xfrm>
          <a:prstGeom prst="roundRect">
            <a:avLst>
              <a:gd name="adj" fmla="val 10667"/>
            </a:avLst>
          </a:prstGeom>
          <a:solidFill>
            <a:srgbClr val="0F172A"/>
          </a:solidFill>
          <a:ln w="12700">
            <a:solidFill>
              <a:srgbClr val="1E293B"/>
            </a:solidFill>
            <a:prstDash val="solid"/>
          </a:ln>
        </p:spPr>
      </p:sp>
      <p:sp>
        <p:nvSpPr>
          <p:cNvPr id="43" name="Text 41"/>
          <p:cNvSpPr/>
          <p:nvPr/>
        </p:nvSpPr>
        <p:spPr>
          <a:xfrm>
            <a:off x="6492240" y="521208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InnoDB Foreign Key Constraints</a:t>
            </a:r>
            <a:endParaRPr lang="en-US" sz="1050" dirty="0"/>
          </a:p>
        </p:txBody>
      </p:sp>
      <p:sp>
        <p:nvSpPr>
          <p:cNvPr id="44" name="Shape 42"/>
          <p:cNvSpPr/>
          <p:nvPr/>
        </p:nvSpPr>
        <p:spPr>
          <a:xfrm>
            <a:off x="8961120" y="1417320"/>
            <a:ext cx="2468880" cy="4754880"/>
          </a:xfrm>
          <a:prstGeom prst="roundRect">
            <a:avLst>
              <a:gd name="adj" fmla="val 4444"/>
            </a:avLst>
          </a:prstGeom>
          <a:solidFill>
            <a:srgbClr val="111827"/>
          </a:solidFill>
          <a:ln w="12700">
            <a:solidFill>
              <a:srgbClr val="1E293B"/>
            </a:solidFill>
            <a:prstDash val="solid"/>
          </a:ln>
        </p:spPr>
      </p:sp>
      <p:sp>
        <p:nvSpPr>
          <p:cNvPr id="45" name="Shape 43"/>
          <p:cNvSpPr/>
          <p:nvPr/>
        </p:nvSpPr>
        <p:spPr>
          <a:xfrm>
            <a:off x="9235440" y="1691640"/>
            <a:ext cx="1920240" cy="256032"/>
          </a:xfrm>
          <a:prstGeom prst="roundRect">
            <a:avLst>
              <a:gd name="adj" fmla="val 50000"/>
            </a:avLst>
          </a:prstGeom>
          <a:solidFill>
            <a:srgbClr val="1E293B"/>
          </a:solidFill>
          <a:ln w="12700">
            <a:solidFill>
              <a:srgbClr val="F4B942"/>
            </a:solidFill>
            <a:prstDash val="solid"/>
          </a:ln>
        </p:spPr>
      </p:sp>
      <p:sp>
        <p:nvSpPr>
          <p:cNvPr id="46" name="Text 44"/>
          <p:cNvSpPr/>
          <p:nvPr/>
        </p:nvSpPr>
        <p:spPr>
          <a:xfrm>
            <a:off x="9235440" y="1691640"/>
            <a:ext cx="192024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INFRASTRUCTURE</a:t>
            </a:r>
            <a:endParaRPr lang="en-US" sz="900" dirty="0"/>
          </a:p>
        </p:txBody>
      </p:sp>
      <p:sp>
        <p:nvSpPr>
          <p:cNvPr id="47" name="Text 45"/>
          <p:cNvSpPr/>
          <p:nvPr/>
        </p:nvSpPr>
        <p:spPr>
          <a:xfrm>
            <a:off x="9098280" y="2057400"/>
            <a:ext cx="2194560" cy="365760"/>
          </a:xfrm>
          <a:prstGeom prst="rect">
            <a:avLst/>
          </a:prstGeom>
          <a:noFill/>
          <a:ln/>
        </p:spPr>
        <p:txBody>
          <a:bodyPr wrap="square" rtlCol="0" anchor="ctr"/>
          <a:lstStyle/>
          <a:p>
            <a:pPr algn="ctr" indent="0" marL="0">
              <a:buNone/>
            </a:pPr>
            <a:r>
              <a:rPr lang="en-US" sz="1600" b="1" dirty="0">
                <a:solidFill>
                  <a:srgbClr val="F8FAFC"/>
                </a:solidFill>
                <a:latin typeface="Segoe UI" pitchFamily="34" charset="0"/>
                <a:ea typeface="Segoe UI" pitchFamily="34" charset="-122"/>
                <a:cs typeface="Segoe UI" pitchFamily="34" charset="-120"/>
              </a:rPr>
              <a:t>Environment &amp; Tools</a:t>
            </a:r>
            <a:endParaRPr lang="en-US" sz="1600" dirty="0"/>
          </a:p>
        </p:txBody>
      </p:sp>
      <p:sp>
        <p:nvSpPr>
          <p:cNvPr id="48" name="Shape 46"/>
          <p:cNvSpPr/>
          <p:nvPr/>
        </p:nvSpPr>
        <p:spPr>
          <a:xfrm>
            <a:off x="9144000" y="2606040"/>
            <a:ext cx="2103120" cy="685800"/>
          </a:xfrm>
          <a:prstGeom prst="roundRect">
            <a:avLst>
              <a:gd name="adj" fmla="val 10667"/>
            </a:avLst>
          </a:prstGeom>
          <a:solidFill>
            <a:srgbClr val="0F172A"/>
          </a:solidFill>
          <a:ln w="12700">
            <a:solidFill>
              <a:srgbClr val="1E293B"/>
            </a:solidFill>
            <a:prstDash val="solid"/>
          </a:ln>
        </p:spPr>
      </p:sp>
      <p:sp>
        <p:nvSpPr>
          <p:cNvPr id="49" name="Text 47"/>
          <p:cNvSpPr/>
          <p:nvPr/>
        </p:nvSpPr>
        <p:spPr>
          <a:xfrm>
            <a:off x="9235440" y="260604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Apache Tomcat 10.1 Web Server</a:t>
            </a:r>
            <a:endParaRPr lang="en-US" sz="1050" dirty="0"/>
          </a:p>
        </p:txBody>
      </p:sp>
      <p:sp>
        <p:nvSpPr>
          <p:cNvPr id="50" name="Shape 48"/>
          <p:cNvSpPr/>
          <p:nvPr/>
        </p:nvSpPr>
        <p:spPr>
          <a:xfrm>
            <a:off x="9144000" y="3474720"/>
            <a:ext cx="2103120" cy="685800"/>
          </a:xfrm>
          <a:prstGeom prst="roundRect">
            <a:avLst>
              <a:gd name="adj" fmla="val 10667"/>
            </a:avLst>
          </a:prstGeom>
          <a:solidFill>
            <a:srgbClr val="0F172A"/>
          </a:solidFill>
          <a:ln w="12700">
            <a:solidFill>
              <a:srgbClr val="1E293B"/>
            </a:solidFill>
            <a:prstDash val="solid"/>
          </a:ln>
        </p:spPr>
      </p:sp>
      <p:sp>
        <p:nvSpPr>
          <p:cNvPr id="51" name="Text 49"/>
          <p:cNvSpPr/>
          <p:nvPr/>
        </p:nvSpPr>
        <p:spPr>
          <a:xfrm>
            <a:off x="9235440" y="347472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Eclipse Enterprise IDE</a:t>
            </a:r>
            <a:endParaRPr lang="en-US" sz="1050" dirty="0"/>
          </a:p>
        </p:txBody>
      </p:sp>
      <p:sp>
        <p:nvSpPr>
          <p:cNvPr id="52" name="Shape 50"/>
          <p:cNvSpPr/>
          <p:nvPr/>
        </p:nvSpPr>
        <p:spPr>
          <a:xfrm>
            <a:off x="9144000" y="4343400"/>
            <a:ext cx="2103120" cy="685800"/>
          </a:xfrm>
          <a:prstGeom prst="roundRect">
            <a:avLst>
              <a:gd name="adj" fmla="val 10667"/>
            </a:avLst>
          </a:prstGeom>
          <a:solidFill>
            <a:srgbClr val="0F172A"/>
          </a:solidFill>
          <a:ln w="12700">
            <a:solidFill>
              <a:srgbClr val="1E293B"/>
            </a:solidFill>
            <a:prstDash val="solid"/>
          </a:ln>
        </p:spPr>
      </p:sp>
      <p:sp>
        <p:nvSpPr>
          <p:cNvPr id="53" name="Text 51"/>
          <p:cNvSpPr/>
          <p:nvPr/>
        </p:nvSpPr>
        <p:spPr>
          <a:xfrm>
            <a:off x="9235440" y="434340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jBCrypt 0.4 Password Hashing</a:t>
            </a:r>
            <a:endParaRPr lang="en-US" sz="1050" dirty="0"/>
          </a:p>
        </p:txBody>
      </p:sp>
      <p:sp>
        <p:nvSpPr>
          <p:cNvPr id="54" name="Shape 52"/>
          <p:cNvSpPr/>
          <p:nvPr/>
        </p:nvSpPr>
        <p:spPr>
          <a:xfrm>
            <a:off x="9144000" y="5212080"/>
            <a:ext cx="2103120" cy="685800"/>
          </a:xfrm>
          <a:prstGeom prst="roundRect">
            <a:avLst>
              <a:gd name="adj" fmla="val 10667"/>
            </a:avLst>
          </a:prstGeom>
          <a:solidFill>
            <a:srgbClr val="0F172A"/>
          </a:solidFill>
          <a:ln w="12700">
            <a:solidFill>
              <a:srgbClr val="1E293B"/>
            </a:solidFill>
            <a:prstDash val="solid"/>
          </a:ln>
        </p:spPr>
      </p:sp>
      <p:sp>
        <p:nvSpPr>
          <p:cNvPr id="55" name="Text 53"/>
          <p:cNvSpPr/>
          <p:nvPr/>
        </p:nvSpPr>
        <p:spPr>
          <a:xfrm>
            <a:off x="9235440" y="5212080"/>
            <a:ext cx="1920240" cy="685800"/>
          </a:xfrm>
          <a:prstGeom prst="rect">
            <a:avLst/>
          </a:prstGeom>
          <a:noFill/>
          <a:ln/>
        </p:spPr>
        <p:txBody>
          <a:bodyPr wrap="square" rtlCol="0" anchor="ctr"/>
          <a:lstStyle/>
          <a:p>
            <a:pPr indent="0" marL="0">
              <a:lnSpc>
                <a:spcPts val="1400"/>
              </a:lnSpc>
              <a:buNone/>
            </a:pPr>
            <a:r>
              <a:rPr lang="en-US" sz="1050" dirty="0">
                <a:solidFill>
                  <a:srgbClr val="F8FAFC"/>
                </a:solidFill>
                <a:latin typeface="Segoe UI" pitchFamily="34" charset="0"/>
                <a:ea typeface="Segoe UI" pitchFamily="34" charset="-122"/>
                <a:cs typeface="Segoe UI" pitchFamily="34" charset="-120"/>
              </a:rPr>
              <a:t>✔ MySQL Connector/J 9.2.0 Driver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3 • PROJECT STRUCTURE</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Eclipse Dynamic Web Project &amp; Layered Organization</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00_project_structure.png">    </p:cNvPr>
          <p:cNvPicPr>
            <a:picLocks noChangeAspect="1"/>
          </p:cNvPicPr>
          <p:nvPr/>
        </p:nvPicPr>
        <p:blipFill>
          <a:blip r:embed="rId1"/>
          <a:stretch>
            <a:fillRect/>
          </a:stretch>
        </p:blipFill>
        <p:spPr>
          <a:xfrm>
            <a:off x="731520" y="1417320"/>
            <a:ext cx="10698480" cy="4846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4 • ER DIAGRAM</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MySQL Relational Database Schema &amp; Entity Relationships</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FoodHouse_ER_Diagram.png">    </p:cNvPr>
          <p:cNvPicPr>
            <a:picLocks noChangeAspect="1"/>
          </p:cNvPicPr>
          <p:nvPr/>
        </p:nvPicPr>
        <p:blipFill>
          <a:blip r:embed="rId1"/>
          <a:stretch>
            <a:fillRect/>
          </a:stretch>
        </p:blipFill>
        <p:spPr>
          <a:xfrm>
            <a:off x="731520" y="1417320"/>
            <a:ext cx="10698480" cy="4846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5 • PAGE SCREENSHOTS (1/6)</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Home &amp; Restaurant Discovery (Restaurant.jsp)</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01_home_restaurant_page.png">    </p:cNvPr>
          <p:cNvPicPr>
            <a:picLocks noChangeAspect="1"/>
          </p:cNvPicPr>
          <p:nvPr/>
        </p:nvPicPr>
        <p:blipFill>
          <a:blip r:embed="rId1"/>
          <a:stretch>
            <a:fillRect/>
          </a:stretch>
        </p:blipFill>
        <p:spPr>
          <a:xfrm>
            <a:off x="731520" y="1417320"/>
            <a:ext cx="7406640" cy="4754880"/>
          </a:xfrm>
          <a:prstGeom prst="rect">
            <a:avLst/>
          </a:prstGeom>
        </p:spPr>
      </p:pic>
      <p:sp>
        <p:nvSpPr>
          <p:cNvPr id="9" name="Shape 6"/>
          <p:cNvSpPr/>
          <p:nvPr/>
        </p:nvSpPr>
        <p:spPr>
          <a:xfrm>
            <a:off x="8412480" y="1417320"/>
            <a:ext cx="3017520" cy="4754880"/>
          </a:xfrm>
          <a:prstGeom prst="roundRect">
            <a:avLst>
              <a:gd name="adj" fmla="val 3636"/>
            </a:avLst>
          </a:prstGeom>
          <a:solidFill>
            <a:srgbClr val="111827"/>
          </a:solidFill>
          <a:ln w="12700">
            <a:solidFill>
              <a:srgbClr val="1E293B"/>
            </a:solidFill>
            <a:prstDash val="solid"/>
          </a:ln>
        </p:spPr>
      </p:sp>
      <p:sp>
        <p:nvSpPr>
          <p:cNvPr id="10" name="Text 7"/>
          <p:cNvSpPr/>
          <p:nvPr/>
        </p:nvSpPr>
        <p:spPr>
          <a:xfrm>
            <a:off x="8595360" y="1691640"/>
            <a:ext cx="2651760" cy="320040"/>
          </a:xfrm>
          <a:prstGeom prst="rect">
            <a:avLst/>
          </a:prstGeom>
          <a:noFill/>
          <a:ln/>
        </p:spPr>
        <p:txBody>
          <a:bodyPr wrap="square" rtlCol="0" anchor="ctr"/>
          <a:lstStyle/>
          <a:p>
            <a:pPr indent="0" marL="0">
              <a:buNone/>
            </a:pPr>
            <a:r>
              <a:rPr lang="en-US" sz="1400" b="1" dirty="0">
                <a:solidFill>
                  <a:srgbClr val="FF6B35"/>
                </a:solidFill>
                <a:latin typeface="Segoe UI" pitchFamily="34" charset="0"/>
                <a:ea typeface="Segoe UI" pitchFamily="34" charset="-122"/>
                <a:cs typeface="Segoe UI" pitchFamily="34" charset="-120"/>
              </a:rPr>
              <a:t>Key Page Capabilities</a:t>
            </a:r>
            <a:endParaRPr lang="en-US" sz="1400" dirty="0"/>
          </a:p>
        </p:txBody>
      </p:sp>
      <p:sp>
        <p:nvSpPr>
          <p:cNvPr id="11" name="Text 8"/>
          <p:cNvSpPr/>
          <p:nvPr/>
        </p:nvSpPr>
        <p:spPr>
          <a:xfrm>
            <a:off x="8595360" y="210312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Dynamic 30-Restaurant Catalog loaded via RestaurantDAOImpl.</a:t>
            </a:r>
            <a:endParaRPr lang="en-US" sz="1050" dirty="0"/>
          </a:p>
        </p:txBody>
      </p:sp>
      <p:sp>
        <p:nvSpPr>
          <p:cNvPr id="12" name="Text 9"/>
          <p:cNvSpPr/>
          <p:nvPr/>
        </p:nvSpPr>
        <p:spPr>
          <a:xfrm>
            <a:off x="8595360" y="288036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Location filter for Indiranagar, Koramangala, and Central Bangalore.</a:t>
            </a:r>
            <a:endParaRPr lang="en-US" sz="1050" dirty="0"/>
          </a:p>
        </p:txBody>
      </p:sp>
      <p:sp>
        <p:nvSpPr>
          <p:cNvPr id="13" name="Text 10"/>
          <p:cNvSpPr/>
          <p:nvPr/>
        </p:nvSpPr>
        <p:spPr>
          <a:xfrm>
            <a:off x="8595360" y="365760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Instant keyword search and cuisine tag filtering.</a:t>
            </a:r>
            <a:endParaRPr lang="en-US" sz="1050" dirty="0"/>
          </a:p>
        </p:txBody>
      </p:sp>
      <p:sp>
        <p:nvSpPr>
          <p:cNvPr id="14" name="Text 11"/>
          <p:cNvSpPr/>
          <p:nvPr/>
        </p:nvSpPr>
        <p:spPr>
          <a:xfrm>
            <a:off x="8595360" y="443484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Fleet velocity controls simulating delivery speeds and ETA calculation.</a:t>
            </a:r>
            <a:endParaRPr lang="en-US" sz="1050" dirty="0"/>
          </a:p>
        </p:txBody>
      </p:sp>
      <p:sp>
        <p:nvSpPr>
          <p:cNvPr id="15" name="Text 12"/>
          <p:cNvSpPr/>
          <p:nvPr/>
        </p:nvSpPr>
        <p:spPr>
          <a:xfrm>
            <a:off x="8595360" y="521208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Dark and Light theme toggle with high-contrast glassmorphism.</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5 • PAGE SCREENSHOTS (2/6)</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Unified Authentication Portal (Login.jsp &amp; Register.jsp)</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02_login_register_page.png">    </p:cNvPr>
          <p:cNvPicPr>
            <a:picLocks noChangeAspect="1"/>
          </p:cNvPicPr>
          <p:nvPr/>
        </p:nvPicPr>
        <p:blipFill>
          <a:blip r:embed="rId1"/>
          <a:stretch>
            <a:fillRect/>
          </a:stretch>
        </p:blipFill>
        <p:spPr>
          <a:xfrm>
            <a:off x="731520" y="1417320"/>
            <a:ext cx="7406640" cy="4754880"/>
          </a:xfrm>
          <a:prstGeom prst="rect">
            <a:avLst/>
          </a:prstGeom>
        </p:spPr>
      </p:pic>
      <p:sp>
        <p:nvSpPr>
          <p:cNvPr id="9" name="Shape 6"/>
          <p:cNvSpPr/>
          <p:nvPr/>
        </p:nvSpPr>
        <p:spPr>
          <a:xfrm>
            <a:off x="8412480" y="1417320"/>
            <a:ext cx="3017520" cy="4754880"/>
          </a:xfrm>
          <a:prstGeom prst="roundRect">
            <a:avLst>
              <a:gd name="adj" fmla="val 3636"/>
            </a:avLst>
          </a:prstGeom>
          <a:solidFill>
            <a:srgbClr val="111827"/>
          </a:solidFill>
          <a:ln w="12700">
            <a:solidFill>
              <a:srgbClr val="1E293B"/>
            </a:solidFill>
            <a:prstDash val="solid"/>
          </a:ln>
        </p:spPr>
      </p:sp>
      <p:sp>
        <p:nvSpPr>
          <p:cNvPr id="10" name="Text 7"/>
          <p:cNvSpPr/>
          <p:nvPr/>
        </p:nvSpPr>
        <p:spPr>
          <a:xfrm>
            <a:off x="8595360" y="1691640"/>
            <a:ext cx="2651760" cy="320040"/>
          </a:xfrm>
          <a:prstGeom prst="rect">
            <a:avLst/>
          </a:prstGeom>
          <a:noFill/>
          <a:ln/>
        </p:spPr>
        <p:txBody>
          <a:bodyPr wrap="square" rtlCol="0" anchor="ctr"/>
          <a:lstStyle/>
          <a:p>
            <a:pPr indent="0" marL="0">
              <a:buNone/>
            </a:pPr>
            <a:r>
              <a:rPr lang="en-US" sz="1400" b="1" dirty="0">
                <a:solidFill>
                  <a:srgbClr val="F4B942"/>
                </a:solidFill>
                <a:latin typeface="Segoe UI" pitchFamily="34" charset="0"/>
                <a:ea typeface="Segoe UI" pitchFamily="34" charset="-122"/>
                <a:cs typeface="Segoe UI" pitchFamily="34" charset="-120"/>
              </a:rPr>
              <a:t>Authentication Features</a:t>
            </a:r>
            <a:endParaRPr lang="en-US" sz="1400" dirty="0"/>
          </a:p>
        </p:txBody>
      </p:sp>
      <p:sp>
        <p:nvSpPr>
          <p:cNvPr id="11" name="Text 8"/>
          <p:cNvSpPr/>
          <p:nvPr/>
        </p:nvSpPr>
        <p:spPr>
          <a:xfrm>
            <a:off x="8595360" y="210312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Unified 1-page Auth Portal with tabbed Login and Register modal.</a:t>
            </a:r>
            <a:endParaRPr lang="en-US" sz="1050" dirty="0"/>
          </a:p>
        </p:txBody>
      </p:sp>
      <p:sp>
        <p:nvSpPr>
          <p:cNvPr id="12" name="Text 9"/>
          <p:cNvSpPr/>
          <p:nvPr/>
        </p:nvSpPr>
        <p:spPr>
          <a:xfrm>
            <a:off x="8595360" y="288036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jBCrypt salted password hashing prevents plain-text storage.</a:t>
            </a:r>
            <a:endParaRPr lang="en-US" sz="1050" dirty="0"/>
          </a:p>
        </p:txBody>
      </p:sp>
      <p:sp>
        <p:nvSpPr>
          <p:cNvPr id="13" name="Text 10"/>
          <p:cNvSpPr/>
          <p:nvPr/>
        </p:nvSpPr>
        <p:spPr>
          <a:xfrm>
            <a:off x="8595360" y="365760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PreparedStatement parameterized queries prevent SQL injection.</a:t>
            </a:r>
            <a:endParaRPr lang="en-US" sz="1050" dirty="0"/>
          </a:p>
        </p:txBody>
      </p:sp>
      <p:sp>
        <p:nvSpPr>
          <p:cNvPr id="14" name="Text 11"/>
          <p:cNvSpPr/>
          <p:nvPr/>
        </p:nvSpPr>
        <p:spPr>
          <a:xfrm>
            <a:off x="8595360" y="443484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HttpSession initialization binds user identity across checkout.</a:t>
            </a:r>
            <a:endParaRPr lang="en-US" sz="1050" dirty="0"/>
          </a:p>
        </p:txBody>
      </p:sp>
      <p:sp>
        <p:nvSpPr>
          <p:cNvPr id="15" name="Text 12"/>
          <p:cNvSpPr/>
          <p:nvPr/>
        </p:nvSpPr>
        <p:spPr>
          <a:xfrm>
            <a:off x="8595360" y="521208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Role-based redirect sends users back to their active shopping session.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5 • PAGE SCREENSHOTS (3/6)</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Curated Restaurant Menu (Menu.jsp)</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03_menu_page.png">    </p:cNvPr>
          <p:cNvPicPr>
            <a:picLocks noChangeAspect="1"/>
          </p:cNvPicPr>
          <p:nvPr/>
        </p:nvPicPr>
        <p:blipFill>
          <a:blip r:embed="rId1"/>
          <a:stretch>
            <a:fillRect/>
          </a:stretch>
        </p:blipFill>
        <p:spPr>
          <a:xfrm>
            <a:off x="731520" y="1417320"/>
            <a:ext cx="7406640" cy="4754880"/>
          </a:xfrm>
          <a:prstGeom prst="rect">
            <a:avLst/>
          </a:prstGeom>
        </p:spPr>
      </p:pic>
      <p:sp>
        <p:nvSpPr>
          <p:cNvPr id="9" name="Shape 6"/>
          <p:cNvSpPr/>
          <p:nvPr/>
        </p:nvSpPr>
        <p:spPr>
          <a:xfrm>
            <a:off x="8412480" y="1417320"/>
            <a:ext cx="3017520" cy="4754880"/>
          </a:xfrm>
          <a:prstGeom prst="roundRect">
            <a:avLst>
              <a:gd name="adj" fmla="val 3636"/>
            </a:avLst>
          </a:prstGeom>
          <a:solidFill>
            <a:srgbClr val="111827"/>
          </a:solidFill>
          <a:ln w="12700">
            <a:solidFill>
              <a:srgbClr val="1E293B"/>
            </a:solidFill>
            <a:prstDash val="solid"/>
          </a:ln>
        </p:spPr>
      </p:sp>
      <p:sp>
        <p:nvSpPr>
          <p:cNvPr id="10" name="Text 7"/>
          <p:cNvSpPr/>
          <p:nvPr/>
        </p:nvSpPr>
        <p:spPr>
          <a:xfrm>
            <a:off x="8595360" y="1691640"/>
            <a:ext cx="2651760" cy="32004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Menu Interaction</a:t>
            </a:r>
            <a:endParaRPr lang="en-US" sz="1400" dirty="0"/>
          </a:p>
        </p:txBody>
      </p:sp>
      <p:sp>
        <p:nvSpPr>
          <p:cNvPr id="11" name="Text 8"/>
          <p:cNvSpPr/>
          <p:nvPr/>
        </p:nvSpPr>
        <p:spPr>
          <a:xfrm>
            <a:off x="8595360" y="210312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Restaurant-specific catalog retrieval (e.g. 12 dishes for Meghana Foods).</a:t>
            </a:r>
            <a:endParaRPr lang="en-US" sz="1050" dirty="0"/>
          </a:p>
        </p:txBody>
      </p:sp>
      <p:sp>
        <p:nvSpPr>
          <p:cNvPr id="12" name="Text 9"/>
          <p:cNvSpPr/>
          <p:nvPr/>
        </p:nvSpPr>
        <p:spPr>
          <a:xfrm>
            <a:off x="8595360" y="288036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Veg and Non-Veg indicators with pricing in INR.</a:t>
            </a:r>
            <a:endParaRPr lang="en-US" sz="1050" dirty="0"/>
          </a:p>
        </p:txBody>
      </p:sp>
      <p:sp>
        <p:nvSpPr>
          <p:cNvPr id="13" name="Text 10"/>
          <p:cNvSpPr/>
          <p:nvPr/>
        </p:nvSpPr>
        <p:spPr>
          <a:xfrm>
            <a:off x="8595360" y="365760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Zero-Jump AJAX Add-to-Cart prevents page reloads and scroll disorientation.</a:t>
            </a:r>
            <a:endParaRPr lang="en-US" sz="1050" dirty="0"/>
          </a:p>
        </p:txBody>
      </p:sp>
      <p:sp>
        <p:nvSpPr>
          <p:cNvPr id="14" name="Text 11"/>
          <p:cNvSpPr/>
          <p:nvPr/>
        </p:nvSpPr>
        <p:spPr>
          <a:xfrm>
            <a:off x="8595360" y="443484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Instant Quantity Stepper (+ / -) directly on dish cards.</a:t>
            </a:r>
            <a:endParaRPr lang="en-US" sz="1050" dirty="0"/>
          </a:p>
        </p:txBody>
      </p:sp>
      <p:sp>
        <p:nvSpPr>
          <p:cNvPr id="15" name="Text 12"/>
          <p:cNvSpPr/>
          <p:nvPr/>
        </p:nvSpPr>
        <p:spPr>
          <a:xfrm>
            <a:off x="8595360" y="521208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Floating bottom cart summary bar with live count and subtotal.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5 • PAGE SCREENSHOTS (4/6)</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Shopping Cart &amp; Totals (Cart.jsp)</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04_cart_page.png">    </p:cNvPr>
          <p:cNvPicPr>
            <a:picLocks noChangeAspect="1"/>
          </p:cNvPicPr>
          <p:nvPr/>
        </p:nvPicPr>
        <p:blipFill>
          <a:blip r:embed="rId1"/>
          <a:stretch>
            <a:fillRect/>
          </a:stretch>
        </p:blipFill>
        <p:spPr>
          <a:xfrm>
            <a:off x="731520" y="1417320"/>
            <a:ext cx="7406640" cy="4754880"/>
          </a:xfrm>
          <a:prstGeom prst="rect">
            <a:avLst/>
          </a:prstGeom>
        </p:spPr>
      </p:pic>
      <p:sp>
        <p:nvSpPr>
          <p:cNvPr id="9" name="Shape 6"/>
          <p:cNvSpPr/>
          <p:nvPr/>
        </p:nvSpPr>
        <p:spPr>
          <a:xfrm>
            <a:off x="8412480" y="1417320"/>
            <a:ext cx="3017520" cy="4754880"/>
          </a:xfrm>
          <a:prstGeom prst="roundRect">
            <a:avLst>
              <a:gd name="adj" fmla="val 3636"/>
            </a:avLst>
          </a:prstGeom>
          <a:solidFill>
            <a:srgbClr val="111827"/>
          </a:solidFill>
          <a:ln w="12700">
            <a:solidFill>
              <a:srgbClr val="1E293B"/>
            </a:solidFill>
            <a:prstDash val="solid"/>
          </a:ln>
        </p:spPr>
      </p:sp>
      <p:sp>
        <p:nvSpPr>
          <p:cNvPr id="10" name="Text 7"/>
          <p:cNvSpPr/>
          <p:nvPr/>
        </p:nvSpPr>
        <p:spPr>
          <a:xfrm>
            <a:off x="8595360" y="1691640"/>
            <a:ext cx="2651760" cy="320040"/>
          </a:xfrm>
          <a:prstGeom prst="rect">
            <a:avLst/>
          </a:prstGeom>
          <a:noFill/>
          <a:ln/>
        </p:spPr>
        <p:txBody>
          <a:bodyPr wrap="square" rtlCol="0" anchor="ctr"/>
          <a:lstStyle/>
          <a:p>
            <a:pPr indent="0" marL="0">
              <a:buNone/>
            </a:pPr>
            <a:r>
              <a:rPr lang="en-US" sz="1400" b="1" dirty="0">
                <a:solidFill>
                  <a:srgbClr val="10B981"/>
                </a:solidFill>
                <a:latin typeface="Segoe UI" pitchFamily="34" charset="0"/>
                <a:ea typeface="Segoe UI" pitchFamily="34" charset="-122"/>
                <a:cs typeface="Segoe UI" pitchFamily="34" charset="-120"/>
              </a:rPr>
              <a:t>Cart Calculations</a:t>
            </a:r>
            <a:endParaRPr lang="en-US" sz="1400" dirty="0"/>
          </a:p>
        </p:txBody>
      </p:sp>
      <p:sp>
        <p:nvSpPr>
          <p:cNvPr id="11" name="Text 8"/>
          <p:cNvSpPr/>
          <p:nvPr/>
        </p:nvSpPr>
        <p:spPr>
          <a:xfrm>
            <a:off x="8595360" y="210312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Itemized list with quantity steppers and quick item removal.</a:t>
            </a:r>
            <a:endParaRPr lang="en-US" sz="1050" dirty="0"/>
          </a:p>
        </p:txBody>
      </p:sp>
      <p:sp>
        <p:nvSpPr>
          <p:cNvPr id="12" name="Text 9"/>
          <p:cNvSpPr/>
          <p:nvPr/>
        </p:nvSpPr>
        <p:spPr>
          <a:xfrm>
            <a:off x="8595360" y="288036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Dynamic subtotal calculation (price × quantity in Cart.java).</a:t>
            </a:r>
            <a:endParaRPr lang="en-US" sz="1050" dirty="0"/>
          </a:p>
        </p:txBody>
      </p:sp>
      <p:sp>
        <p:nvSpPr>
          <p:cNvPr id="13" name="Text 10"/>
          <p:cNvSpPr/>
          <p:nvPr/>
        </p:nvSpPr>
        <p:spPr>
          <a:xfrm>
            <a:off x="8595360" y="365760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Financial breakdown: Delivery fee, packaging charge, and 5% GST.</a:t>
            </a:r>
            <a:endParaRPr lang="en-US" sz="1050" dirty="0"/>
          </a:p>
        </p:txBody>
      </p:sp>
      <p:sp>
        <p:nvSpPr>
          <p:cNvPr id="14" name="Text 11"/>
          <p:cNvSpPr/>
          <p:nvPr/>
        </p:nvSpPr>
        <p:spPr>
          <a:xfrm>
            <a:off x="8595360" y="443484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Session storage maintains cart persistence across page navigation.</a:t>
            </a:r>
            <a:endParaRPr lang="en-US" sz="1050" dirty="0"/>
          </a:p>
        </p:txBody>
      </p:sp>
      <p:sp>
        <p:nvSpPr>
          <p:cNvPr id="15" name="Text 12"/>
          <p:cNvSpPr/>
          <p:nvPr/>
        </p:nvSpPr>
        <p:spPr>
          <a:xfrm>
            <a:off x="8595360" y="521208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Direct checkout transition with active user verification.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5 • PAGE SCREENSHOTS (5/6)</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Checkout &amp; Payment Mode (Checkout.jsp)</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05_checkout_page.png">    </p:cNvPr>
          <p:cNvPicPr>
            <a:picLocks noChangeAspect="1"/>
          </p:cNvPicPr>
          <p:nvPr/>
        </p:nvPicPr>
        <p:blipFill>
          <a:blip r:embed="rId1"/>
          <a:stretch>
            <a:fillRect/>
          </a:stretch>
        </p:blipFill>
        <p:spPr>
          <a:xfrm>
            <a:off x="731520" y="1417320"/>
            <a:ext cx="7406640" cy="4754880"/>
          </a:xfrm>
          <a:prstGeom prst="rect">
            <a:avLst/>
          </a:prstGeom>
        </p:spPr>
      </p:pic>
      <p:sp>
        <p:nvSpPr>
          <p:cNvPr id="9" name="Shape 6"/>
          <p:cNvSpPr/>
          <p:nvPr/>
        </p:nvSpPr>
        <p:spPr>
          <a:xfrm>
            <a:off x="8412480" y="1417320"/>
            <a:ext cx="3017520" cy="4754880"/>
          </a:xfrm>
          <a:prstGeom prst="roundRect">
            <a:avLst>
              <a:gd name="adj" fmla="val 3636"/>
            </a:avLst>
          </a:prstGeom>
          <a:solidFill>
            <a:srgbClr val="111827"/>
          </a:solidFill>
          <a:ln w="12700">
            <a:solidFill>
              <a:srgbClr val="1E293B"/>
            </a:solidFill>
            <a:prstDash val="solid"/>
          </a:ln>
        </p:spPr>
      </p:sp>
      <p:sp>
        <p:nvSpPr>
          <p:cNvPr id="10" name="Text 7"/>
          <p:cNvSpPr/>
          <p:nvPr/>
        </p:nvSpPr>
        <p:spPr>
          <a:xfrm>
            <a:off x="8595360" y="1691640"/>
            <a:ext cx="2651760" cy="320040"/>
          </a:xfrm>
          <a:prstGeom prst="rect">
            <a:avLst/>
          </a:prstGeom>
          <a:noFill/>
          <a:ln/>
        </p:spPr>
        <p:txBody>
          <a:bodyPr wrap="square" rtlCol="0" anchor="ctr"/>
          <a:lstStyle/>
          <a:p>
            <a:pPr indent="0" marL="0">
              <a:buNone/>
            </a:pPr>
            <a:r>
              <a:rPr lang="en-US" sz="1400" b="1" dirty="0">
                <a:solidFill>
                  <a:srgbClr val="FF6B35"/>
                </a:solidFill>
                <a:latin typeface="Segoe UI" pitchFamily="34" charset="0"/>
                <a:ea typeface="Segoe UI" pitchFamily="34" charset="-122"/>
                <a:cs typeface="Segoe UI" pitchFamily="34" charset="-120"/>
              </a:rPr>
              <a:t>Order Finalization</a:t>
            </a:r>
            <a:endParaRPr lang="en-US" sz="1400" dirty="0"/>
          </a:p>
        </p:txBody>
      </p:sp>
      <p:sp>
        <p:nvSpPr>
          <p:cNvPr id="11" name="Text 8"/>
          <p:cNvSpPr/>
          <p:nvPr/>
        </p:nvSpPr>
        <p:spPr>
          <a:xfrm>
            <a:off x="8595360" y="210312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Delivery address confirmation and contact phone verification.</a:t>
            </a:r>
            <a:endParaRPr lang="en-US" sz="1050" dirty="0"/>
          </a:p>
        </p:txBody>
      </p:sp>
      <p:sp>
        <p:nvSpPr>
          <p:cNvPr id="12" name="Text 9"/>
          <p:cNvSpPr/>
          <p:nvPr/>
        </p:nvSpPr>
        <p:spPr>
          <a:xfrm>
            <a:off x="8595360" y="288036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Support for payment options: Cash on Delivery, UPI, Cards, NetBanking.</a:t>
            </a:r>
            <a:endParaRPr lang="en-US" sz="1050" dirty="0"/>
          </a:p>
        </p:txBody>
      </p:sp>
      <p:sp>
        <p:nvSpPr>
          <p:cNvPr id="13" name="Text 10"/>
          <p:cNvSpPr/>
          <p:nvPr/>
        </p:nvSpPr>
        <p:spPr>
          <a:xfrm>
            <a:off x="8595360" y="365760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Complete order bill summary review before placement.</a:t>
            </a:r>
            <a:endParaRPr lang="en-US" sz="1050" dirty="0"/>
          </a:p>
        </p:txBody>
      </p:sp>
      <p:sp>
        <p:nvSpPr>
          <p:cNvPr id="14" name="Text 11"/>
          <p:cNvSpPr/>
          <p:nvPr/>
        </p:nvSpPr>
        <p:spPr>
          <a:xfrm>
            <a:off x="8595360" y="443484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OrderController initiates atomic transaction across orders and order_item.</a:t>
            </a:r>
            <a:endParaRPr lang="en-US" sz="1050" dirty="0"/>
          </a:p>
        </p:txBody>
      </p:sp>
      <p:sp>
        <p:nvSpPr>
          <p:cNvPr id="15" name="Text 12"/>
          <p:cNvSpPr/>
          <p:nvPr/>
        </p:nvSpPr>
        <p:spPr>
          <a:xfrm>
            <a:off x="8595360" y="521208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Rollback safety prevents orphaned records if item insert fails.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5 • PAGE SCREENSHOTS (6/6)</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Order History &amp; Status Tracking (OrderHistory.jsp)</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06_order_history_tracking_page.png">    </p:cNvPr>
          <p:cNvPicPr>
            <a:picLocks noChangeAspect="1"/>
          </p:cNvPicPr>
          <p:nvPr/>
        </p:nvPicPr>
        <p:blipFill>
          <a:blip r:embed="rId1"/>
          <a:stretch>
            <a:fillRect/>
          </a:stretch>
        </p:blipFill>
        <p:spPr>
          <a:xfrm>
            <a:off x="731520" y="1417320"/>
            <a:ext cx="7406640" cy="4754880"/>
          </a:xfrm>
          <a:prstGeom prst="rect">
            <a:avLst/>
          </a:prstGeom>
        </p:spPr>
      </p:pic>
      <p:sp>
        <p:nvSpPr>
          <p:cNvPr id="9" name="Shape 6"/>
          <p:cNvSpPr/>
          <p:nvPr/>
        </p:nvSpPr>
        <p:spPr>
          <a:xfrm>
            <a:off x="8412480" y="1417320"/>
            <a:ext cx="3017520" cy="4754880"/>
          </a:xfrm>
          <a:prstGeom prst="roundRect">
            <a:avLst>
              <a:gd name="adj" fmla="val 3636"/>
            </a:avLst>
          </a:prstGeom>
          <a:solidFill>
            <a:srgbClr val="111827"/>
          </a:solidFill>
          <a:ln w="12700">
            <a:solidFill>
              <a:srgbClr val="1E293B"/>
            </a:solidFill>
            <a:prstDash val="solid"/>
          </a:ln>
        </p:spPr>
      </p:sp>
      <p:sp>
        <p:nvSpPr>
          <p:cNvPr id="10" name="Text 7"/>
          <p:cNvSpPr/>
          <p:nvPr/>
        </p:nvSpPr>
        <p:spPr>
          <a:xfrm>
            <a:off x="8595360" y="1691640"/>
            <a:ext cx="2651760" cy="320040"/>
          </a:xfrm>
          <a:prstGeom prst="rect">
            <a:avLst/>
          </a:prstGeom>
          <a:noFill/>
          <a:ln/>
        </p:spPr>
        <p:txBody>
          <a:bodyPr wrap="square" rtlCol="0" anchor="ctr"/>
          <a:lstStyle/>
          <a:p>
            <a:pPr indent="0" marL="0">
              <a:buNone/>
            </a:pPr>
            <a:r>
              <a:rPr lang="en-US" sz="1400" b="1" dirty="0">
                <a:solidFill>
                  <a:srgbClr val="F4B942"/>
                </a:solidFill>
                <a:latin typeface="Segoe UI" pitchFamily="34" charset="0"/>
                <a:ea typeface="Segoe UI" pitchFamily="34" charset="-122"/>
                <a:cs typeface="Segoe UI" pitchFamily="34" charset="-120"/>
              </a:rPr>
              <a:t>Order Tracking</a:t>
            </a:r>
            <a:endParaRPr lang="en-US" sz="1400" dirty="0"/>
          </a:p>
        </p:txBody>
      </p:sp>
      <p:sp>
        <p:nvSpPr>
          <p:cNvPr id="11" name="Text 8"/>
          <p:cNvSpPr/>
          <p:nvPr/>
        </p:nvSpPr>
        <p:spPr>
          <a:xfrm>
            <a:off x="8595360" y="210312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Order History page displaying past and active customer orders.</a:t>
            </a:r>
            <a:endParaRPr lang="en-US" sz="1050" dirty="0"/>
          </a:p>
        </p:txBody>
      </p:sp>
      <p:sp>
        <p:nvSpPr>
          <p:cNvPr id="12" name="Text 9"/>
          <p:cNvSpPr/>
          <p:nvPr/>
        </p:nvSpPr>
        <p:spPr>
          <a:xfrm>
            <a:off x="8595360" y="288036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Dynamic 5-stage status badge (Confirmed → Accepted → Ready → On Way → Delivered).</a:t>
            </a:r>
            <a:endParaRPr lang="en-US" sz="1050" dirty="0"/>
          </a:p>
        </p:txBody>
      </p:sp>
      <p:sp>
        <p:nvSpPr>
          <p:cNvPr id="13" name="Text 10"/>
          <p:cNvSpPr/>
          <p:nvPr/>
        </p:nvSpPr>
        <p:spPr>
          <a:xfrm>
            <a:off x="8595360" y="365760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Powered by OrderLifecycleManager Finite State Machine.</a:t>
            </a:r>
            <a:endParaRPr lang="en-US" sz="1050" dirty="0"/>
          </a:p>
        </p:txBody>
      </p:sp>
      <p:sp>
        <p:nvSpPr>
          <p:cNvPr id="14" name="Text 11"/>
          <p:cNvSpPr/>
          <p:nvPr/>
        </p:nvSpPr>
        <p:spPr>
          <a:xfrm>
            <a:off x="8595360" y="443484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Itemized dish recap with order timestamp and transaction ID.</a:t>
            </a:r>
            <a:endParaRPr lang="en-US" sz="1050" dirty="0"/>
          </a:p>
        </p:txBody>
      </p:sp>
      <p:sp>
        <p:nvSpPr>
          <p:cNvPr id="15" name="Text 12"/>
          <p:cNvSpPr/>
          <p:nvPr/>
        </p:nvSpPr>
        <p:spPr>
          <a:xfrm>
            <a:off x="8595360" y="5212080"/>
            <a:ext cx="2651760" cy="685800"/>
          </a:xfrm>
          <a:prstGeom prst="rect">
            <a:avLst/>
          </a:prstGeom>
          <a:noFill/>
          <a:ln/>
        </p:spPr>
        <p:txBody>
          <a:bodyPr wrap="square" rtlCol="0" anchor="ctr"/>
          <a:lstStyle/>
          <a:p>
            <a:pPr indent="0" marL="0">
              <a:lnSpc>
                <a:spcPts val="1500"/>
              </a:lnSpc>
              <a:buNone/>
            </a:pPr>
            <a:r>
              <a:rPr lang="en-US" sz="1050" dirty="0">
                <a:solidFill>
                  <a:srgbClr val="F8FAFC"/>
                </a:solidFill>
                <a:latin typeface="Segoe UI" pitchFamily="34" charset="0"/>
                <a:ea typeface="Segoe UI" pitchFamily="34" charset="-122"/>
                <a:cs typeface="Segoe UI" pitchFamily="34" charset="-120"/>
              </a:rPr>
              <a:t>• Immediate order confirmation feedback upon checkout redirect.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6 • NEW FEATURES ADDED</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Architectural Innovations Beyond Base TAP Project Requirements</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sp>
        <p:nvSpPr>
          <p:cNvPr id="8" name="Shape 6"/>
          <p:cNvSpPr/>
          <p:nvPr/>
        </p:nvSpPr>
        <p:spPr>
          <a:xfrm>
            <a:off x="731520" y="1417320"/>
            <a:ext cx="5212080" cy="2240280"/>
          </a:xfrm>
          <a:prstGeom prst="roundRect">
            <a:avLst>
              <a:gd name="adj" fmla="val 4898"/>
            </a:avLst>
          </a:prstGeom>
          <a:solidFill>
            <a:srgbClr val="111827"/>
          </a:solidFill>
          <a:ln w="12700">
            <a:solidFill>
              <a:srgbClr val="1E293B"/>
            </a:solidFill>
            <a:prstDash val="solid"/>
          </a:ln>
        </p:spPr>
      </p:sp>
      <p:sp>
        <p:nvSpPr>
          <p:cNvPr id="9" name="Shape 7"/>
          <p:cNvSpPr/>
          <p:nvPr/>
        </p:nvSpPr>
        <p:spPr>
          <a:xfrm>
            <a:off x="1005840" y="1645920"/>
            <a:ext cx="1828800" cy="237744"/>
          </a:xfrm>
          <a:prstGeom prst="roundRect">
            <a:avLst>
              <a:gd name="adj" fmla="val 50000"/>
            </a:avLst>
          </a:prstGeom>
          <a:solidFill>
            <a:srgbClr val="1E293B"/>
          </a:solidFill>
          <a:ln w="12700">
            <a:solidFill>
              <a:srgbClr val="FF6B35"/>
            </a:solidFill>
            <a:prstDash val="solid"/>
          </a:ln>
        </p:spPr>
      </p:sp>
      <p:sp>
        <p:nvSpPr>
          <p:cNvPr id="10" name="Text 8"/>
          <p:cNvSpPr/>
          <p:nvPr/>
        </p:nvSpPr>
        <p:spPr>
          <a:xfrm>
            <a:off x="1005840" y="1645920"/>
            <a:ext cx="1828800" cy="237744"/>
          </a:xfrm>
          <a:prstGeom prst="rect">
            <a:avLst/>
          </a:prstGeom>
          <a:noFill/>
          <a:ln/>
        </p:spPr>
        <p:txBody>
          <a:bodyPr wrap="square" rtlCol="0" anchor="ctr"/>
          <a:lstStyle/>
          <a:p>
            <a:pPr algn="ctr" indent="0" marL="0">
              <a:buNone/>
            </a:pPr>
            <a:r>
              <a:rPr lang="en-US" sz="850" b="1" dirty="0">
                <a:solidFill>
                  <a:srgbClr val="FF6B35"/>
                </a:solidFill>
                <a:latin typeface="Segoe UI" pitchFamily="34" charset="0"/>
                <a:ea typeface="Segoe UI" pitchFamily="34" charset="-122"/>
                <a:cs typeface="Segoe UI" pitchFamily="34" charset="-120"/>
              </a:rPr>
              <a:t>BACKEND LOGIC</a:t>
            </a:r>
            <a:endParaRPr lang="en-US" sz="850" dirty="0"/>
          </a:p>
        </p:txBody>
      </p:sp>
      <p:sp>
        <p:nvSpPr>
          <p:cNvPr id="11" name="Text 9"/>
          <p:cNvSpPr/>
          <p:nvPr/>
        </p:nvSpPr>
        <p:spPr>
          <a:xfrm>
            <a:off x="3017520" y="1645920"/>
            <a:ext cx="2743200" cy="274320"/>
          </a:xfrm>
          <a:prstGeom prst="rect">
            <a:avLst/>
          </a:prstGeom>
          <a:noFill/>
          <a:ln/>
        </p:spPr>
        <p:txBody>
          <a:bodyPr wrap="square" rtlCol="0" anchor="ctr"/>
          <a:lstStyle/>
          <a:p>
            <a:pPr indent="0" marL="0">
              <a:buNone/>
            </a:pPr>
            <a:r>
              <a:rPr lang="en-US" sz="1450" b="1" dirty="0">
                <a:solidFill>
                  <a:srgbClr val="F8FAFC"/>
                </a:solidFill>
                <a:latin typeface="Segoe UI" pitchFamily="34" charset="0"/>
                <a:ea typeface="Segoe UI" pitchFamily="34" charset="-122"/>
                <a:cs typeface="Segoe UI" pitchFamily="34" charset="-120"/>
              </a:rPr>
              <a:t>Order Lifecycle State Machine</a:t>
            </a:r>
            <a:endParaRPr lang="en-US" sz="1450" dirty="0"/>
          </a:p>
        </p:txBody>
      </p:sp>
      <p:sp>
        <p:nvSpPr>
          <p:cNvPr id="12" name="Text 10"/>
          <p:cNvSpPr/>
          <p:nvPr/>
        </p:nvSpPr>
        <p:spPr>
          <a:xfrm>
            <a:off x="1005840" y="2011680"/>
            <a:ext cx="4663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What it does: OrderLifecycleManager.java manages forward-only status progression (Confirmed to Delivered).</a:t>
            </a:r>
            <a:endParaRPr lang="en-US" sz="1100" dirty="0"/>
          </a:p>
        </p:txBody>
      </p:sp>
      <p:sp>
        <p:nvSpPr>
          <p:cNvPr id="13" name="Text 11"/>
          <p:cNvSpPr/>
          <p:nvPr/>
        </p:nvSpPr>
        <p:spPr>
          <a:xfrm>
            <a:off x="1005840" y="2743200"/>
            <a:ext cx="4663440" cy="685800"/>
          </a:xfrm>
          <a:prstGeom prst="rect">
            <a:avLst/>
          </a:prstGeom>
          <a:noFill/>
          <a:ln/>
        </p:spPr>
        <p:txBody>
          <a:bodyPr wrap="square" rtlCol="0" anchor="ctr"/>
          <a:lstStyle/>
          <a:p>
            <a:pPr indent="0" marL="0">
              <a:lnSpc>
                <a:spcPts val="1600"/>
              </a:lnSpc>
              <a:buNone/>
            </a:pPr>
            <a:r>
              <a:rPr lang="en-US" sz="1100" dirty="0">
                <a:solidFill>
                  <a:srgbClr val="F4B942"/>
                </a:solidFill>
                <a:latin typeface="Segoe UI" pitchFamily="34" charset="0"/>
                <a:ea typeface="Segoe UI" pitchFamily="34" charset="-122"/>
                <a:cs typeface="Segoe UI" pitchFamily="34" charset="-120"/>
              </a:rPr>
              <a:t>Why it matters: Simulates realistic food preparation and delivery milestone transitions automatically.</a:t>
            </a:r>
            <a:endParaRPr lang="en-US" sz="1100" dirty="0"/>
          </a:p>
        </p:txBody>
      </p:sp>
      <p:sp>
        <p:nvSpPr>
          <p:cNvPr id="14" name="Shape 12"/>
          <p:cNvSpPr/>
          <p:nvPr/>
        </p:nvSpPr>
        <p:spPr>
          <a:xfrm>
            <a:off x="6217920" y="1417320"/>
            <a:ext cx="5212080" cy="2240280"/>
          </a:xfrm>
          <a:prstGeom prst="roundRect">
            <a:avLst>
              <a:gd name="adj" fmla="val 4898"/>
            </a:avLst>
          </a:prstGeom>
          <a:solidFill>
            <a:srgbClr val="111827"/>
          </a:solidFill>
          <a:ln w="12700">
            <a:solidFill>
              <a:srgbClr val="1E293B"/>
            </a:solidFill>
            <a:prstDash val="solid"/>
          </a:ln>
        </p:spPr>
      </p:sp>
      <p:sp>
        <p:nvSpPr>
          <p:cNvPr id="15" name="Shape 13"/>
          <p:cNvSpPr/>
          <p:nvPr/>
        </p:nvSpPr>
        <p:spPr>
          <a:xfrm>
            <a:off x="6492240" y="1645920"/>
            <a:ext cx="1828800" cy="237744"/>
          </a:xfrm>
          <a:prstGeom prst="roundRect">
            <a:avLst>
              <a:gd name="adj" fmla="val 50000"/>
            </a:avLst>
          </a:prstGeom>
          <a:solidFill>
            <a:srgbClr val="1E293B"/>
          </a:solidFill>
          <a:ln w="12700">
            <a:solidFill>
              <a:srgbClr val="10B981"/>
            </a:solidFill>
            <a:prstDash val="solid"/>
          </a:ln>
        </p:spPr>
      </p:sp>
      <p:sp>
        <p:nvSpPr>
          <p:cNvPr id="16" name="Text 14"/>
          <p:cNvSpPr/>
          <p:nvPr/>
        </p:nvSpPr>
        <p:spPr>
          <a:xfrm>
            <a:off x="6492240" y="1645920"/>
            <a:ext cx="1828800" cy="237744"/>
          </a:xfrm>
          <a:prstGeom prst="rect">
            <a:avLst/>
          </a:prstGeom>
          <a:noFill/>
          <a:ln/>
        </p:spPr>
        <p:txBody>
          <a:bodyPr wrap="square" rtlCol="0" anchor="ctr"/>
          <a:lstStyle/>
          <a:p>
            <a:pPr algn="ctr" indent="0" marL="0">
              <a:buNone/>
            </a:pPr>
            <a:r>
              <a:rPr lang="en-US" sz="850" b="1" dirty="0">
                <a:solidFill>
                  <a:srgbClr val="10B981"/>
                </a:solidFill>
                <a:latin typeface="Segoe UI" pitchFamily="34" charset="0"/>
                <a:ea typeface="Segoe UI" pitchFamily="34" charset="-122"/>
                <a:cs typeface="Segoe UI" pitchFamily="34" charset="-120"/>
              </a:rPr>
              <a:t>SECURITY</a:t>
            </a:r>
            <a:endParaRPr lang="en-US" sz="850" dirty="0"/>
          </a:p>
        </p:txBody>
      </p:sp>
      <p:sp>
        <p:nvSpPr>
          <p:cNvPr id="17" name="Text 15"/>
          <p:cNvSpPr/>
          <p:nvPr/>
        </p:nvSpPr>
        <p:spPr>
          <a:xfrm>
            <a:off x="8503920" y="1645920"/>
            <a:ext cx="2743200" cy="274320"/>
          </a:xfrm>
          <a:prstGeom prst="rect">
            <a:avLst/>
          </a:prstGeom>
          <a:noFill/>
          <a:ln/>
        </p:spPr>
        <p:txBody>
          <a:bodyPr wrap="square" rtlCol="0" anchor="ctr"/>
          <a:lstStyle/>
          <a:p>
            <a:pPr indent="0" marL="0">
              <a:buNone/>
            </a:pPr>
            <a:r>
              <a:rPr lang="en-US" sz="1450" b="1" dirty="0">
                <a:solidFill>
                  <a:srgbClr val="F8FAFC"/>
                </a:solidFill>
                <a:latin typeface="Segoe UI" pitchFamily="34" charset="0"/>
                <a:ea typeface="Segoe UI" pitchFamily="34" charset="-122"/>
                <a:cs typeface="Segoe UI" pitchFamily="34" charset="-120"/>
              </a:rPr>
              <a:t>BCrypt Password Security</a:t>
            </a:r>
            <a:endParaRPr lang="en-US" sz="1450" dirty="0"/>
          </a:p>
        </p:txBody>
      </p:sp>
      <p:sp>
        <p:nvSpPr>
          <p:cNvPr id="18" name="Text 16"/>
          <p:cNvSpPr/>
          <p:nvPr/>
        </p:nvSpPr>
        <p:spPr>
          <a:xfrm>
            <a:off x="6492240" y="2011680"/>
            <a:ext cx="4663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What it does: Replaced plain-text storage with salted jBCrypt hashing and automated existing user migration.</a:t>
            </a:r>
            <a:endParaRPr lang="en-US" sz="1100" dirty="0"/>
          </a:p>
        </p:txBody>
      </p:sp>
      <p:sp>
        <p:nvSpPr>
          <p:cNvPr id="19" name="Text 17"/>
          <p:cNvSpPr/>
          <p:nvPr/>
        </p:nvSpPr>
        <p:spPr>
          <a:xfrm>
            <a:off x="6492240" y="2743200"/>
            <a:ext cx="4663440" cy="685800"/>
          </a:xfrm>
          <a:prstGeom prst="rect">
            <a:avLst/>
          </a:prstGeom>
          <a:noFill/>
          <a:ln/>
        </p:spPr>
        <p:txBody>
          <a:bodyPr wrap="square" rtlCol="0" anchor="ctr"/>
          <a:lstStyle/>
          <a:p>
            <a:pPr indent="0" marL="0">
              <a:lnSpc>
                <a:spcPts val="1600"/>
              </a:lnSpc>
              <a:buNone/>
            </a:pPr>
            <a:r>
              <a:rPr lang="en-US" sz="1100" dirty="0">
                <a:solidFill>
                  <a:srgbClr val="F4B942"/>
                </a:solidFill>
                <a:latin typeface="Segoe UI" pitchFamily="34" charset="0"/>
                <a:ea typeface="Segoe UI" pitchFamily="34" charset="-122"/>
                <a:cs typeface="Segoe UI" pitchFamily="34" charset="-120"/>
              </a:rPr>
              <a:t>Why it matters: Prevents credential exposure in the database and neutralizes dictionary/rainbow table attacks.</a:t>
            </a:r>
            <a:endParaRPr lang="en-US" sz="1100" dirty="0"/>
          </a:p>
        </p:txBody>
      </p:sp>
      <p:sp>
        <p:nvSpPr>
          <p:cNvPr id="20" name="Shape 18"/>
          <p:cNvSpPr/>
          <p:nvPr/>
        </p:nvSpPr>
        <p:spPr>
          <a:xfrm>
            <a:off x="731520" y="3886200"/>
            <a:ext cx="5212080" cy="2240280"/>
          </a:xfrm>
          <a:prstGeom prst="roundRect">
            <a:avLst>
              <a:gd name="adj" fmla="val 4898"/>
            </a:avLst>
          </a:prstGeom>
          <a:solidFill>
            <a:srgbClr val="111827"/>
          </a:solidFill>
          <a:ln w="12700">
            <a:solidFill>
              <a:srgbClr val="1E293B"/>
            </a:solidFill>
            <a:prstDash val="solid"/>
          </a:ln>
        </p:spPr>
      </p:sp>
      <p:sp>
        <p:nvSpPr>
          <p:cNvPr id="21" name="Shape 19"/>
          <p:cNvSpPr/>
          <p:nvPr/>
        </p:nvSpPr>
        <p:spPr>
          <a:xfrm>
            <a:off x="1005840" y="4114800"/>
            <a:ext cx="1828800" cy="237744"/>
          </a:xfrm>
          <a:prstGeom prst="roundRect">
            <a:avLst>
              <a:gd name="adj" fmla="val 50000"/>
            </a:avLst>
          </a:prstGeom>
          <a:solidFill>
            <a:srgbClr val="1E293B"/>
          </a:solidFill>
          <a:ln w="12700">
            <a:solidFill>
              <a:srgbClr val="38BDF8"/>
            </a:solidFill>
            <a:prstDash val="solid"/>
          </a:ln>
        </p:spPr>
      </p:sp>
      <p:sp>
        <p:nvSpPr>
          <p:cNvPr id="22" name="Text 20"/>
          <p:cNvSpPr/>
          <p:nvPr/>
        </p:nvSpPr>
        <p:spPr>
          <a:xfrm>
            <a:off x="1005840" y="4114800"/>
            <a:ext cx="1828800" cy="237744"/>
          </a:xfrm>
          <a:prstGeom prst="rect">
            <a:avLst/>
          </a:prstGeom>
          <a:noFill/>
          <a:ln/>
        </p:spPr>
        <p:txBody>
          <a:bodyPr wrap="square" rtlCol="0" anchor="ctr"/>
          <a:lstStyle/>
          <a:p>
            <a:pPr algn="ctr" indent="0" marL="0">
              <a:buNone/>
            </a:pPr>
            <a:r>
              <a:rPr lang="en-US" sz="850" b="1" dirty="0">
                <a:solidFill>
                  <a:srgbClr val="38BDF8"/>
                </a:solidFill>
                <a:latin typeface="Segoe UI" pitchFamily="34" charset="0"/>
                <a:ea typeface="Segoe UI" pitchFamily="34" charset="-122"/>
                <a:cs typeface="Segoe UI" pitchFamily="34" charset="-120"/>
              </a:rPr>
              <a:t>USER EXPERIENCE</a:t>
            </a:r>
            <a:endParaRPr lang="en-US" sz="850" dirty="0"/>
          </a:p>
        </p:txBody>
      </p:sp>
      <p:sp>
        <p:nvSpPr>
          <p:cNvPr id="23" name="Text 21"/>
          <p:cNvSpPr/>
          <p:nvPr/>
        </p:nvSpPr>
        <p:spPr>
          <a:xfrm>
            <a:off x="3017520" y="4114800"/>
            <a:ext cx="2743200" cy="274320"/>
          </a:xfrm>
          <a:prstGeom prst="rect">
            <a:avLst/>
          </a:prstGeom>
          <a:noFill/>
          <a:ln/>
        </p:spPr>
        <p:txBody>
          <a:bodyPr wrap="square" rtlCol="0" anchor="ctr"/>
          <a:lstStyle/>
          <a:p>
            <a:pPr indent="0" marL="0">
              <a:buNone/>
            </a:pPr>
            <a:r>
              <a:rPr lang="en-US" sz="1450" b="1" dirty="0">
                <a:solidFill>
                  <a:srgbClr val="F8FAFC"/>
                </a:solidFill>
                <a:latin typeface="Segoe UI" pitchFamily="34" charset="0"/>
                <a:ea typeface="Segoe UI" pitchFamily="34" charset="-122"/>
                <a:cs typeface="Segoe UI" pitchFamily="34" charset="-120"/>
              </a:rPr>
              <a:t>Zero-Jump Dynamic Menu UX</a:t>
            </a:r>
            <a:endParaRPr lang="en-US" sz="1450" dirty="0"/>
          </a:p>
        </p:txBody>
      </p:sp>
      <p:sp>
        <p:nvSpPr>
          <p:cNvPr id="24" name="Text 22"/>
          <p:cNvSpPr/>
          <p:nvPr/>
        </p:nvSpPr>
        <p:spPr>
          <a:xfrm>
            <a:off x="1005840" y="4480560"/>
            <a:ext cx="4663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What it does: Asynchronous fetch() cart updates with scroll-anchor preservation on dish cards.</a:t>
            </a:r>
            <a:endParaRPr lang="en-US" sz="1100" dirty="0"/>
          </a:p>
        </p:txBody>
      </p:sp>
      <p:sp>
        <p:nvSpPr>
          <p:cNvPr id="25" name="Text 23"/>
          <p:cNvSpPr/>
          <p:nvPr/>
        </p:nvSpPr>
        <p:spPr>
          <a:xfrm>
            <a:off x="1005840" y="5212080"/>
            <a:ext cx="4663440" cy="685800"/>
          </a:xfrm>
          <a:prstGeom prst="rect">
            <a:avLst/>
          </a:prstGeom>
          <a:noFill/>
          <a:ln/>
        </p:spPr>
        <p:txBody>
          <a:bodyPr wrap="square" rtlCol="0" anchor="ctr"/>
          <a:lstStyle/>
          <a:p>
            <a:pPr indent="0" marL="0">
              <a:lnSpc>
                <a:spcPts val="1600"/>
              </a:lnSpc>
              <a:buNone/>
            </a:pPr>
            <a:r>
              <a:rPr lang="en-US" sz="1100" dirty="0">
                <a:solidFill>
                  <a:srgbClr val="F4B942"/>
                </a:solidFill>
                <a:latin typeface="Segoe UI" pitchFamily="34" charset="0"/>
                <a:ea typeface="Segoe UI" pitchFamily="34" charset="-122"/>
                <a:cs typeface="Segoe UI" pitchFamily="34" charset="-120"/>
              </a:rPr>
              <a:t>Why it matters: Prevents disorienting page reloads when adding dishes, keeping the user in their browsing context.</a:t>
            </a:r>
            <a:endParaRPr lang="en-US" sz="1100" dirty="0"/>
          </a:p>
        </p:txBody>
      </p:sp>
      <p:sp>
        <p:nvSpPr>
          <p:cNvPr id="26" name="Shape 24"/>
          <p:cNvSpPr/>
          <p:nvPr/>
        </p:nvSpPr>
        <p:spPr>
          <a:xfrm>
            <a:off x="6217920" y="3886200"/>
            <a:ext cx="5212080" cy="2240280"/>
          </a:xfrm>
          <a:prstGeom prst="roundRect">
            <a:avLst>
              <a:gd name="adj" fmla="val 4898"/>
            </a:avLst>
          </a:prstGeom>
          <a:solidFill>
            <a:srgbClr val="111827"/>
          </a:solidFill>
          <a:ln w="12700">
            <a:solidFill>
              <a:srgbClr val="1E293B"/>
            </a:solidFill>
            <a:prstDash val="solid"/>
          </a:ln>
        </p:spPr>
      </p:sp>
      <p:sp>
        <p:nvSpPr>
          <p:cNvPr id="27" name="Shape 25"/>
          <p:cNvSpPr/>
          <p:nvPr/>
        </p:nvSpPr>
        <p:spPr>
          <a:xfrm>
            <a:off x="6492240" y="4114800"/>
            <a:ext cx="1828800" cy="237744"/>
          </a:xfrm>
          <a:prstGeom prst="roundRect">
            <a:avLst>
              <a:gd name="adj" fmla="val 50000"/>
            </a:avLst>
          </a:prstGeom>
          <a:solidFill>
            <a:srgbClr val="1E293B"/>
          </a:solidFill>
          <a:ln w="12700">
            <a:solidFill>
              <a:srgbClr val="F4B942"/>
            </a:solidFill>
            <a:prstDash val="solid"/>
          </a:ln>
        </p:spPr>
      </p:sp>
      <p:sp>
        <p:nvSpPr>
          <p:cNvPr id="28" name="Text 26"/>
          <p:cNvSpPr/>
          <p:nvPr/>
        </p:nvSpPr>
        <p:spPr>
          <a:xfrm>
            <a:off x="6492240" y="4114800"/>
            <a:ext cx="1828800" cy="237744"/>
          </a:xfrm>
          <a:prstGeom prst="rect">
            <a:avLst/>
          </a:prstGeom>
          <a:noFill/>
          <a:ln/>
        </p:spPr>
        <p:txBody>
          <a:bodyPr wrap="square" rtlCol="0" anchor="ctr"/>
          <a:lstStyle/>
          <a:p>
            <a:pPr algn="ctr" indent="0" marL="0">
              <a:buNone/>
            </a:pPr>
            <a:r>
              <a:rPr lang="en-US" sz="850" b="1" dirty="0">
                <a:solidFill>
                  <a:srgbClr val="F4B942"/>
                </a:solidFill>
                <a:latin typeface="Segoe UI" pitchFamily="34" charset="0"/>
                <a:ea typeface="Segoe UI" pitchFamily="34" charset="-122"/>
                <a:cs typeface="Segoe UI" pitchFamily="34" charset="-120"/>
              </a:rPr>
              <a:t>UI POLISH</a:t>
            </a:r>
            <a:endParaRPr lang="en-US" sz="850" dirty="0"/>
          </a:p>
        </p:txBody>
      </p:sp>
      <p:sp>
        <p:nvSpPr>
          <p:cNvPr id="29" name="Text 27"/>
          <p:cNvSpPr/>
          <p:nvPr/>
        </p:nvSpPr>
        <p:spPr>
          <a:xfrm>
            <a:off x="8503920" y="4114800"/>
            <a:ext cx="2743200" cy="274320"/>
          </a:xfrm>
          <a:prstGeom prst="rect">
            <a:avLst/>
          </a:prstGeom>
          <a:noFill/>
          <a:ln/>
        </p:spPr>
        <p:txBody>
          <a:bodyPr wrap="square" rtlCol="0" anchor="ctr"/>
          <a:lstStyle/>
          <a:p>
            <a:pPr indent="0" marL="0">
              <a:buNone/>
            </a:pPr>
            <a:r>
              <a:rPr lang="en-US" sz="1450" b="1" dirty="0">
                <a:solidFill>
                  <a:srgbClr val="F8FAFC"/>
                </a:solidFill>
                <a:latin typeface="Segoe UI" pitchFamily="34" charset="0"/>
                <a:ea typeface="Segoe UI" pitchFamily="34" charset="-122"/>
                <a:cs typeface="Segoe UI" pitchFamily="34" charset="-120"/>
              </a:rPr>
              <a:t>Dynamic Dual-Theme Engine</a:t>
            </a:r>
            <a:endParaRPr lang="en-US" sz="1450" dirty="0"/>
          </a:p>
        </p:txBody>
      </p:sp>
      <p:sp>
        <p:nvSpPr>
          <p:cNvPr id="30" name="Text 28"/>
          <p:cNvSpPr/>
          <p:nvPr/>
        </p:nvSpPr>
        <p:spPr>
          <a:xfrm>
            <a:off x="6492240" y="4480560"/>
            <a:ext cx="4663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What it does: Implemented dynamic Dark/Light theme toggle using CSS custom properties.</a:t>
            </a:r>
            <a:endParaRPr lang="en-US" sz="1100" dirty="0"/>
          </a:p>
        </p:txBody>
      </p:sp>
      <p:sp>
        <p:nvSpPr>
          <p:cNvPr id="31" name="Text 29"/>
          <p:cNvSpPr/>
          <p:nvPr/>
        </p:nvSpPr>
        <p:spPr>
          <a:xfrm>
            <a:off x="6492240" y="5212080"/>
            <a:ext cx="4663440" cy="685800"/>
          </a:xfrm>
          <a:prstGeom prst="rect">
            <a:avLst/>
          </a:prstGeom>
          <a:noFill/>
          <a:ln/>
        </p:spPr>
        <p:txBody>
          <a:bodyPr wrap="square" rtlCol="0" anchor="ctr"/>
          <a:lstStyle/>
          <a:p>
            <a:pPr indent="0" marL="0">
              <a:lnSpc>
                <a:spcPts val="1600"/>
              </a:lnSpc>
              <a:buNone/>
            </a:pPr>
            <a:r>
              <a:rPr lang="en-US" sz="1100" dirty="0">
                <a:solidFill>
                  <a:srgbClr val="F4B942"/>
                </a:solidFill>
                <a:latin typeface="Segoe UI" pitchFamily="34" charset="0"/>
                <a:ea typeface="Segoe UI" pitchFamily="34" charset="-122"/>
                <a:cs typeface="Segoe UI" pitchFamily="34" charset="-120"/>
              </a:rPr>
              <a:t>Why it matters: Provides comfortable viewing in both night and daytime dining environments.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7 • IMPORTANT ALGORITHMS</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OrderLifecycleManager State Machine &amp; Transactional Persistence</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09_algorithm_architecture.png">    </p:cNvPr>
          <p:cNvPicPr>
            <a:picLocks noChangeAspect="1"/>
          </p:cNvPicPr>
          <p:nvPr/>
        </p:nvPicPr>
        <p:blipFill>
          <a:blip r:embed="rId1"/>
          <a:stretch>
            <a:fillRect/>
          </a:stretch>
        </p:blipFill>
        <p:spPr>
          <a:xfrm>
            <a:off x="731520" y="1417320"/>
            <a:ext cx="10698480" cy="4846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8 • MAJOR CHALLENGE FACED</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Viewport Scroll Jump Disorientation &amp; Password Migration</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pic>
        <p:nvPicPr>
          <p:cNvPr id="8" name="Image 0" descr="C:\Users\Asus\eclipse-workspace\FoodHouse\FoodHouse_Final_Presentation_Package\Presentation_Assets\10_challenge_solution.png">    </p:cNvPr>
          <p:cNvPicPr>
            <a:picLocks noChangeAspect="1"/>
          </p:cNvPicPr>
          <p:nvPr/>
        </p:nvPicPr>
        <p:blipFill>
          <a:blip r:embed="rId1"/>
          <a:stretch>
            <a:fillRect/>
          </a:stretch>
        </p:blipFill>
        <p:spPr>
          <a:xfrm>
            <a:off x="731520" y="1417320"/>
            <a:ext cx="10698480" cy="4846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47472"/>
            <a:ext cx="2286000" cy="274320"/>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47472"/>
            <a:ext cx="228600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SECTION 9 • WHAT I'LL ADD NEXT</a:t>
            </a:r>
            <a:endParaRPr lang="en-US" sz="950" dirty="0"/>
          </a:p>
        </p:txBody>
      </p:sp>
      <p:sp>
        <p:nvSpPr>
          <p:cNvPr id="4" name="Shape 2"/>
          <p:cNvSpPr/>
          <p:nvPr/>
        </p:nvSpPr>
        <p:spPr>
          <a:xfrm>
            <a:off x="8961120" y="347472"/>
            <a:ext cx="2468880" cy="274320"/>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8961120" y="347472"/>
            <a:ext cx="2468880" cy="274320"/>
          </a:xfrm>
          <a:prstGeom prst="rect">
            <a:avLst/>
          </a:prstGeom>
          <a:noFill/>
          <a:ln/>
        </p:spPr>
        <p:txBody>
          <a:bodyPr wrap="square" rtlCol="0" anchor="ctr"/>
          <a:lstStyle/>
          <a:p>
            <a:pPr algn="ctr" indent="0" marL="0">
              <a:buNone/>
            </a:pPr>
            <a:r>
              <a:rPr lang="en-US" sz="900" b="1" dirty="0">
                <a:solidFill>
                  <a:srgbClr val="94A3B8"/>
                </a:solidFill>
                <a:latin typeface="Segoe UI" pitchFamily="34" charset="0"/>
                <a:ea typeface="Segoe UI" pitchFamily="34" charset="-122"/>
                <a:cs typeface="Segoe UI" pitchFamily="34" charset="-120"/>
              </a:rPr>
              <a:t>TAP ACADEMY EVALUATION</a:t>
            </a:r>
            <a:endParaRPr lang="en-US" sz="900" dirty="0"/>
          </a:p>
        </p:txBody>
      </p:sp>
      <p:sp>
        <p:nvSpPr>
          <p:cNvPr id="6" name="Text 4"/>
          <p:cNvSpPr/>
          <p:nvPr/>
        </p:nvSpPr>
        <p:spPr>
          <a:xfrm>
            <a:off x="731520" y="713232"/>
            <a:ext cx="1069848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Future Technical Enhancements &amp; Roadmap</a:t>
            </a:r>
            <a:endParaRPr lang="en-US" sz="2200" dirty="0"/>
          </a:p>
        </p:txBody>
      </p:sp>
      <p:sp>
        <p:nvSpPr>
          <p:cNvPr id="7" name="Shape 5"/>
          <p:cNvSpPr/>
          <p:nvPr/>
        </p:nvSpPr>
        <p:spPr>
          <a:xfrm>
            <a:off x="731520" y="1234440"/>
            <a:ext cx="10698480" cy="0"/>
          </a:xfrm>
          <a:prstGeom prst="line">
            <a:avLst/>
          </a:prstGeom>
          <a:noFill/>
          <a:ln w="19050">
            <a:solidFill>
              <a:srgbClr val="1E293B"/>
            </a:solidFill>
            <a:prstDash val="solid"/>
          </a:ln>
        </p:spPr>
      </p:sp>
      <p:sp>
        <p:nvSpPr>
          <p:cNvPr id="8" name="Shape 6"/>
          <p:cNvSpPr/>
          <p:nvPr/>
        </p:nvSpPr>
        <p:spPr>
          <a:xfrm>
            <a:off x="731520" y="1417320"/>
            <a:ext cx="2468880" cy="4754880"/>
          </a:xfrm>
          <a:prstGeom prst="roundRect">
            <a:avLst>
              <a:gd name="adj" fmla="val 4444"/>
            </a:avLst>
          </a:prstGeom>
          <a:solidFill>
            <a:srgbClr val="111827"/>
          </a:solidFill>
          <a:ln w="12700">
            <a:solidFill>
              <a:srgbClr val="1E293B"/>
            </a:solidFill>
            <a:prstDash val="solid"/>
          </a:ln>
        </p:spPr>
      </p:sp>
      <p:sp>
        <p:nvSpPr>
          <p:cNvPr id="9" name="Text 7"/>
          <p:cNvSpPr/>
          <p:nvPr/>
        </p:nvSpPr>
        <p:spPr>
          <a:xfrm>
            <a:off x="1005840" y="1691640"/>
            <a:ext cx="1920240" cy="548640"/>
          </a:xfrm>
          <a:prstGeom prst="rect">
            <a:avLst/>
          </a:prstGeom>
          <a:noFill/>
          <a:ln/>
        </p:spPr>
        <p:txBody>
          <a:bodyPr wrap="square" rtlCol="0" anchor="ctr"/>
          <a:lstStyle/>
          <a:p>
            <a:pPr indent="0" marL="0">
              <a:buNone/>
            </a:pPr>
            <a:r>
              <a:rPr lang="en-US" sz="3200" b="1" dirty="0">
                <a:solidFill>
                  <a:srgbClr val="FF6B35"/>
                </a:solidFill>
                <a:latin typeface="Segoe UI" pitchFamily="34" charset="0"/>
                <a:ea typeface="Segoe UI" pitchFamily="34" charset="-122"/>
                <a:cs typeface="Segoe UI" pitchFamily="34" charset="-120"/>
              </a:rPr>
              <a:t>01</a:t>
            </a:r>
            <a:endParaRPr lang="en-US" sz="3200" dirty="0"/>
          </a:p>
        </p:txBody>
      </p:sp>
      <p:sp>
        <p:nvSpPr>
          <p:cNvPr id="10" name="Text 8"/>
          <p:cNvSpPr/>
          <p:nvPr/>
        </p:nvSpPr>
        <p:spPr>
          <a:xfrm>
            <a:off x="1005840" y="2331720"/>
            <a:ext cx="1920240" cy="54864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Live Payment Gateway</a:t>
            </a:r>
            <a:endParaRPr lang="en-US" sz="1600" dirty="0"/>
          </a:p>
        </p:txBody>
      </p:sp>
      <p:sp>
        <p:nvSpPr>
          <p:cNvPr id="11" name="Shape 9"/>
          <p:cNvSpPr/>
          <p:nvPr/>
        </p:nvSpPr>
        <p:spPr>
          <a:xfrm>
            <a:off x="1005840" y="2971800"/>
            <a:ext cx="1920240" cy="274320"/>
          </a:xfrm>
          <a:prstGeom prst="roundRect">
            <a:avLst>
              <a:gd name="adj" fmla="val 26667"/>
            </a:avLst>
          </a:prstGeom>
          <a:solidFill>
            <a:srgbClr val="0F172A"/>
          </a:solidFill>
          <a:ln w="12700">
            <a:solidFill>
              <a:srgbClr val="334155"/>
            </a:solidFill>
            <a:prstDash val="solid"/>
          </a:ln>
        </p:spPr>
      </p:sp>
      <p:sp>
        <p:nvSpPr>
          <p:cNvPr id="12" name="Text 10"/>
          <p:cNvSpPr/>
          <p:nvPr/>
        </p:nvSpPr>
        <p:spPr>
          <a:xfrm>
            <a:off x="1005840" y="2971800"/>
            <a:ext cx="192024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Razorpay / Stripe API</a:t>
            </a:r>
            <a:endParaRPr lang="en-US" sz="950" dirty="0"/>
          </a:p>
        </p:txBody>
      </p:sp>
      <p:sp>
        <p:nvSpPr>
          <p:cNvPr id="13" name="Text 11"/>
          <p:cNvSpPr/>
          <p:nvPr/>
        </p:nvSpPr>
        <p:spPr>
          <a:xfrm>
            <a:off x="1005840" y="3429000"/>
            <a:ext cx="1920240" cy="2377440"/>
          </a:xfrm>
          <a:prstGeom prst="rect">
            <a:avLst/>
          </a:prstGeom>
          <a:noFill/>
          <a:ln/>
        </p:spPr>
        <p:txBody>
          <a:bodyPr wrap="square" rtlCol="0" anchor="ctr"/>
          <a:lstStyle/>
          <a:p>
            <a:pPr indent="0" marL="0">
              <a:lnSpc>
                <a:spcPts val="1700"/>
              </a:lnSpc>
              <a:buNone/>
            </a:pPr>
            <a:r>
              <a:rPr lang="en-US" sz="1150" dirty="0">
                <a:solidFill>
                  <a:srgbClr val="94A3B8"/>
                </a:solidFill>
                <a:latin typeface="Segoe UI" pitchFamily="34" charset="0"/>
                <a:ea typeface="Segoe UI" pitchFamily="34" charset="-122"/>
                <a:cs typeface="Segoe UI" pitchFamily="34" charset="-120"/>
              </a:rPr>
              <a:t>Integrate real online payments supporting UPI intent, credit/debit cards, net banking, and automatic webhook refund processing.</a:t>
            </a:r>
            <a:endParaRPr lang="en-US" sz="1150" dirty="0"/>
          </a:p>
        </p:txBody>
      </p:sp>
      <p:sp>
        <p:nvSpPr>
          <p:cNvPr id="14" name="Shape 12"/>
          <p:cNvSpPr/>
          <p:nvPr/>
        </p:nvSpPr>
        <p:spPr>
          <a:xfrm>
            <a:off x="3474720" y="1417320"/>
            <a:ext cx="2468880" cy="4754880"/>
          </a:xfrm>
          <a:prstGeom prst="roundRect">
            <a:avLst>
              <a:gd name="adj" fmla="val 4444"/>
            </a:avLst>
          </a:prstGeom>
          <a:solidFill>
            <a:srgbClr val="111827"/>
          </a:solidFill>
          <a:ln w="12700">
            <a:solidFill>
              <a:srgbClr val="1E293B"/>
            </a:solidFill>
            <a:prstDash val="solid"/>
          </a:ln>
        </p:spPr>
      </p:sp>
      <p:sp>
        <p:nvSpPr>
          <p:cNvPr id="15" name="Text 13"/>
          <p:cNvSpPr/>
          <p:nvPr/>
        </p:nvSpPr>
        <p:spPr>
          <a:xfrm>
            <a:off x="3749040" y="1691640"/>
            <a:ext cx="1920240" cy="548640"/>
          </a:xfrm>
          <a:prstGeom prst="rect">
            <a:avLst/>
          </a:prstGeom>
          <a:noFill/>
          <a:ln/>
        </p:spPr>
        <p:txBody>
          <a:bodyPr wrap="square" rtlCol="0" anchor="ctr"/>
          <a:lstStyle/>
          <a:p>
            <a:pPr indent="0" marL="0">
              <a:buNone/>
            </a:pPr>
            <a:r>
              <a:rPr lang="en-US" sz="3200" b="1" dirty="0">
                <a:solidFill>
                  <a:srgbClr val="FF6B35"/>
                </a:solidFill>
                <a:latin typeface="Segoe UI" pitchFamily="34" charset="0"/>
                <a:ea typeface="Segoe UI" pitchFamily="34" charset="-122"/>
                <a:cs typeface="Segoe UI" pitchFamily="34" charset="-120"/>
              </a:rPr>
              <a:t>02</a:t>
            </a:r>
            <a:endParaRPr lang="en-US" sz="3200" dirty="0"/>
          </a:p>
        </p:txBody>
      </p:sp>
      <p:sp>
        <p:nvSpPr>
          <p:cNvPr id="16" name="Text 14"/>
          <p:cNvSpPr/>
          <p:nvPr/>
        </p:nvSpPr>
        <p:spPr>
          <a:xfrm>
            <a:off x="3749040" y="2331720"/>
            <a:ext cx="1920240" cy="54864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Live GPS Fleet Tracking</a:t>
            </a:r>
            <a:endParaRPr lang="en-US" sz="1600" dirty="0"/>
          </a:p>
        </p:txBody>
      </p:sp>
      <p:sp>
        <p:nvSpPr>
          <p:cNvPr id="17" name="Shape 15"/>
          <p:cNvSpPr/>
          <p:nvPr/>
        </p:nvSpPr>
        <p:spPr>
          <a:xfrm>
            <a:off x="3749040" y="2971800"/>
            <a:ext cx="1920240" cy="274320"/>
          </a:xfrm>
          <a:prstGeom prst="roundRect">
            <a:avLst>
              <a:gd name="adj" fmla="val 26667"/>
            </a:avLst>
          </a:prstGeom>
          <a:solidFill>
            <a:srgbClr val="0F172A"/>
          </a:solidFill>
          <a:ln w="12700">
            <a:solidFill>
              <a:srgbClr val="334155"/>
            </a:solidFill>
            <a:prstDash val="solid"/>
          </a:ln>
        </p:spPr>
      </p:sp>
      <p:sp>
        <p:nvSpPr>
          <p:cNvPr id="18" name="Text 16"/>
          <p:cNvSpPr/>
          <p:nvPr/>
        </p:nvSpPr>
        <p:spPr>
          <a:xfrm>
            <a:off x="3749040" y="2971800"/>
            <a:ext cx="192024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Mapbox / Google Maps API</a:t>
            </a:r>
            <a:endParaRPr lang="en-US" sz="950" dirty="0"/>
          </a:p>
        </p:txBody>
      </p:sp>
      <p:sp>
        <p:nvSpPr>
          <p:cNvPr id="19" name="Text 17"/>
          <p:cNvSpPr/>
          <p:nvPr/>
        </p:nvSpPr>
        <p:spPr>
          <a:xfrm>
            <a:off x="3749040" y="3429000"/>
            <a:ext cx="1920240" cy="2377440"/>
          </a:xfrm>
          <a:prstGeom prst="rect">
            <a:avLst/>
          </a:prstGeom>
          <a:noFill/>
          <a:ln/>
        </p:spPr>
        <p:txBody>
          <a:bodyPr wrap="square" rtlCol="0" anchor="ctr"/>
          <a:lstStyle/>
          <a:p>
            <a:pPr indent="0" marL="0">
              <a:lnSpc>
                <a:spcPts val="1700"/>
              </a:lnSpc>
              <a:buNone/>
            </a:pPr>
            <a:r>
              <a:rPr lang="en-US" sz="1150" dirty="0">
                <a:solidFill>
                  <a:srgbClr val="94A3B8"/>
                </a:solidFill>
                <a:latin typeface="Segoe UI" pitchFamily="34" charset="0"/>
                <a:ea typeface="Segoe UI" pitchFamily="34" charset="-122"/>
                <a:cs typeface="Segoe UI" pitchFamily="34" charset="-120"/>
              </a:rPr>
              <a:t>Render interactive map visualizer showing real-time delivery rider coordinates, route polylines, and dynamic traffic-based ETA.</a:t>
            </a:r>
            <a:endParaRPr lang="en-US" sz="1150" dirty="0"/>
          </a:p>
        </p:txBody>
      </p:sp>
      <p:sp>
        <p:nvSpPr>
          <p:cNvPr id="20" name="Shape 18"/>
          <p:cNvSpPr/>
          <p:nvPr/>
        </p:nvSpPr>
        <p:spPr>
          <a:xfrm>
            <a:off x="6217920" y="1417320"/>
            <a:ext cx="2468880" cy="4754880"/>
          </a:xfrm>
          <a:prstGeom prst="roundRect">
            <a:avLst>
              <a:gd name="adj" fmla="val 4444"/>
            </a:avLst>
          </a:prstGeom>
          <a:solidFill>
            <a:srgbClr val="111827"/>
          </a:solidFill>
          <a:ln w="12700">
            <a:solidFill>
              <a:srgbClr val="1E293B"/>
            </a:solidFill>
            <a:prstDash val="solid"/>
          </a:ln>
        </p:spPr>
      </p:sp>
      <p:sp>
        <p:nvSpPr>
          <p:cNvPr id="21" name="Text 19"/>
          <p:cNvSpPr/>
          <p:nvPr/>
        </p:nvSpPr>
        <p:spPr>
          <a:xfrm>
            <a:off x="6492240" y="1691640"/>
            <a:ext cx="1920240" cy="548640"/>
          </a:xfrm>
          <a:prstGeom prst="rect">
            <a:avLst/>
          </a:prstGeom>
          <a:noFill/>
          <a:ln/>
        </p:spPr>
        <p:txBody>
          <a:bodyPr wrap="square" rtlCol="0" anchor="ctr"/>
          <a:lstStyle/>
          <a:p>
            <a:pPr indent="0" marL="0">
              <a:buNone/>
            </a:pPr>
            <a:r>
              <a:rPr lang="en-US" sz="3200" b="1" dirty="0">
                <a:solidFill>
                  <a:srgbClr val="FF6B35"/>
                </a:solidFill>
                <a:latin typeface="Segoe UI" pitchFamily="34" charset="0"/>
                <a:ea typeface="Segoe UI" pitchFamily="34" charset="-122"/>
                <a:cs typeface="Segoe UI" pitchFamily="34" charset="-120"/>
              </a:rPr>
              <a:t>03</a:t>
            </a:r>
            <a:endParaRPr lang="en-US" sz="3200" dirty="0"/>
          </a:p>
        </p:txBody>
      </p:sp>
      <p:sp>
        <p:nvSpPr>
          <p:cNvPr id="22" name="Text 20"/>
          <p:cNvSpPr/>
          <p:nvPr/>
        </p:nvSpPr>
        <p:spPr>
          <a:xfrm>
            <a:off x="6492240" y="2331720"/>
            <a:ext cx="1920240" cy="54864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SMS &amp; WhatsApp Alerts</a:t>
            </a:r>
            <a:endParaRPr lang="en-US" sz="1600" dirty="0"/>
          </a:p>
        </p:txBody>
      </p:sp>
      <p:sp>
        <p:nvSpPr>
          <p:cNvPr id="23" name="Shape 21"/>
          <p:cNvSpPr/>
          <p:nvPr/>
        </p:nvSpPr>
        <p:spPr>
          <a:xfrm>
            <a:off x="6492240" y="2971800"/>
            <a:ext cx="1920240" cy="274320"/>
          </a:xfrm>
          <a:prstGeom prst="roundRect">
            <a:avLst>
              <a:gd name="adj" fmla="val 26667"/>
            </a:avLst>
          </a:prstGeom>
          <a:solidFill>
            <a:srgbClr val="0F172A"/>
          </a:solidFill>
          <a:ln w="12700">
            <a:solidFill>
              <a:srgbClr val="334155"/>
            </a:solidFill>
            <a:prstDash val="solid"/>
          </a:ln>
        </p:spPr>
      </p:sp>
      <p:sp>
        <p:nvSpPr>
          <p:cNvPr id="24" name="Text 22"/>
          <p:cNvSpPr/>
          <p:nvPr/>
        </p:nvSpPr>
        <p:spPr>
          <a:xfrm>
            <a:off x="6492240" y="2971800"/>
            <a:ext cx="192024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Twilio Cloud Webhooks</a:t>
            </a:r>
            <a:endParaRPr lang="en-US" sz="950" dirty="0"/>
          </a:p>
        </p:txBody>
      </p:sp>
      <p:sp>
        <p:nvSpPr>
          <p:cNvPr id="25" name="Text 23"/>
          <p:cNvSpPr/>
          <p:nvPr/>
        </p:nvSpPr>
        <p:spPr>
          <a:xfrm>
            <a:off x="6492240" y="3429000"/>
            <a:ext cx="1920240" cy="2377440"/>
          </a:xfrm>
          <a:prstGeom prst="rect">
            <a:avLst/>
          </a:prstGeom>
          <a:noFill/>
          <a:ln/>
        </p:spPr>
        <p:txBody>
          <a:bodyPr wrap="square" rtlCol="0" anchor="ctr"/>
          <a:lstStyle/>
          <a:p>
            <a:pPr indent="0" marL="0">
              <a:lnSpc>
                <a:spcPts val="1700"/>
              </a:lnSpc>
              <a:buNone/>
            </a:pPr>
            <a:r>
              <a:rPr lang="en-US" sz="1150" dirty="0">
                <a:solidFill>
                  <a:srgbClr val="94A3B8"/>
                </a:solidFill>
                <a:latin typeface="Segoe UI" pitchFamily="34" charset="0"/>
                <a:ea typeface="Segoe UI" pitchFamily="34" charset="-122"/>
                <a:cs typeface="Segoe UI" pitchFamily="34" charset="-120"/>
              </a:rPr>
              <a:t>Automated dispatch notifications, OTP verification at delivery handover, and live order confirmation alerts to customer phone.</a:t>
            </a:r>
            <a:endParaRPr lang="en-US" sz="1150" dirty="0"/>
          </a:p>
        </p:txBody>
      </p:sp>
      <p:sp>
        <p:nvSpPr>
          <p:cNvPr id="26" name="Shape 24"/>
          <p:cNvSpPr/>
          <p:nvPr/>
        </p:nvSpPr>
        <p:spPr>
          <a:xfrm>
            <a:off x="8961120" y="1417320"/>
            <a:ext cx="2468880" cy="4754880"/>
          </a:xfrm>
          <a:prstGeom prst="roundRect">
            <a:avLst>
              <a:gd name="adj" fmla="val 4444"/>
            </a:avLst>
          </a:prstGeom>
          <a:solidFill>
            <a:srgbClr val="111827"/>
          </a:solidFill>
          <a:ln w="12700">
            <a:solidFill>
              <a:srgbClr val="1E293B"/>
            </a:solidFill>
            <a:prstDash val="solid"/>
          </a:ln>
        </p:spPr>
      </p:sp>
      <p:sp>
        <p:nvSpPr>
          <p:cNvPr id="27" name="Text 25"/>
          <p:cNvSpPr/>
          <p:nvPr/>
        </p:nvSpPr>
        <p:spPr>
          <a:xfrm>
            <a:off x="9235440" y="1691640"/>
            <a:ext cx="1920240" cy="548640"/>
          </a:xfrm>
          <a:prstGeom prst="rect">
            <a:avLst/>
          </a:prstGeom>
          <a:noFill/>
          <a:ln/>
        </p:spPr>
        <p:txBody>
          <a:bodyPr wrap="square" rtlCol="0" anchor="ctr"/>
          <a:lstStyle/>
          <a:p>
            <a:pPr indent="0" marL="0">
              <a:buNone/>
            </a:pPr>
            <a:r>
              <a:rPr lang="en-US" sz="3200" b="1" dirty="0">
                <a:solidFill>
                  <a:srgbClr val="FF6B35"/>
                </a:solidFill>
                <a:latin typeface="Segoe UI" pitchFamily="34" charset="0"/>
                <a:ea typeface="Segoe UI" pitchFamily="34" charset="-122"/>
                <a:cs typeface="Segoe UI" pitchFamily="34" charset="-120"/>
              </a:rPr>
              <a:t>04</a:t>
            </a:r>
            <a:endParaRPr lang="en-US" sz="3200" dirty="0"/>
          </a:p>
        </p:txBody>
      </p:sp>
      <p:sp>
        <p:nvSpPr>
          <p:cNvPr id="28" name="Text 26"/>
          <p:cNvSpPr/>
          <p:nvPr/>
        </p:nvSpPr>
        <p:spPr>
          <a:xfrm>
            <a:off x="9235440" y="2331720"/>
            <a:ext cx="1920240" cy="54864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Admin Analytics Portal</a:t>
            </a:r>
            <a:endParaRPr lang="en-US" sz="1600" dirty="0"/>
          </a:p>
        </p:txBody>
      </p:sp>
      <p:sp>
        <p:nvSpPr>
          <p:cNvPr id="29" name="Shape 27"/>
          <p:cNvSpPr/>
          <p:nvPr/>
        </p:nvSpPr>
        <p:spPr>
          <a:xfrm>
            <a:off x="9235440" y="2971800"/>
            <a:ext cx="1920240" cy="274320"/>
          </a:xfrm>
          <a:prstGeom prst="roundRect">
            <a:avLst>
              <a:gd name="adj" fmla="val 26667"/>
            </a:avLst>
          </a:prstGeom>
          <a:solidFill>
            <a:srgbClr val="0F172A"/>
          </a:solidFill>
          <a:ln w="12700">
            <a:solidFill>
              <a:srgbClr val="334155"/>
            </a:solidFill>
            <a:prstDash val="solid"/>
          </a:ln>
        </p:spPr>
      </p:sp>
      <p:sp>
        <p:nvSpPr>
          <p:cNvPr id="30" name="Text 28"/>
          <p:cNvSpPr/>
          <p:nvPr/>
        </p:nvSpPr>
        <p:spPr>
          <a:xfrm>
            <a:off x="9235440" y="2971800"/>
            <a:ext cx="192024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Chart.js &amp; Aggregation SQL</a:t>
            </a:r>
            <a:endParaRPr lang="en-US" sz="950" dirty="0"/>
          </a:p>
        </p:txBody>
      </p:sp>
      <p:sp>
        <p:nvSpPr>
          <p:cNvPr id="31" name="Text 29"/>
          <p:cNvSpPr/>
          <p:nvPr/>
        </p:nvSpPr>
        <p:spPr>
          <a:xfrm>
            <a:off x="9235440" y="3429000"/>
            <a:ext cx="1920240" cy="2377440"/>
          </a:xfrm>
          <a:prstGeom prst="rect">
            <a:avLst/>
          </a:prstGeom>
          <a:noFill/>
          <a:ln/>
        </p:spPr>
        <p:txBody>
          <a:bodyPr wrap="square" rtlCol="0" anchor="ctr"/>
          <a:lstStyle/>
          <a:p>
            <a:pPr indent="0" marL="0">
              <a:lnSpc>
                <a:spcPts val="1700"/>
              </a:lnSpc>
              <a:buNone/>
            </a:pPr>
            <a:r>
              <a:rPr lang="en-US" sz="1150" dirty="0">
                <a:solidFill>
                  <a:srgbClr val="94A3B8"/>
                </a:solidFill>
                <a:latin typeface="Segoe UI" pitchFamily="34" charset="0"/>
                <a:ea typeface="Segoe UI" pitchFamily="34" charset="-122"/>
                <a:cs typeface="Segoe UI" pitchFamily="34" charset="-120"/>
              </a:rPr>
              <a:t>Interactive business dashboard with revenue charts, top-selling dishes, peak dining hours, and delivery fleet velocity metrics.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TAP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FoodHouse — TAP Academy Full Stack Project Presentation</dc:title>
  <dc:subject>Java Full Stack Final Project Evaluation</dc:subject>
  <dc:creator>Ganesh K (Ganeshk-39)</dc:creator>
  <cp:lastModifiedBy>Ganesh K (Ganeshk-39)</cp:lastModifiedBy>
  <cp:revision>1</cp:revision>
  <dcterms:created xsi:type="dcterms:W3CDTF">2026-10-22T07:32:49Z</dcterms:created>
  <dcterms:modified xsi:type="dcterms:W3CDTF">2026-10-22T07:32:49Z</dcterms:modified>
</cp:coreProperties>
</file>